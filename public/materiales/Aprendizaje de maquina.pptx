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30"/>
  </p:notesMasterIdLst>
  <p:sldIdLst>
    <p:sldId id="256" r:id="rId2"/>
    <p:sldId id="307" r:id="rId3"/>
    <p:sldId id="324" r:id="rId4"/>
    <p:sldId id="325" r:id="rId5"/>
    <p:sldId id="326" r:id="rId6"/>
    <p:sldId id="263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23" r:id="rId27"/>
    <p:sldId id="347" r:id="rId28"/>
    <p:sldId id="270" r:id="rId29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31"/>
      <p:bold r:id="rId32"/>
      <p:italic r:id="rId33"/>
      <p:boldItalic r:id="rId34"/>
    </p:embeddedFont>
    <p:embeddedFont>
      <p:font typeface="Lato" panose="020F0502020204030203" pitchFamily="34" charset="0"/>
      <p:regular r:id="rId35"/>
      <p:bold r:id="rId36"/>
      <p:italic r:id="rId37"/>
      <p:boldItalic r:id="rId38"/>
    </p:embeddedFont>
    <p:embeddedFont>
      <p:font typeface="Lucida Console" panose="020B0609040504020204" pitchFamily="49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08ACDB-CF65-4DBF-9404-5F0B9633F7CD}">
  <a:tblStyle styleId="{4708ACDB-CF65-4DBF-9404-5F0B9633F7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3826"/>
  </p:normalViewPr>
  <p:slideViewPr>
    <p:cSldViewPr snapToGrid="0">
      <p:cViewPr varScale="1">
        <p:scale>
          <a:sx n="160" d="100"/>
          <a:sy n="160" d="100"/>
        </p:scale>
        <p:origin x="176" y="6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>
          <a:extLst>
            <a:ext uri="{FF2B5EF4-FFF2-40B4-BE49-F238E27FC236}">
              <a16:creationId xmlns:a16="http://schemas.microsoft.com/office/drawing/2014/main" id="{93E0BCFF-BDDE-9035-3E60-5CC58E028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>
            <a:extLst>
              <a:ext uri="{FF2B5EF4-FFF2-40B4-BE49-F238E27FC236}">
                <a16:creationId xmlns:a16="http://schemas.microsoft.com/office/drawing/2014/main" id="{A70C3D08-6DDE-A110-F9EC-3D99B0275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>
            <a:extLst>
              <a:ext uri="{FF2B5EF4-FFF2-40B4-BE49-F238E27FC236}">
                <a16:creationId xmlns:a16="http://schemas.microsoft.com/office/drawing/2014/main" id="{B3682094-E43D-6F73-F732-2960BA453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2646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>
          <a:extLst>
            <a:ext uri="{FF2B5EF4-FFF2-40B4-BE49-F238E27FC236}">
              <a16:creationId xmlns:a16="http://schemas.microsoft.com/office/drawing/2014/main" id="{42F066AF-3D0F-0061-610C-1D924073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>
            <a:extLst>
              <a:ext uri="{FF2B5EF4-FFF2-40B4-BE49-F238E27FC236}">
                <a16:creationId xmlns:a16="http://schemas.microsoft.com/office/drawing/2014/main" id="{0F5858CE-D450-2A60-F5E7-DF4F1339A4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>
            <a:extLst>
              <a:ext uri="{FF2B5EF4-FFF2-40B4-BE49-F238E27FC236}">
                <a16:creationId xmlns:a16="http://schemas.microsoft.com/office/drawing/2014/main" id="{E12BA3E7-6E98-713C-0472-60E8ACFD4F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286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>
          <a:extLst>
            <a:ext uri="{FF2B5EF4-FFF2-40B4-BE49-F238E27FC236}">
              <a16:creationId xmlns:a16="http://schemas.microsoft.com/office/drawing/2014/main" id="{86F8F087-1514-E33A-0785-C6A0E02B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>
            <a:extLst>
              <a:ext uri="{FF2B5EF4-FFF2-40B4-BE49-F238E27FC236}">
                <a16:creationId xmlns:a16="http://schemas.microsoft.com/office/drawing/2014/main" id="{E9BFD64E-6B78-C014-C66A-14C5493A36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>
            <a:extLst>
              <a:ext uri="{FF2B5EF4-FFF2-40B4-BE49-F238E27FC236}">
                <a16:creationId xmlns:a16="http://schemas.microsoft.com/office/drawing/2014/main" id="{1AB944C3-FD27-8A56-F027-7561D6077C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4680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>
          <a:extLst>
            <a:ext uri="{FF2B5EF4-FFF2-40B4-BE49-F238E27FC236}">
              <a16:creationId xmlns:a16="http://schemas.microsoft.com/office/drawing/2014/main" id="{CF81739C-79E0-9F91-8570-C0214997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>
            <a:extLst>
              <a:ext uri="{FF2B5EF4-FFF2-40B4-BE49-F238E27FC236}">
                <a16:creationId xmlns:a16="http://schemas.microsoft.com/office/drawing/2014/main" id="{9DED67F0-5240-8EA2-AD19-4BF9814CA3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>
            <a:extLst>
              <a:ext uri="{FF2B5EF4-FFF2-40B4-BE49-F238E27FC236}">
                <a16:creationId xmlns:a16="http://schemas.microsoft.com/office/drawing/2014/main" id="{2EFC906F-2D9A-482D-7314-3ABB53676B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6559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85C8CB07-AC97-9B21-6358-49E59B5E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E796BF95-FF04-AE9C-C3D0-FEA4F09BF7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11244426-9C13-E2E9-2EE3-73738AAAC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8132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C7FEECF1-52C3-1D9C-BEFC-34D7EEEE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34809CDD-2325-16E3-647E-8286B411BA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EE4C2DA8-9E30-411A-7981-2FABC370A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6673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CEE806A3-FF75-1320-F460-136F83D66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649C5D18-B4E3-5C28-71F0-91F3D352E4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B13402FC-1A77-B8C9-0220-2F6B7B4978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4369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F610E66E-B519-B5BE-74F0-B10A84110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B1927AC3-BAD2-24FB-9F84-799E825CE0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9EA8DA55-C40F-74FE-179C-E49A36A834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2613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2FB66040-FD59-24B4-1C2C-69BCD5612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8F64AF21-D61F-E534-1AD0-15695075D1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5B5E4896-6B14-EA9E-FAC1-F2A6EEBE52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0648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F948A5BA-ADEE-020A-A7D7-1240C718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8D969D56-7A6B-D701-0B53-5FAAB8FF9D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258CD91C-4D63-BF8E-ADBC-DA8CBB2DB3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5736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CA4BA32D-EB09-8B46-6A99-F60D114CF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27EAA3A4-360F-2BC2-C23F-1D57DE798A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204B7FF4-0B83-B622-E5F6-4DB50D3631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0671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A453B8CB-471D-0424-F611-E8D04888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533CA0E4-D01C-22B0-7EF3-E8109ACBF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A6295FB2-22A8-D824-D233-77AA9D2F54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610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62C5C364-C945-99E4-BECF-A9A5B23B8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BF51A95C-6DB1-1597-47EB-0991442219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D5041C68-A781-DABC-0A06-8CA333F3C5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23900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AEE81061-2654-7107-8F2C-12080017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12158F6E-5769-2187-7B64-EFCD8C226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6B61222C-AA6D-8CFD-89C8-C956A3B8FB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008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F25EE221-73D6-A099-26AB-E5873A40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3D2196E2-532F-A841-6D27-A8A147DF5D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13AE0065-A60A-B90D-A236-1525059461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062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127B0D6C-4BD7-8D42-3BED-8CB2FE60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1C4AE9D1-CD0B-F9EC-D041-3B67E588C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9765D9C2-7E61-01C8-9A2A-B17CE9C3C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31757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F82E3F99-49A8-7743-9C41-811CF059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ACC6DDA5-276E-5E78-1B14-817F4678F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F93A19AC-052E-58E0-666B-ED194AF4C2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40037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0C31CC7C-6CF2-92F4-8D8C-923335BF6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E601926D-CC6B-822F-0E36-067A9F7033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F73D7CF8-2C43-4D0D-02D4-72EB4DF277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4507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64F37333-4817-AC23-9CBB-0AAB8ED6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249C9DB0-764F-394C-D9AC-E52E4C6D72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9B22356B-CE09-2650-BD24-716C6B8D9A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82225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424B52FE-C685-1569-983A-F25EB73D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209880A1-63E8-D32E-0209-3DC272173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877F40F7-B3D5-B9FA-463F-7096DDA83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04446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A88A0F8C-9CA6-0E6B-3416-D1A23AE34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E0492975-0209-D2B3-7339-1B2884B1E0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A3A58A45-9DFF-6C49-23D8-5D7117D50D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10983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47D32FF9-A301-2A8B-61FD-2696A3488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CE92AF48-E884-D12D-ABEC-EDA843C14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D7A64744-8F16-14F3-867C-43F85EDAB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19084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B6342B8A-D351-211F-FA1A-47575ECEB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>
            <a:extLst>
              <a:ext uri="{FF2B5EF4-FFF2-40B4-BE49-F238E27FC236}">
                <a16:creationId xmlns:a16="http://schemas.microsoft.com/office/drawing/2014/main" id="{348DB23C-119B-9504-01CD-50CC49B86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>
            <a:extLst>
              <a:ext uri="{FF2B5EF4-FFF2-40B4-BE49-F238E27FC236}">
                <a16:creationId xmlns:a16="http://schemas.microsoft.com/office/drawing/2014/main" id="{A7F05DA6-4CF3-62C7-E8A8-A636245117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30739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>
          <a:extLst>
            <a:ext uri="{FF2B5EF4-FFF2-40B4-BE49-F238E27FC236}">
              <a16:creationId xmlns:a16="http://schemas.microsoft.com/office/drawing/2014/main" id="{1FCC29CE-6CB5-47EE-0703-9A656255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>
            <a:extLst>
              <a:ext uri="{FF2B5EF4-FFF2-40B4-BE49-F238E27FC236}">
                <a16:creationId xmlns:a16="http://schemas.microsoft.com/office/drawing/2014/main" id="{84040281-3F24-8B60-40DB-AE2159BD7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>
            <a:extLst>
              <a:ext uri="{FF2B5EF4-FFF2-40B4-BE49-F238E27FC236}">
                <a16:creationId xmlns:a16="http://schemas.microsoft.com/office/drawing/2014/main" id="{C5DB7D95-96D7-F2D8-CA12-C32B549144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22391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>
          <a:extLst>
            <a:ext uri="{FF2B5EF4-FFF2-40B4-BE49-F238E27FC236}">
              <a16:creationId xmlns:a16="http://schemas.microsoft.com/office/drawing/2014/main" id="{6E108BAE-8360-6CDE-9FB9-0C6214B6B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>
            <a:extLst>
              <a:ext uri="{FF2B5EF4-FFF2-40B4-BE49-F238E27FC236}">
                <a16:creationId xmlns:a16="http://schemas.microsoft.com/office/drawing/2014/main" id="{E56D5756-C302-AAD5-C382-CC68E6B7D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>
            <a:extLst>
              <a:ext uri="{FF2B5EF4-FFF2-40B4-BE49-F238E27FC236}">
                <a16:creationId xmlns:a16="http://schemas.microsoft.com/office/drawing/2014/main" id="{31004751-BF7C-440B-17F9-A347ED7C3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31265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0f41e1924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0f41e19245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9" name="Google Shape;79;p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name="adj1" fmla="val 535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name="adj1" fmla="val 5194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name="adj1" fmla="val 1429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165" name="Google Shape;165;p17"/>
            <p:cNvCxnSpPr/>
            <p:nvPr/>
          </p:nvCxnSpPr>
          <p:spPr>
            <a:xfrm rot="-5400000" flipH="1">
              <a:off x="6857075" y="1775500"/>
              <a:ext cx="4097100" cy="187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6" name="Google Shape;166;p17"/>
            <p:cNvCxnSpPr/>
            <p:nvPr/>
          </p:nvCxnSpPr>
          <p:spPr>
            <a:xfrm rot="10800000" flipH="1">
              <a:off x="667900" y="4271400"/>
              <a:ext cx="2765700" cy="96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7" name="Google Shape;167;p17"/>
            <p:cNvCxnSpPr/>
            <p:nvPr/>
          </p:nvCxnSpPr>
          <p:spPr>
            <a:xfrm rot="5400000" flipH="1">
              <a:off x="7318025" y="3907700"/>
              <a:ext cx="3045000" cy="33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8" name="Google Shape;168;p17"/>
            <p:cNvCxnSpPr/>
            <p:nvPr/>
          </p:nvCxnSpPr>
          <p:spPr>
            <a:xfrm rot="5400000" flipH="1">
              <a:off x="7083950" y="4541675"/>
              <a:ext cx="3325500" cy="317400"/>
            </a:xfrm>
            <a:prstGeom prst="bentConnector3">
              <a:avLst>
                <a:gd name="adj1" fmla="val 6457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9" name="Google Shape;169;p17"/>
            <p:cNvCxnSpPr/>
            <p:nvPr/>
          </p:nvCxnSpPr>
          <p:spPr>
            <a:xfrm rot="10800000" flipH="1">
              <a:off x="-320650" y="4087825"/>
              <a:ext cx="5808300" cy="878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0" name="Google Shape;170;p1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1" name="Google Shape;171;p1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72" name="Google Shape;172;p1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73" name="Google Shape;173;p1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8" r:id="rId4"/>
    <p:sldLayoutId id="2147483663" r:id="rId5"/>
    <p:sldLayoutId id="2147483674" r:id="rId6"/>
    <p:sldLayoutId id="214748367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hyperlink" Target="https://machinelearningparatodos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paratodos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scikit-learn.org/stable/modules/clustering.html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IYKR4sgzI8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BT6Aw6Q75Yg" TargetMode="External"/><Relationship Id="rId5" Type="http://schemas.openxmlformats.org/officeDocument/2006/relationships/hyperlink" Target="https://www.youtube.com/watch?v=5sLYAQS9sWQ" TargetMode="External"/><Relationship Id="rId4" Type="http://schemas.openxmlformats.org/officeDocument/2006/relationships/hyperlink" Target="https://www.youtube.com/watch?v=DDSMOjlGkh8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Aprendizaje</a:t>
            </a:r>
            <a:r>
              <a:rPr lang="en"/>
              <a:t> de </a:t>
            </a:r>
            <a:r>
              <a:rPr lang="en" err="1"/>
              <a:t>maquina</a:t>
            </a:r>
            <a:endParaRPr/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Laura Juliana Mora Páez </a:t>
            </a:r>
            <a:r>
              <a:rPr lang="en" err="1"/>
              <a:t>Msc</a:t>
            </a:r>
            <a:endParaRPr/>
          </a:p>
        </p:txBody>
      </p:sp>
      <p:cxnSp>
        <p:nvCxnSpPr>
          <p:cNvPr id="370" name="Google Shape;370;p33"/>
          <p:cNvCxnSpPr>
            <a:endCxn id="369" idx="1"/>
          </p:cNvCxnSpPr>
          <p:nvPr/>
        </p:nvCxnSpPr>
        <p:spPr>
          <a:xfrm rot="-5400000" flipH="1">
            <a:off x="1987200" y="1009550"/>
            <a:ext cx="3995700" cy="3453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1" name="Google Shape;371;p33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372" name="Google Shape;372;p33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373" name="Google Shape;373;p33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3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3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3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3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3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3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3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3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3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3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3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3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3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3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3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3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33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6" name="Google Shape;426;p33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3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3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9" name="Google Shape;429;p33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3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3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34" name="Google Shape;434;p33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>
          <a:extLst>
            <a:ext uri="{FF2B5EF4-FFF2-40B4-BE49-F238E27FC236}">
              <a16:creationId xmlns:a16="http://schemas.microsoft.com/office/drawing/2014/main" id="{57B70356-C38D-7FE1-6031-A6F140790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>
            <a:extLst>
              <a:ext uri="{FF2B5EF4-FFF2-40B4-BE49-F238E27FC236}">
                <a16:creationId xmlns:a16="http://schemas.microsoft.com/office/drawing/2014/main" id="{A3408A66-E962-55A4-B1B8-4662B509F1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657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Regresiones</a:t>
            </a:r>
            <a:endParaRPr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8FD95F58-3578-014F-52CE-9226E8EF9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03" y="942780"/>
            <a:ext cx="8183297" cy="376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98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>
          <a:extLst>
            <a:ext uri="{FF2B5EF4-FFF2-40B4-BE49-F238E27FC236}">
              <a16:creationId xmlns:a16="http://schemas.microsoft.com/office/drawing/2014/main" id="{6827B54B-8EAB-A3BB-53CE-B46A37FF0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>
            <a:extLst>
              <a:ext uri="{FF2B5EF4-FFF2-40B4-BE49-F238E27FC236}">
                <a16:creationId xmlns:a16="http://schemas.microsoft.com/office/drawing/2014/main" id="{DA5B29E2-24B6-A2EE-50F9-644FD3EBC2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8704" y="4319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Agrupamiento</a:t>
            </a:r>
            <a:endParaRPr/>
          </a:p>
        </p:txBody>
      </p:sp>
      <p:grpSp>
        <p:nvGrpSpPr>
          <p:cNvPr id="4" name="2 Grupo">
            <a:extLst>
              <a:ext uri="{FF2B5EF4-FFF2-40B4-BE49-F238E27FC236}">
                <a16:creationId xmlns:a16="http://schemas.microsoft.com/office/drawing/2014/main" id="{8E253EAF-CFEB-E2B0-1951-96EF920FC0E9}"/>
              </a:ext>
            </a:extLst>
          </p:cNvPr>
          <p:cNvGrpSpPr/>
          <p:nvPr/>
        </p:nvGrpSpPr>
        <p:grpSpPr>
          <a:xfrm>
            <a:off x="1463671" y="2390065"/>
            <a:ext cx="4161764" cy="2304334"/>
            <a:chOff x="4895810" y="2873910"/>
            <a:chExt cx="5050323" cy="3055620"/>
          </a:xfrm>
        </p:grpSpPr>
        <p:cxnSp>
          <p:nvCxnSpPr>
            <p:cNvPr id="5" name="Conector recto de flecha 9">
              <a:extLst>
                <a:ext uri="{FF2B5EF4-FFF2-40B4-BE49-F238E27FC236}">
                  <a16:creationId xmlns:a16="http://schemas.microsoft.com/office/drawing/2014/main" id="{8F64590B-1AB2-BCAF-5F90-72806BBE092B}"/>
                </a:ext>
              </a:extLst>
            </p:cNvPr>
            <p:cNvCxnSpPr/>
            <p:nvPr/>
          </p:nvCxnSpPr>
          <p:spPr>
            <a:xfrm flipH="1" flipV="1">
              <a:off x="4895810" y="2873910"/>
              <a:ext cx="55880" cy="30556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cto de flecha 11">
              <a:extLst>
                <a:ext uri="{FF2B5EF4-FFF2-40B4-BE49-F238E27FC236}">
                  <a16:creationId xmlns:a16="http://schemas.microsoft.com/office/drawing/2014/main" id="{5574D0E3-ECDF-CE26-CC28-0279BF9C28B7}"/>
                </a:ext>
              </a:extLst>
            </p:cNvPr>
            <p:cNvCxnSpPr/>
            <p:nvPr/>
          </p:nvCxnSpPr>
          <p:spPr>
            <a:xfrm>
              <a:off x="4926290" y="3315870"/>
              <a:ext cx="39217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de flecha 15">
              <a:extLst>
                <a:ext uri="{FF2B5EF4-FFF2-40B4-BE49-F238E27FC236}">
                  <a16:creationId xmlns:a16="http://schemas.microsoft.com/office/drawing/2014/main" id="{EE5DF7D2-7685-5E4D-00C5-7D633EA99304}"/>
                </a:ext>
              </a:extLst>
            </p:cNvPr>
            <p:cNvCxnSpPr/>
            <p:nvPr/>
          </p:nvCxnSpPr>
          <p:spPr>
            <a:xfrm flipV="1">
              <a:off x="4936450" y="5896644"/>
              <a:ext cx="5009683" cy="328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de flecha 16">
              <a:extLst>
                <a:ext uri="{FF2B5EF4-FFF2-40B4-BE49-F238E27FC236}">
                  <a16:creationId xmlns:a16="http://schemas.microsoft.com/office/drawing/2014/main" id="{64758101-74DB-1FE3-2483-B7153A5235C7}"/>
                </a:ext>
              </a:extLst>
            </p:cNvPr>
            <p:cNvCxnSpPr/>
            <p:nvPr/>
          </p:nvCxnSpPr>
          <p:spPr>
            <a:xfrm flipH="1" flipV="1">
              <a:off x="8848050" y="3315870"/>
              <a:ext cx="86360" cy="259080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o 2">
            <a:extLst>
              <a:ext uri="{FF2B5EF4-FFF2-40B4-BE49-F238E27FC236}">
                <a16:creationId xmlns:a16="http://schemas.microsoft.com/office/drawing/2014/main" id="{E7CA6C6B-7B94-4F9D-7ADF-4B6C7FB2658B}"/>
              </a:ext>
            </a:extLst>
          </p:cNvPr>
          <p:cNvGrpSpPr/>
          <p:nvPr/>
        </p:nvGrpSpPr>
        <p:grpSpPr>
          <a:xfrm>
            <a:off x="3994997" y="3101024"/>
            <a:ext cx="589479" cy="471749"/>
            <a:chOff x="493891" y="5987627"/>
            <a:chExt cx="536502" cy="625554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0" name="Elipse 35">
              <a:extLst>
                <a:ext uri="{FF2B5EF4-FFF2-40B4-BE49-F238E27FC236}">
                  <a16:creationId xmlns:a16="http://schemas.microsoft.com/office/drawing/2014/main" id="{788BBF68-947E-346C-2755-5D9EABFFAF80}"/>
                </a:ext>
              </a:extLst>
            </p:cNvPr>
            <p:cNvSpPr/>
            <p:nvPr/>
          </p:nvSpPr>
          <p:spPr>
            <a:xfrm>
              <a:off x="493891" y="6231467"/>
              <a:ext cx="208842" cy="18697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Elipse 41">
              <a:extLst>
                <a:ext uri="{FF2B5EF4-FFF2-40B4-BE49-F238E27FC236}">
                  <a16:creationId xmlns:a16="http://schemas.microsoft.com/office/drawing/2014/main" id="{CDB6E00C-D984-F5D0-9E81-0F221EA9AA1E}"/>
                </a:ext>
              </a:extLst>
            </p:cNvPr>
            <p:cNvSpPr/>
            <p:nvPr/>
          </p:nvSpPr>
          <p:spPr>
            <a:xfrm>
              <a:off x="646291" y="6426202"/>
              <a:ext cx="208842" cy="18697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Elipse 42">
              <a:extLst>
                <a:ext uri="{FF2B5EF4-FFF2-40B4-BE49-F238E27FC236}">
                  <a16:creationId xmlns:a16="http://schemas.microsoft.com/office/drawing/2014/main" id="{6349DFC7-EB30-20AF-A038-E37EB45B2BA5}"/>
                </a:ext>
              </a:extLst>
            </p:cNvPr>
            <p:cNvSpPr/>
            <p:nvPr/>
          </p:nvSpPr>
          <p:spPr>
            <a:xfrm>
              <a:off x="608191" y="5987627"/>
              <a:ext cx="208842" cy="18697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Elipse 43">
              <a:extLst>
                <a:ext uri="{FF2B5EF4-FFF2-40B4-BE49-F238E27FC236}">
                  <a16:creationId xmlns:a16="http://schemas.microsoft.com/office/drawing/2014/main" id="{33346546-D202-9791-1CD9-48F28C3C2207}"/>
                </a:ext>
              </a:extLst>
            </p:cNvPr>
            <p:cNvSpPr/>
            <p:nvPr/>
          </p:nvSpPr>
          <p:spPr>
            <a:xfrm>
              <a:off x="821551" y="6322907"/>
              <a:ext cx="208842" cy="18697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Elipse 44">
              <a:extLst>
                <a:ext uri="{FF2B5EF4-FFF2-40B4-BE49-F238E27FC236}">
                  <a16:creationId xmlns:a16="http://schemas.microsoft.com/office/drawing/2014/main" id="{5AA76FF8-F550-A2BC-472D-1A25CBC1622A}"/>
                </a:ext>
              </a:extLst>
            </p:cNvPr>
            <p:cNvSpPr/>
            <p:nvPr/>
          </p:nvSpPr>
          <p:spPr>
            <a:xfrm>
              <a:off x="684391" y="6185747"/>
              <a:ext cx="208842" cy="18697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5" name="58 Grupo">
            <a:extLst>
              <a:ext uri="{FF2B5EF4-FFF2-40B4-BE49-F238E27FC236}">
                <a16:creationId xmlns:a16="http://schemas.microsoft.com/office/drawing/2014/main" id="{56016271-87E7-DAC4-9BFB-723467DD7F0E}"/>
              </a:ext>
            </a:extLst>
          </p:cNvPr>
          <p:cNvGrpSpPr/>
          <p:nvPr/>
        </p:nvGrpSpPr>
        <p:grpSpPr>
          <a:xfrm>
            <a:off x="1641401" y="2616327"/>
            <a:ext cx="629120" cy="498152"/>
            <a:chOff x="1486167" y="3760773"/>
            <a:chExt cx="763440" cy="660565"/>
          </a:xfrm>
        </p:grpSpPr>
        <p:grpSp>
          <p:nvGrpSpPr>
            <p:cNvPr id="16" name="Grupo 38">
              <a:extLst>
                <a:ext uri="{FF2B5EF4-FFF2-40B4-BE49-F238E27FC236}">
                  <a16:creationId xmlns:a16="http://schemas.microsoft.com/office/drawing/2014/main" id="{439E6892-F486-0651-6605-DC09654FF39D}"/>
                </a:ext>
              </a:extLst>
            </p:cNvPr>
            <p:cNvGrpSpPr/>
            <p:nvPr/>
          </p:nvGrpSpPr>
          <p:grpSpPr>
            <a:xfrm>
              <a:off x="1517839" y="3760773"/>
              <a:ext cx="731768" cy="660565"/>
              <a:chOff x="489078" y="4760151"/>
              <a:chExt cx="548826" cy="66056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19" name="Triángulo isósceles 24">
                <a:extLst>
                  <a:ext uri="{FF2B5EF4-FFF2-40B4-BE49-F238E27FC236}">
                    <a16:creationId xmlns:a16="http://schemas.microsoft.com/office/drawing/2014/main" id="{8F523288-C805-3847-86E0-D4503AA824FC}"/>
                  </a:ext>
                </a:extLst>
              </p:cNvPr>
              <p:cNvSpPr/>
              <p:nvPr/>
            </p:nvSpPr>
            <p:spPr>
              <a:xfrm>
                <a:off x="489078" y="5218586"/>
                <a:ext cx="154004" cy="20213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0" name="Triángulo isósceles 30">
                <a:extLst>
                  <a:ext uri="{FF2B5EF4-FFF2-40B4-BE49-F238E27FC236}">
                    <a16:creationId xmlns:a16="http://schemas.microsoft.com/office/drawing/2014/main" id="{D59D13B6-0D46-1730-CC58-2BB0459E6046}"/>
                  </a:ext>
                </a:extLst>
              </p:cNvPr>
              <p:cNvSpPr/>
              <p:nvPr/>
            </p:nvSpPr>
            <p:spPr>
              <a:xfrm>
                <a:off x="883900" y="4892542"/>
                <a:ext cx="154004" cy="20213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1" name="Triángulo isósceles 32">
                <a:extLst>
                  <a:ext uri="{FF2B5EF4-FFF2-40B4-BE49-F238E27FC236}">
                    <a16:creationId xmlns:a16="http://schemas.microsoft.com/office/drawing/2014/main" id="{6FA03C7F-6AB9-662A-41CA-7058975D898B}"/>
                  </a:ext>
                </a:extLst>
              </p:cNvPr>
              <p:cNvSpPr/>
              <p:nvPr/>
            </p:nvSpPr>
            <p:spPr>
              <a:xfrm>
                <a:off x="622228" y="4760151"/>
                <a:ext cx="154004" cy="20213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17" name="Triángulo isósceles 34">
              <a:extLst>
                <a:ext uri="{FF2B5EF4-FFF2-40B4-BE49-F238E27FC236}">
                  <a16:creationId xmlns:a16="http://schemas.microsoft.com/office/drawing/2014/main" id="{03ACE40F-062D-6679-3D5D-9AC9F80ADC24}"/>
                </a:ext>
              </a:extLst>
            </p:cNvPr>
            <p:cNvSpPr/>
            <p:nvPr/>
          </p:nvSpPr>
          <p:spPr>
            <a:xfrm>
              <a:off x="1785607" y="4005340"/>
              <a:ext cx="205339" cy="202130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Triángulo isósceles 36">
              <a:extLst>
                <a:ext uri="{FF2B5EF4-FFF2-40B4-BE49-F238E27FC236}">
                  <a16:creationId xmlns:a16="http://schemas.microsoft.com/office/drawing/2014/main" id="{DA8CEE02-566B-68A4-C004-3C0D78F9EB3C}"/>
                </a:ext>
              </a:extLst>
            </p:cNvPr>
            <p:cNvSpPr/>
            <p:nvPr/>
          </p:nvSpPr>
          <p:spPr>
            <a:xfrm>
              <a:off x="1486167" y="3887443"/>
              <a:ext cx="205339" cy="202130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2" name="65 Grupo">
            <a:extLst>
              <a:ext uri="{FF2B5EF4-FFF2-40B4-BE49-F238E27FC236}">
                <a16:creationId xmlns:a16="http://schemas.microsoft.com/office/drawing/2014/main" id="{1AA9C195-3576-ACC6-17E8-0CF8311D2816}"/>
              </a:ext>
            </a:extLst>
          </p:cNvPr>
          <p:cNvGrpSpPr/>
          <p:nvPr/>
        </p:nvGrpSpPr>
        <p:grpSpPr>
          <a:xfrm>
            <a:off x="3933371" y="4117988"/>
            <a:ext cx="496961" cy="374164"/>
            <a:chOff x="3806353" y="5262434"/>
            <a:chExt cx="603065" cy="496153"/>
          </a:xfrm>
        </p:grpSpPr>
        <p:grpSp>
          <p:nvGrpSpPr>
            <p:cNvPr id="23" name="Grupo 39">
              <a:extLst>
                <a:ext uri="{FF2B5EF4-FFF2-40B4-BE49-F238E27FC236}">
                  <a16:creationId xmlns:a16="http://schemas.microsoft.com/office/drawing/2014/main" id="{E7C84327-3D79-1311-C32D-256C2746BD13}"/>
                </a:ext>
              </a:extLst>
            </p:cNvPr>
            <p:cNvGrpSpPr/>
            <p:nvPr/>
          </p:nvGrpSpPr>
          <p:grpSpPr>
            <a:xfrm>
              <a:off x="3806353" y="5262434"/>
              <a:ext cx="603065" cy="496153"/>
              <a:chOff x="-378177" y="6083166"/>
              <a:chExt cx="452299" cy="496153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25" name="Elipse 27">
                <a:extLst>
                  <a:ext uri="{FF2B5EF4-FFF2-40B4-BE49-F238E27FC236}">
                    <a16:creationId xmlns:a16="http://schemas.microsoft.com/office/drawing/2014/main" id="{C428D7FE-BAD6-B154-B3D7-6A50674C011A}"/>
                  </a:ext>
                </a:extLst>
              </p:cNvPr>
              <p:cNvSpPr/>
              <p:nvPr/>
            </p:nvSpPr>
            <p:spPr>
              <a:xfrm>
                <a:off x="-318910" y="6083166"/>
                <a:ext cx="144379" cy="18288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6" name="Elipse 31">
                <a:extLst>
                  <a:ext uri="{FF2B5EF4-FFF2-40B4-BE49-F238E27FC236}">
                    <a16:creationId xmlns:a16="http://schemas.microsoft.com/office/drawing/2014/main" id="{0D92BF06-2AF0-8B55-2D3C-7CC286A629A0}"/>
                  </a:ext>
                </a:extLst>
              </p:cNvPr>
              <p:cNvSpPr/>
              <p:nvPr/>
            </p:nvSpPr>
            <p:spPr>
              <a:xfrm>
                <a:off x="-70257" y="6235566"/>
                <a:ext cx="144379" cy="18288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7" name="Elipse 33">
                <a:extLst>
                  <a:ext uri="{FF2B5EF4-FFF2-40B4-BE49-F238E27FC236}">
                    <a16:creationId xmlns:a16="http://schemas.microsoft.com/office/drawing/2014/main" id="{50CEFD7F-71D1-EB5D-CEAA-E4D89AA5DDB4}"/>
                  </a:ext>
                </a:extLst>
              </p:cNvPr>
              <p:cNvSpPr/>
              <p:nvPr/>
            </p:nvSpPr>
            <p:spPr>
              <a:xfrm>
                <a:off x="-378177" y="6396439"/>
                <a:ext cx="144379" cy="18288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24" name="Elipse 37">
              <a:extLst>
                <a:ext uri="{FF2B5EF4-FFF2-40B4-BE49-F238E27FC236}">
                  <a16:creationId xmlns:a16="http://schemas.microsoft.com/office/drawing/2014/main" id="{73774BA0-1439-2A03-57AB-61B7BD7B3691}"/>
                </a:ext>
              </a:extLst>
            </p:cNvPr>
            <p:cNvSpPr/>
            <p:nvPr/>
          </p:nvSpPr>
          <p:spPr>
            <a:xfrm>
              <a:off x="4011634" y="5516230"/>
              <a:ext cx="192505" cy="182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8" name="Elipse 35">
            <a:extLst>
              <a:ext uri="{FF2B5EF4-FFF2-40B4-BE49-F238E27FC236}">
                <a16:creationId xmlns:a16="http://schemas.microsoft.com/office/drawing/2014/main" id="{C4968417-9966-4577-D696-B095B80C610C}"/>
              </a:ext>
            </a:extLst>
          </p:cNvPr>
          <p:cNvSpPr/>
          <p:nvPr/>
        </p:nvSpPr>
        <p:spPr>
          <a:xfrm>
            <a:off x="3918133" y="3344865"/>
            <a:ext cx="229464" cy="14100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Elipse 41">
            <a:extLst>
              <a:ext uri="{FF2B5EF4-FFF2-40B4-BE49-F238E27FC236}">
                <a16:creationId xmlns:a16="http://schemas.microsoft.com/office/drawing/2014/main" id="{2FE995A7-D007-9E56-6105-132FCF1EFE05}"/>
              </a:ext>
            </a:extLst>
          </p:cNvPr>
          <p:cNvSpPr/>
          <p:nvPr/>
        </p:nvSpPr>
        <p:spPr>
          <a:xfrm>
            <a:off x="4121333" y="3539600"/>
            <a:ext cx="229464" cy="14100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Elipse 42">
            <a:extLst>
              <a:ext uri="{FF2B5EF4-FFF2-40B4-BE49-F238E27FC236}">
                <a16:creationId xmlns:a16="http://schemas.microsoft.com/office/drawing/2014/main" id="{39E3991F-12C8-7E17-075F-AD7E738054F1}"/>
              </a:ext>
            </a:extLst>
          </p:cNvPr>
          <p:cNvSpPr/>
          <p:nvPr/>
        </p:nvSpPr>
        <p:spPr>
          <a:xfrm>
            <a:off x="4070533" y="3101025"/>
            <a:ext cx="229464" cy="14100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43">
            <a:extLst>
              <a:ext uri="{FF2B5EF4-FFF2-40B4-BE49-F238E27FC236}">
                <a16:creationId xmlns:a16="http://schemas.microsoft.com/office/drawing/2014/main" id="{EE12ED0E-1B00-8D17-D000-F3C033C57F27}"/>
              </a:ext>
            </a:extLst>
          </p:cNvPr>
          <p:cNvSpPr/>
          <p:nvPr/>
        </p:nvSpPr>
        <p:spPr>
          <a:xfrm>
            <a:off x="4355013" y="3436305"/>
            <a:ext cx="229464" cy="14100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Elipse 44">
            <a:extLst>
              <a:ext uri="{FF2B5EF4-FFF2-40B4-BE49-F238E27FC236}">
                <a16:creationId xmlns:a16="http://schemas.microsoft.com/office/drawing/2014/main" id="{B2B18D69-81D1-CEC3-8772-653F0FC6773B}"/>
              </a:ext>
            </a:extLst>
          </p:cNvPr>
          <p:cNvSpPr/>
          <p:nvPr/>
        </p:nvSpPr>
        <p:spPr>
          <a:xfrm>
            <a:off x="4172133" y="3299145"/>
            <a:ext cx="229464" cy="14100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angle 5">
            <a:extLst>
              <a:ext uri="{FF2B5EF4-FFF2-40B4-BE49-F238E27FC236}">
                <a16:creationId xmlns:a16="http://schemas.microsoft.com/office/drawing/2014/main" id="{C7100C21-B0A6-5630-63BB-3B1474E17686}"/>
              </a:ext>
            </a:extLst>
          </p:cNvPr>
          <p:cNvSpPr txBox="1">
            <a:spLocks noChangeArrowheads="1"/>
          </p:cNvSpPr>
          <p:nvPr/>
        </p:nvSpPr>
        <p:spPr>
          <a:xfrm>
            <a:off x="685085" y="838430"/>
            <a:ext cx="7773829" cy="7856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Ejemplo Problema de Agrupamiento - </a:t>
            </a:r>
            <a:r>
              <a:rPr lang="es-CO" sz="1400" b="1" err="1">
                <a:solidFill>
                  <a:srgbClr val="7030A0"/>
                </a:solidFill>
              </a:rPr>
              <a:t>Clustering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Robot clasifica diferentes frutas a partir de imágenes</a:t>
            </a:r>
          </a:p>
          <a:p>
            <a:pPr lvl="1"/>
            <a:r>
              <a:rPr lang="es-CO" sz="1400"/>
              <a:t>No Supervisado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observa las frutas pero NO se le indica qué fruta está viendo</a:t>
            </a:r>
          </a:p>
        </p:txBody>
      </p:sp>
      <p:sp>
        <p:nvSpPr>
          <p:cNvPr id="34" name="CuadroTexto 28">
            <a:extLst>
              <a:ext uri="{FF2B5EF4-FFF2-40B4-BE49-F238E27FC236}">
                <a16:creationId xmlns:a16="http://schemas.microsoft.com/office/drawing/2014/main" id="{5F26C54A-34E9-3E79-B709-5C30F8FC235A}"/>
              </a:ext>
            </a:extLst>
          </p:cNvPr>
          <p:cNvSpPr txBox="1"/>
          <p:nvPr/>
        </p:nvSpPr>
        <p:spPr>
          <a:xfrm rot="16200000">
            <a:off x="657249" y="2826950"/>
            <a:ext cx="1117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Amarillo</a:t>
            </a:r>
          </a:p>
        </p:txBody>
      </p:sp>
      <p:grpSp>
        <p:nvGrpSpPr>
          <p:cNvPr id="35" name="1 Grupo">
            <a:extLst>
              <a:ext uri="{FF2B5EF4-FFF2-40B4-BE49-F238E27FC236}">
                <a16:creationId xmlns:a16="http://schemas.microsoft.com/office/drawing/2014/main" id="{FBD9D5E6-AA98-312D-20E9-C0ABFB6FE481}"/>
              </a:ext>
            </a:extLst>
          </p:cNvPr>
          <p:cNvGrpSpPr/>
          <p:nvPr/>
        </p:nvGrpSpPr>
        <p:grpSpPr>
          <a:xfrm>
            <a:off x="1667501" y="2616327"/>
            <a:ext cx="603020" cy="498152"/>
            <a:chOff x="1517839" y="3760773"/>
            <a:chExt cx="731768" cy="660565"/>
          </a:xfrm>
        </p:grpSpPr>
        <p:grpSp>
          <p:nvGrpSpPr>
            <p:cNvPr id="36" name="Grupo 38">
              <a:extLst>
                <a:ext uri="{FF2B5EF4-FFF2-40B4-BE49-F238E27FC236}">
                  <a16:creationId xmlns:a16="http://schemas.microsoft.com/office/drawing/2014/main" id="{233A7B3F-7BDB-F3DC-B351-B7392D690D3E}"/>
                </a:ext>
              </a:extLst>
            </p:cNvPr>
            <p:cNvGrpSpPr/>
            <p:nvPr/>
          </p:nvGrpSpPr>
          <p:grpSpPr>
            <a:xfrm>
              <a:off x="1517839" y="3760773"/>
              <a:ext cx="731768" cy="660565"/>
              <a:chOff x="489078" y="4760151"/>
              <a:chExt cx="548826" cy="660565"/>
            </a:xfrm>
            <a:solidFill>
              <a:srgbClr val="FFFF00"/>
            </a:solidFill>
          </p:grpSpPr>
          <p:sp>
            <p:nvSpPr>
              <p:cNvPr id="38" name="Triángulo isósceles 24">
                <a:extLst>
                  <a:ext uri="{FF2B5EF4-FFF2-40B4-BE49-F238E27FC236}">
                    <a16:creationId xmlns:a16="http://schemas.microsoft.com/office/drawing/2014/main" id="{C7A13119-9602-004B-7BF6-B319467042C0}"/>
                  </a:ext>
                </a:extLst>
              </p:cNvPr>
              <p:cNvSpPr/>
              <p:nvPr/>
            </p:nvSpPr>
            <p:spPr>
              <a:xfrm>
                <a:off x="489078" y="5218586"/>
                <a:ext cx="154004" cy="20213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9" name="Triángulo isósceles 30">
                <a:extLst>
                  <a:ext uri="{FF2B5EF4-FFF2-40B4-BE49-F238E27FC236}">
                    <a16:creationId xmlns:a16="http://schemas.microsoft.com/office/drawing/2014/main" id="{16C699CB-C628-3B66-F10C-5B45E9DF3A1F}"/>
                  </a:ext>
                </a:extLst>
              </p:cNvPr>
              <p:cNvSpPr/>
              <p:nvPr/>
            </p:nvSpPr>
            <p:spPr>
              <a:xfrm>
                <a:off x="883900" y="4892542"/>
                <a:ext cx="154004" cy="20213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0" name="Triángulo isósceles 32">
                <a:extLst>
                  <a:ext uri="{FF2B5EF4-FFF2-40B4-BE49-F238E27FC236}">
                    <a16:creationId xmlns:a16="http://schemas.microsoft.com/office/drawing/2014/main" id="{E1408FC0-4679-C17C-E792-27CD6FF3B578}"/>
                  </a:ext>
                </a:extLst>
              </p:cNvPr>
              <p:cNvSpPr/>
              <p:nvPr/>
            </p:nvSpPr>
            <p:spPr>
              <a:xfrm>
                <a:off x="622228" y="4760151"/>
                <a:ext cx="154004" cy="20213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37" name="Triángulo isósceles 34">
              <a:extLst>
                <a:ext uri="{FF2B5EF4-FFF2-40B4-BE49-F238E27FC236}">
                  <a16:creationId xmlns:a16="http://schemas.microsoft.com/office/drawing/2014/main" id="{9BD80357-855A-987F-82C7-86991615E5EA}"/>
                </a:ext>
              </a:extLst>
            </p:cNvPr>
            <p:cNvSpPr/>
            <p:nvPr/>
          </p:nvSpPr>
          <p:spPr>
            <a:xfrm>
              <a:off x="1785607" y="4005340"/>
              <a:ext cx="205339" cy="202130"/>
            </a:xfrm>
            <a:prstGeom prst="triangl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1" name="Triángulo isósceles 36">
            <a:extLst>
              <a:ext uri="{FF2B5EF4-FFF2-40B4-BE49-F238E27FC236}">
                <a16:creationId xmlns:a16="http://schemas.microsoft.com/office/drawing/2014/main" id="{AB7A67AF-FBD1-B7FA-2C41-7923DFB63CA5}"/>
              </a:ext>
            </a:extLst>
          </p:cNvPr>
          <p:cNvSpPr/>
          <p:nvPr/>
        </p:nvSpPr>
        <p:spPr>
          <a:xfrm>
            <a:off x="1543209" y="2742996"/>
            <a:ext cx="169211" cy="152432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42" name="5 Grupo">
            <a:extLst>
              <a:ext uri="{FF2B5EF4-FFF2-40B4-BE49-F238E27FC236}">
                <a16:creationId xmlns:a16="http://schemas.microsoft.com/office/drawing/2014/main" id="{E95C8BA8-0BBA-4057-54B1-DC258682976C}"/>
              </a:ext>
            </a:extLst>
          </p:cNvPr>
          <p:cNvGrpSpPr/>
          <p:nvPr/>
        </p:nvGrpSpPr>
        <p:grpSpPr>
          <a:xfrm>
            <a:off x="3933371" y="4117988"/>
            <a:ext cx="496961" cy="374164"/>
            <a:chOff x="3806353" y="5262434"/>
            <a:chExt cx="603065" cy="496153"/>
          </a:xfrm>
        </p:grpSpPr>
        <p:grpSp>
          <p:nvGrpSpPr>
            <p:cNvPr id="43" name="Grupo 39">
              <a:extLst>
                <a:ext uri="{FF2B5EF4-FFF2-40B4-BE49-F238E27FC236}">
                  <a16:creationId xmlns:a16="http://schemas.microsoft.com/office/drawing/2014/main" id="{98AB5B69-5129-F315-B756-D5CEF5D3011E}"/>
                </a:ext>
              </a:extLst>
            </p:cNvPr>
            <p:cNvGrpSpPr/>
            <p:nvPr/>
          </p:nvGrpSpPr>
          <p:grpSpPr>
            <a:xfrm>
              <a:off x="3806353" y="5262434"/>
              <a:ext cx="603065" cy="496153"/>
              <a:chOff x="-378177" y="6083166"/>
              <a:chExt cx="452299" cy="496153"/>
            </a:xfrm>
            <a:solidFill>
              <a:srgbClr val="C00000"/>
            </a:solidFill>
          </p:grpSpPr>
          <p:sp>
            <p:nvSpPr>
              <p:cNvPr id="45" name="Elipse 27">
                <a:extLst>
                  <a:ext uri="{FF2B5EF4-FFF2-40B4-BE49-F238E27FC236}">
                    <a16:creationId xmlns:a16="http://schemas.microsoft.com/office/drawing/2014/main" id="{9B6F2412-FDE3-DADB-BA46-BAE74708FD9F}"/>
                  </a:ext>
                </a:extLst>
              </p:cNvPr>
              <p:cNvSpPr/>
              <p:nvPr/>
            </p:nvSpPr>
            <p:spPr>
              <a:xfrm>
                <a:off x="-318910" y="6083166"/>
                <a:ext cx="144379" cy="18288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6" name="Elipse 31">
                <a:extLst>
                  <a:ext uri="{FF2B5EF4-FFF2-40B4-BE49-F238E27FC236}">
                    <a16:creationId xmlns:a16="http://schemas.microsoft.com/office/drawing/2014/main" id="{8E56FC9B-2CEC-50FA-F4AC-3E124A7F59AC}"/>
                  </a:ext>
                </a:extLst>
              </p:cNvPr>
              <p:cNvSpPr/>
              <p:nvPr/>
            </p:nvSpPr>
            <p:spPr>
              <a:xfrm>
                <a:off x="-70257" y="6235566"/>
                <a:ext cx="144379" cy="18288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7" name="Elipse 33">
                <a:extLst>
                  <a:ext uri="{FF2B5EF4-FFF2-40B4-BE49-F238E27FC236}">
                    <a16:creationId xmlns:a16="http://schemas.microsoft.com/office/drawing/2014/main" id="{2B363DCF-5E46-5D5A-132E-2F719C6054BD}"/>
                  </a:ext>
                </a:extLst>
              </p:cNvPr>
              <p:cNvSpPr/>
              <p:nvPr/>
            </p:nvSpPr>
            <p:spPr>
              <a:xfrm>
                <a:off x="-378177" y="6396439"/>
                <a:ext cx="144379" cy="18288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44" name="Elipse 37">
              <a:extLst>
                <a:ext uri="{FF2B5EF4-FFF2-40B4-BE49-F238E27FC236}">
                  <a16:creationId xmlns:a16="http://schemas.microsoft.com/office/drawing/2014/main" id="{1DC2B4D9-EB88-31CF-9C69-45C469C78EB0}"/>
                </a:ext>
              </a:extLst>
            </p:cNvPr>
            <p:cNvSpPr/>
            <p:nvPr/>
          </p:nvSpPr>
          <p:spPr>
            <a:xfrm>
              <a:off x="4011634" y="5516230"/>
              <a:ext cx="192505" cy="18288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8" name="CuadroTexto 48">
            <a:extLst>
              <a:ext uri="{FF2B5EF4-FFF2-40B4-BE49-F238E27FC236}">
                <a16:creationId xmlns:a16="http://schemas.microsoft.com/office/drawing/2014/main" id="{43F93DA6-0648-23AA-2146-AB5E62EDA910}"/>
              </a:ext>
            </a:extLst>
          </p:cNvPr>
          <p:cNvSpPr txBox="1"/>
          <p:nvPr/>
        </p:nvSpPr>
        <p:spPr>
          <a:xfrm>
            <a:off x="4490703" y="4688060"/>
            <a:ext cx="11682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Redondo</a:t>
            </a:r>
          </a:p>
        </p:txBody>
      </p:sp>
      <p:sp>
        <p:nvSpPr>
          <p:cNvPr id="49" name="4 Estrella de 5 puntas">
            <a:extLst>
              <a:ext uri="{FF2B5EF4-FFF2-40B4-BE49-F238E27FC236}">
                <a16:creationId xmlns:a16="http://schemas.microsoft.com/office/drawing/2014/main" id="{8447314A-F572-57D0-7B7B-300D24919293}"/>
              </a:ext>
            </a:extLst>
          </p:cNvPr>
          <p:cNvSpPr/>
          <p:nvPr/>
        </p:nvSpPr>
        <p:spPr>
          <a:xfrm>
            <a:off x="3231907" y="3242112"/>
            <a:ext cx="230799" cy="252408"/>
          </a:xfrm>
          <a:prstGeom prst="star5">
            <a:avLst/>
          </a:prstGeom>
          <a:solidFill>
            <a:srgbClr val="FFFF00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0" name="Imagen 49">
            <a:extLst>
              <a:ext uri="{FF2B5EF4-FFF2-40B4-BE49-F238E27FC236}">
                <a16:creationId xmlns:a16="http://schemas.microsoft.com/office/drawing/2014/main" id="{FF301074-CEEF-045F-6AD3-426CF3C83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1" y="1493983"/>
            <a:ext cx="1371469" cy="1026062"/>
          </a:xfrm>
          <a:prstGeom prst="rect">
            <a:avLst/>
          </a:prstGeom>
        </p:spPr>
      </p:pic>
      <p:sp>
        <p:nvSpPr>
          <p:cNvPr id="51" name="Rectangle 5">
            <a:extLst>
              <a:ext uri="{FF2B5EF4-FFF2-40B4-BE49-F238E27FC236}">
                <a16:creationId xmlns:a16="http://schemas.microsoft.com/office/drawing/2014/main" id="{DDCA06C8-F39A-FDE0-3E28-C0A90BFB00B1}"/>
              </a:ext>
            </a:extLst>
          </p:cNvPr>
          <p:cNvSpPr txBox="1">
            <a:spLocks noChangeArrowheads="1"/>
          </p:cNvSpPr>
          <p:nvPr/>
        </p:nvSpPr>
        <p:spPr>
          <a:xfrm>
            <a:off x="6180852" y="1967392"/>
            <a:ext cx="2878615" cy="669393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PREGUNTA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0070C0"/>
                </a:solidFill>
              </a:rPr>
              <a:t>Cómo Ubicar </a:t>
            </a:r>
            <a:r>
              <a:rPr lang="es-CO" sz="1400" err="1">
                <a:solidFill>
                  <a:srgbClr val="0070C0"/>
                </a:solidFill>
              </a:rPr>
              <a:t>Centroides</a:t>
            </a:r>
            <a:r>
              <a:rPr lang="es-CO" sz="1400">
                <a:solidFill>
                  <a:srgbClr val="0070C0"/>
                </a:solidFill>
              </a:rPr>
              <a:t>?</a:t>
            </a:r>
          </a:p>
        </p:txBody>
      </p:sp>
      <p:sp>
        <p:nvSpPr>
          <p:cNvPr id="52" name="Rectangle 5">
            <a:extLst>
              <a:ext uri="{FF2B5EF4-FFF2-40B4-BE49-F238E27FC236}">
                <a16:creationId xmlns:a16="http://schemas.microsoft.com/office/drawing/2014/main" id="{7FCB00A2-241B-619A-72B1-B0C4171313BF}"/>
              </a:ext>
            </a:extLst>
          </p:cNvPr>
          <p:cNvSpPr txBox="1">
            <a:spLocks noChangeArrowheads="1"/>
          </p:cNvSpPr>
          <p:nvPr/>
        </p:nvSpPr>
        <p:spPr>
          <a:xfrm>
            <a:off x="6180852" y="2819739"/>
            <a:ext cx="2878615" cy="812629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>
                <a:solidFill>
                  <a:srgbClr val="00B050"/>
                </a:solidFill>
              </a:rPr>
              <a:t>Moverlos al Centro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00B050"/>
                </a:solidFill>
              </a:rPr>
              <a:t>de las Más Cercanas !!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K-</a:t>
            </a:r>
            <a:r>
              <a:rPr lang="es-CO" sz="140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Means</a:t>
            </a:r>
            <a:r>
              <a:rPr lang="es-CO" sz="1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sz="140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Clustering</a:t>
            </a:r>
            <a:endParaRPr lang="es-CO" sz="14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36 Estrella de 5 puntas">
            <a:extLst>
              <a:ext uri="{FF2B5EF4-FFF2-40B4-BE49-F238E27FC236}">
                <a16:creationId xmlns:a16="http://schemas.microsoft.com/office/drawing/2014/main" id="{7ECA9220-D795-1120-BECA-DF4EE8C4870F}"/>
              </a:ext>
            </a:extLst>
          </p:cNvPr>
          <p:cNvSpPr/>
          <p:nvPr/>
        </p:nvSpPr>
        <p:spPr>
          <a:xfrm>
            <a:off x="3371269" y="4224597"/>
            <a:ext cx="230799" cy="252408"/>
          </a:xfrm>
          <a:prstGeom prst="star5">
            <a:avLst/>
          </a:prstGeom>
          <a:solidFill>
            <a:srgbClr val="C00000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4" name="39 Estrella de 5 puntas">
            <a:extLst>
              <a:ext uri="{FF2B5EF4-FFF2-40B4-BE49-F238E27FC236}">
                <a16:creationId xmlns:a16="http://schemas.microsoft.com/office/drawing/2014/main" id="{ED9F70F6-2E69-1D16-C12A-29D0F9208931}"/>
              </a:ext>
            </a:extLst>
          </p:cNvPr>
          <p:cNvSpPr/>
          <p:nvPr/>
        </p:nvSpPr>
        <p:spPr>
          <a:xfrm>
            <a:off x="4593287" y="2520045"/>
            <a:ext cx="230799" cy="252408"/>
          </a:xfrm>
          <a:prstGeom prst="star5">
            <a:avLst/>
          </a:prstGeom>
          <a:solidFill>
            <a:srgbClr val="FFC000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" name="88 Estrella de 5 puntas">
            <a:extLst>
              <a:ext uri="{FF2B5EF4-FFF2-40B4-BE49-F238E27FC236}">
                <a16:creationId xmlns:a16="http://schemas.microsoft.com/office/drawing/2014/main" id="{45E84918-2A8A-3E3B-C7CA-7F5E42DF24EA}"/>
              </a:ext>
            </a:extLst>
          </p:cNvPr>
          <p:cNvSpPr/>
          <p:nvPr/>
        </p:nvSpPr>
        <p:spPr>
          <a:xfrm>
            <a:off x="2677110" y="2975389"/>
            <a:ext cx="230799" cy="252408"/>
          </a:xfrm>
          <a:prstGeom prst="star5">
            <a:avLst/>
          </a:prstGeom>
          <a:solidFill>
            <a:srgbClr val="FFFF00"/>
          </a:solidFill>
          <a:ln w="28575"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" name="92 Estrella de 5 puntas">
            <a:extLst>
              <a:ext uri="{FF2B5EF4-FFF2-40B4-BE49-F238E27FC236}">
                <a16:creationId xmlns:a16="http://schemas.microsoft.com/office/drawing/2014/main" id="{708C1E8C-F7FE-7A5E-FE0D-D0752BF827BD}"/>
              </a:ext>
            </a:extLst>
          </p:cNvPr>
          <p:cNvSpPr/>
          <p:nvPr/>
        </p:nvSpPr>
        <p:spPr>
          <a:xfrm>
            <a:off x="4103279" y="3783287"/>
            <a:ext cx="230799" cy="252408"/>
          </a:xfrm>
          <a:prstGeom prst="star5">
            <a:avLst/>
          </a:prstGeom>
          <a:solidFill>
            <a:srgbClr val="C00000"/>
          </a:solidFill>
          <a:ln w="28575"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7" name="93 Estrella de 5 puntas">
            <a:extLst>
              <a:ext uri="{FF2B5EF4-FFF2-40B4-BE49-F238E27FC236}">
                <a16:creationId xmlns:a16="http://schemas.microsoft.com/office/drawing/2014/main" id="{A6DFD7A9-781D-44B7-521D-A84DEA1C22D7}"/>
              </a:ext>
            </a:extLst>
          </p:cNvPr>
          <p:cNvSpPr/>
          <p:nvPr/>
        </p:nvSpPr>
        <p:spPr>
          <a:xfrm>
            <a:off x="4259905" y="3131794"/>
            <a:ext cx="230799" cy="252408"/>
          </a:xfrm>
          <a:prstGeom prst="star5">
            <a:avLst/>
          </a:prstGeom>
          <a:solidFill>
            <a:srgbClr val="FFC000"/>
          </a:solidFill>
          <a:ln w="28575"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68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41" grpId="0" animBg="1"/>
      <p:bldP spid="49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>
          <a:extLst>
            <a:ext uri="{FF2B5EF4-FFF2-40B4-BE49-F238E27FC236}">
              <a16:creationId xmlns:a16="http://schemas.microsoft.com/office/drawing/2014/main" id="{C7BD36B9-F6B5-EB8A-EE44-70A3A3CC3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>
            <a:extLst>
              <a:ext uri="{FF2B5EF4-FFF2-40B4-BE49-F238E27FC236}">
                <a16:creationId xmlns:a16="http://schemas.microsoft.com/office/drawing/2014/main" id="{74F6CD54-4E69-74D4-4B8F-1781899A39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8704" y="4319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Agrupamiento</a:t>
            </a:r>
            <a:endParaRPr/>
          </a:p>
        </p:txBody>
      </p:sp>
      <p:sp>
        <p:nvSpPr>
          <p:cNvPr id="33" name="Rectangle 5">
            <a:extLst>
              <a:ext uri="{FF2B5EF4-FFF2-40B4-BE49-F238E27FC236}">
                <a16:creationId xmlns:a16="http://schemas.microsoft.com/office/drawing/2014/main" id="{B4A6E09B-1ACA-D469-E7C5-EE4BF9150682}"/>
              </a:ext>
            </a:extLst>
          </p:cNvPr>
          <p:cNvSpPr txBox="1">
            <a:spLocks noChangeArrowheads="1"/>
          </p:cNvSpPr>
          <p:nvPr/>
        </p:nvSpPr>
        <p:spPr>
          <a:xfrm>
            <a:off x="1135324" y="750579"/>
            <a:ext cx="7773829" cy="7856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Ejemplo Problema de Agrupamiento - </a:t>
            </a:r>
            <a:r>
              <a:rPr lang="es-CO" sz="1400" b="1" err="1">
                <a:solidFill>
                  <a:srgbClr val="7030A0"/>
                </a:solidFill>
              </a:rPr>
              <a:t>Clustering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Robot clasifica diferentes frutas a partir de imágenes</a:t>
            </a:r>
          </a:p>
          <a:p>
            <a:pPr lvl="1"/>
            <a:r>
              <a:rPr lang="es-CO" sz="1400"/>
              <a:t>No Supervisado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observa las frutas pero NO se le indica qué fruta está viendo</a:t>
            </a:r>
          </a:p>
        </p:txBody>
      </p:sp>
      <p:grpSp>
        <p:nvGrpSpPr>
          <p:cNvPr id="2" name="2 Grupo">
            <a:extLst>
              <a:ext uri="{FF2B5EF4-FFF2-40B4-BE49-F238E27FC236}">
                <a16:creationId xmlns:a16="http://schemas.microsoft.com/office/drawing/2014/main" id="{94EA2DC9-0DB0-1EB1-6B91-81542928EDB8}"/>
              </a:ext>
            </a:extLst>
          </p:cNvPr>
          <p:cNvGrpSpPr/>
          <p:nvPr/>
        </p:nvGrpSpPr>
        <p:grpSpPr>
          <a:xfrm>
            <a:off x="638704" y="1846612"/>
            <a:ext cx="5050323" cy="3055620"/>
            <a:chOff x="4895810" y="2873910"/>
            <a:chExt cx="5050323" cy="3055620"/>
          </a:xfrm>
        </p:grpSpPr>
        <p:cxnSp>
          <p:nvCxnSpPr>
            <p:cNvPr id="3" name="Conector recto de flecha 9">
              <a:extLst>
                <a:ext uri="{FF2B5EF4-FFF2-40B4-BE49-F238E27FC236}">
                  <a16:creationId xmlns:a16="http://schemas.microsoft.com/office/drawing/2014/main" id="{A3493371-682D-54A9-BB47-051ECCBE224C}"/>
                </a:ext>
              </a:extLst>
            </p:cNvPr>
            <p:cNvCxnSpPr/>
            <p:nvPr/>
          </p:nvCxnSpPr>
          <p:spPr>
            <a:xfrm flipH="1" flipV="1">
              <a:off x="4895810" y="2873910"/>
              <a:ext cx="55880" cy="30556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de flecha 11">
              <a:extLst>
                <a:ext uri="{FF2B5EF4-FFF2-40B4-BE49-F238E27FC236}">
                  <a16:creationId xmlns:a16="http://schemas.microsoft.com/office/drawing/2014/main" id="{0DE0DE32-3F31-0659-6549-8CF233C91254}"/>
                </a:ext>
              </a:extLst>
            </p:cNvPr>
            <p:cNvCxnSpPr/>
            <p:nvPr/>
          </p:nvCxnSpPr>
          <p:spPr>
            <a:xfrm>
              <a:off x="4926290" y="3315870"/>
              <a:ext cx="39217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de flecha 15">
              <a:extLst>
                <a:ext uri="{FF2B5EF4-FFF2-40B4-BE49-F238E27FC236}">
                  <a16:creationId xmlns:a16="http://schemas.microsoft.com/office/drawing/2014/main" id="{D036955E-74B6-286F-FDE9-BE92873406CE}"/>
                </a:ext>
              </a:extLst>
            </p:cNvPr>
            <p:cNvCxnSpPr/>
            <p:nvPr/>
          </p:nvCxnSpPr>
          <p:spPr>
            <a:xfrm flipV="1">
              <a:off x="4936450" y="5896644"/>
              <a:ext cx="5009683" cy="328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de flecha 16">
              <a:extLst>
                <a:ext uri="{FF2B5EF4-FFF2-40B4-BE49-F238E27FC236}">
                  <a16:creationId xmlns:a16="http://schemas.microsoft.com/office/drawing/2014/main" id="{7E7C87B2-EF91-84B9-148B-77970252C06C}"/>
                </a:ext>
              </a:extLst>
            </p:cNvPr>
            <p:cNvCxnSpPr/>
            <p:nvPr/>
          </p:nvCxnSpPr>
          <p:spPr>
            <a:xfrm flipH="1" flipV="1">
              <a:off x="8848050" y="3315870"/>
              <a:ext cx="86360" cy="259080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upo 2">
            <a:extLst>
              <a:ext uri="{FF2B5EF4-FFF2-40B4-BE49-F238E27FC236}">
                <a16:creationId xmlns:a16="http://schemas.microsoft.com/office/drawing/2014/main" id="{DE0998B8-B768-9592-04CB-A78ED476F8B7}"/>
              </a:ext>
            </a:extLst>
          </p:cNvPr>
          <p:cNvGrpSpPr/>
          <p:nvPr/>
        </p:nvGrpSpPr>
        <p:grpSpPr>
          <a:xfrm>
            <a:off x="3591295" y="3021529"/>
            <a:ext cx="715336" cy="625554"/>
            <a:chOff x="493891" y="5987627"/>
            <a:chExt cx="536502" cy="625554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62" name="Elipse 35">
              <a:extLst>
                <a:ext uri="{FF2B5EF4-FFF2-40B4-BE49-F238E27FC236}">
                  <a16:creationId xmlns:a16="http://schemas.microsoft.com/office/drawing/2014/main" id="{88762B76-D8C2-63FC-4BD8-2D92F8992B62}"/>
                </a:ext>
              </a:extLst>
            </p:cNvPr>
            <p:cNvSpPr/>
            <p:nvPr/>
          </p:nvSpPr>
          <p:spPr>
            <a:xfrm>
              <a:off x="493891" y="6231467"/>
              <a:ext cx="208842" cy="18697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3" name="Elipse 41">
              <a:extLst>
                <a:ext uri="{FF2B5EF4-FFF2-40B4-BE49-F238E27FC236}">
                  <a16:creationId xmlns:a16="http://schemas.microsoft.com/office/drawing/2014/main" id="{356A77F6-78AC-42A8-13AA-F4E6084FFF82}"/>
                </a:ext>
              </a:extLst>
            </p:cNvPr>
            <p:cNvSpPr/>
            <p:nvPr/>
          </p:nvSpPr>
          <p:spPr>
            <a:xfrm>
              <a:off x="646291" y="6426202"/>
              <a:ext cx="208842" cy="18697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12" name="Elipse 42">
              <a:extLst>
                <a:ext uri="{FF2B5EF4-FFF2-40B4-BE49-F238E27FC236}">
                  <a16:creationId xmlns:a16="http://schemas.microsoft.com/office/drawing/2014/main" id="{72545AF6-1C45-0104-8E22-146F61BD7841}"/>
                </a:ext>
              </a:extLst>
            </p:cNvPr>
            <p:cNvSpPr/>
            <p:nvPr/>
          </p:nvSpPr>
          <p:spPr>
            <a:xfrm>
              <a:off x="608191" y="5987627"/>
              <a:ext cx="208842" cy="18697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13" name="Elipse 43">
              <a:extLst>
                <a:ext uri="{FF2B5EF4-FFF2-40B4-BE49-F238E27FC236}">
                  <a16:creationId xmlns:a16="http://schemas.microsoft.com/office/drawing/2014/main" id="{1659EF3A-4A5E-D305-B8EF-1A0CCBF6D5A3}"/>
                </a:ext>
              </a:extLst>
            </p:cNvPr>
            <p:cNvSpPr/>
            <p:nvPr/>
          </p:nvSpPr>
          <p:spPr>
            <a:xfrm>
              <a:off x="821551" y="6322907"/>
              <a:ext cx="208842" cy="18697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14" name="Elipse 44">
              <a:extLst>
                <a:ext uri="{FF2B5EF4-FFF2-40B4-BE49-F238E27FC236}">
                  <a16:creationId xmlns:a16="http://schemas.microsoft.com/office/drawing/2014/main" id="{4E88271B-5E4C-81AC-840B-976AEB6A62FA}"/>
                </a:ext>
              </a:extLst>
            </p:cNvPr>
            <p:cNvSpPr/>
            <p:nvPr/>
          </p:nvSpPr>
          <p:spPr>
            <a:xfrm>
              <a:off x="684391" y="6185747"/>
              <a:ext cx="208842" cy="18697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515" name="58 Grupo">
            <a:extLst>
              <a:ext uri="{FF2B5EF4-FFF2-40B4-BE49-F238E27FC236}">
                <a16:creationId xmlns:a16="http://schemas.microsoft.com/office/drawing/2014/main" id="{46BF348C-3F6D-0B54-FEE6-AFC71D85BBEF}"/>
              </a:ext>
            </a:extLst>
          </p:cNvPr>
          <p:cNvGrpSpPr/>
          <p:nvPr/>
        </p:nvGrpSpPr>
        <p:grpSpPr>
          <a:xfrm>
            <a:off x="1229235" y="2536831"/>
            <a:ext cx="763440" cy="660565"/>
            <a:chOff x="1486167" y="3760773"/>
            <a:chExt cx="763440" cy="660565"/>
          </a:xfrm>
        </p:grpSpPr>
        <p:grpSp>
          <p:nvGrpSpPr>
            <p:cNvPr id="516" name="Grupo 38">
              <a:extLst>
                <a:ext uri="{FF2B5EF4-FFF2-40B4-BE49-F238E27FC236}">
                  <a16:creationId xmlns:a16="http://schemas.microsoft.com/office/drawing/2014/main" id="{805B23C6-9ABC-37D3-DB8E-18D8FBB9AE40}"/>
                </a:ext>
              </a:extLst>
            </p:cNvPr>
            <p:cNvGrpSpPr/>
            <p:nvPr/>
          </p:nvGrpSpPr>
          <p:grpSpPr>
            <a:xfrm>
              <a:off x="1517839" y="3760773"/>
              <a:ext cx="731768" cy="660565"/>
              <a:chOff x="489078" y="4760151"/>
              <a:chExt cx="548826" cy="66056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519" name="Triángulo isósceles 24">
                <a:extLst>
                  <a:ext uri="{FF2B5EF4-FFF2-40B4-BE49-F238E27FC236}">
                    <a16:creationId xmlns:a16="http://schemas.microsoft.com/office/drawing/2014/main" id="{A60E1E6F-B322-0E16-11B3-D9DD01D3CB7A}"/>
                  </a:ext>
                </a:extLst>
              </p:cNvPr>
              <p:cNvSpPr/>
              <p:nvPr/>
            </p:nvSpPr>
            <p:spPr>
              <a:xfrm>
                <a:off x="489078" y="5218586"/>
                <a:ext cx="154004" cy="20213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20" name="Triángulo isósceles 30">
                <a:extLst>
                  <a:ext uri="{FF2B5EF4-FFF2-40B4-BE49-F238E27FC236}">
                    <a16:creationId xmlns:a16="http://schemas.microsoft.com/office/drawing/2014/main" id="{DF43101F-AF41-8D7A-908E-EBABEE19D86C}"/>
                  </a:ext>
                </a:extLst>
              </p:cNvPr>
              <p:cNvSpPr/>
              <p:nvPr/>
            </p:nvSpPr>
            <p:spPr>
              <a:xfrm>
                <a:off x="883900" y="4892542"/>
                <a:ext cx="154004" cy="20213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21" name="Triángulo isósceles 32">
                <a:extLst>
                  <a:ext uri="{FF2B5EF4-FFF2-40B4-BE49-F238E27FC236}">
                    <a16:creationId xmlns:a16="http://schemas.microsoft.com/office/drawing/2014/main" id="{F2B85501-18A5-A7C7-D64F-EE506EF93516}"/>
                  </a:ext>
                </a:extLst>
              </p:cNvPr>
              <p:cNvSpPr/>
              <p:nvPr/>
            </p:nvSpPr>
            <p:spPr>
              <a:xfrm>
                <a:off x="622228" y="4760151"/>
                <a:ext cx="154004" cy="20213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517" name="Triángulo isósceles 34">
              <a:extLst>
                <a:ext uri="{FF2B5EF4-FFF2-40B4-BE49-F238E27FC236}">
                  <a16:creationId xmlns:a16="http://schemas.microsoft.com/office/drawing/2014/main" id="{A28844E3-77E0-75EC-CAD0-C5B8E615E161}"/>
                </a:ext>
              </a:extLst>
            </p:cNvPr>
            <p:cNvSpPr/>
            <p:nvPr/>
          </p:nvSpPr>
          <p:spPr>
            <a:xfrm>
              <a:off x="1785607" y="4005340"/>
              <a:ext cx="205339" cy="202130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18" name="Triángulo isósceles 36">
              <a:extLst>
                <a:ext uri="{FF2B5EF4-FFF2-40B4-BE49-F238E27FC236}">
                  <a16:creationId xmlns:a16="http://schemas.microsoft.com/office/drawing/2014/main" id="{9128F26F-A779-DECD-9E09-CC6100C16FA6}"/>
                </a:ext>
              </a:extLst>
            </p:cNvPr>
            <p:cNvSpPr/>
            <p:nvPr/>
          </p:nvSpPr>
          <p:spPr>
            <a:xfrm>
              <a:off x="1486167" y="3887443"/>
              <a:ext cx="205339" cy="202130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522" name="65 Grupo">
            <a:extLst>
              <a:ext uri="{FF2B5EF4-FFF2-40B4-BE49-F238E27FC236}">
                <a16:creationId xmlns:a16="http://schemas.microsoft.com/office/drawing/2014/main" id="{F198BE20-33DA-35BE-E108-C8845A045EAA}"/>
              </a:ext>
            </a:extLst>
          </p:cNvPr>
          <p:cNvGrpSpPr/>
          <p:nvPr/>
        </p:nvGrpSpPr>
        <p:grpSpPr>
          <a:xfrm>
            <a:off x="3549421" y="4038492"/>
            <a:ext cx="603065" cy="496153"/>
            <a:chOff x="3806353" y="5262434"/>
            <a:chExt cx="603065" cy="496153"/>
          </a:xfrm>
        </p:grpSpPr>
        <p:grpSp>
          <p:nvGrpSpPr>
            <p:cNvPr id="523" name="Grupo 39">
              <a:extLst>
                <a:ext uri="{FF2B5EF4-FFF2-40B4-BE49-F238E27FC236}">
                  <a16:creationId xmlns:a16="http://schemas.microsoft.com/office/drawing/2014/main" id="{D234EBF2-104E-9487-4028-F7F575578845}"/>
                </a:ext>
              </a:extLst>
            </p:cNvPr>
            <p:cNvGrpSpPr/>
            <p:nvPr/>
          </p:nvGrpSpPr>
          <p:grpSpPr>
            <a:xfrm>
              <a:off x="3806353" y="5262434"/>
              <a:ext cx="603065" cy="496153"/>
              <a:chOff x="-378177" y="6083166"/>
              <a:chExt cx="452299" cy="496153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526" name="Elipse 27">
                <a:extLst>
                  <a:ext uri="{FF2B5EF4-FFF2-40B4-BE49-F238E27FC236}">
                    <a16:creationId xmlns:a16="http://schemas.microsoft.com/office/drawing/2014/main" id="{548F9E30-002C-8536-0E1B-F7A6E58156E1}"/>
                  </a:ext>
                </a:extLst>
              </p:cNvPr>
              <p:cNvSpPr/>
              <p:nvPr/>
            </p:nvSpPr>
            <p:spPr>
              <a:xfrm>
                <a:off x="-318910" y="6083166"/>
                <a:ext cx="144379" cy="18288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27" name="Elipse 31">
                <a:extLst>
                  <a:ext uri="{FF2B5EF4-FFF2-40B4-BE49-F238E27FC236}">
                    <a16:creationId xmlns:a16="http://schemas.microsoft.com/office/drawing/2014/main" id="{A96F3F3E-F5A0-CA59-2B49-2726A84B7016}"/>
                  </a:ext>
                </a:extLst>
              </p:cNvPr>
              <p:cNvSpPr/>
              <p:nvPr/>
            </p:nvSpPr>
            <p:spPr>
              <a:xfrm>
                <a:off x="-70257" y="6235566"/>
                <a:ext cx="144379" cy="18288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28" name="Elipse 33">
                <a:extLst>
                  <a:ext uri="{FF2B5EF4-FFF2-40B4-BE49-F238E27FC236}">
                    <a16:creationId xmlns:a16="http://schemas.microsoft.com/office/drawing/2014/main" id="{EB613C72-1B0A-2402-3168-3236CC1C4CA4}"/>
                  </a:ext>
                </a:extLst>
              </p:cNvPr>
              <p:cNvSpPr/>
              <p:nvPr/>
            </p:nvSpPr>
            <p:spPr>
              <a:xfrm>
                <a:off x="-378177" y="6396439"/>
                <a:ext cx="144379" cy="18288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525" name="Elipse 37">
              <a:extLst>
                <a:ext uri="{FF2B5EF4-FFF2-40B4-BE49-F238E27FC236}">
                  <a16:creationId xmlns:a16="http://schemas.microsoft.com/office/drawing/2014/main" id="{E0162288-CBAD-133E-CA42-DBCE6BDF87AA}"/>
                </a:ext>
              </a:extLst>
            </p:cNvPr>
            <p:cNvSpPr/>
            <p:nvPr/>
          </p:nvSpPr>
          <p:spPr>
            <a:xfrm>
              <a:off x="4011634" y="5516230"/>
              <a:ext cx="192505" cy="1828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529" name="Elipse 35">
            <a:extLst>
              <a:ext uri="{FF2B5EF4-FFF2-40B4-BE49-F238E27FC236}">
                <a16:creationId xmlns:a16="http://schemas.microsoft.com/office/drawing/2014/main" id="{CF969C8F-E913-8E83-50FC-905F748E8530}"/>
              </a:ext>
            </a:extLst>
          </p:cNvPr>
          <p:cNvSpPr/>
          <p:nvPr/>
        </p:nvSpPr>
        <p:spPr>
          <a:xfrm>
            <a:off x="3591295" y="3265369"/>
            <a:ext cx="278456" cy="18697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0" name="Elipse 41">
            <a:extLst>
              <a:ext uri="{FF2B5EF4-FFF2-40B4-BE49-F238E27FC236}">
                <a16:creationId xmlns:a16="http://schemas.microsoft.com/office/drawing/2014/main" id="{5C47A77F-5E9F-2F43-79F2-191C193C26C3}"/>
              </a:ext>
            </a:extLst>
          </p:cNvPr>
          <p:cNvSpPr/>
          <p:nvPr/>
        </p:nvSpPr>
        <p:spPr>
          <a:xfrm>
            <a:off x="3794495" y="3460104"/>
            <a:ext cx="278456" cy="18697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1" name="Elipse 42">
            <a:extLst>
              <a:ext uri="{FF2B5EF4-FFF2-40B4-BE49-F238E27FC236}">
                <a16:creationId xmlns:a16="http://schemas.microsoft.com/office/drawing/2014/main" id="{54F9C135-F530-2A87-3B1B-7C0D7A31B5ED}"/>
              </a:ext>
            </a:extLst>
          </p:cNvPr>
          <p:cNvSpPr/>
          <p:nvPr/>
        </p:nvSpPr>
        <p:spPr>
          <a:xfrm>
            <a:off x="3743695" y="3021529"/>
            <a:ext cx="278456" cy="18697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2" name="Elipse 43">
            <a:extLst>
              <a:ext uri="{FF2B5EF4-FFF2-40B4-BE49-F238E27FC236}">
                <a16:creationId xmlns:a16="http://schemas.microsoft.com/office/drawing/2014/main" id="{4964CDFF-D02B-F206-4993-C547C4D196C5}"/>
              </a:ext>
            </a:extLst>
          </p:cNvPr>
          <p:cNvSpPr/>
          <p:nvPr/>
        </p:nvSpPr>
        <p:spPr>
          <a:xfrm>
            <a:off x="4028175" y="3356809"/>
            <a:ext cx="278456" cy="18697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3" name="Elipse 44">
            <a:extLst>
              <a:ext uri="{FF2B5EF4-FFF2-40B4-BE49-F238E27FC236}">
                <a16:creationId xmlns:a16="http://schemas.microsoft.com/office/drawing/2014/main" id="{A4023902-805B-8DDA-244F-E42335D0E33A}"/>
              </a:ext>
            </a:extLst>
          </p:cNvPr>
          <p:cNvSpPr/>
          <p:nvPr/>
        </p:nvSpPr>
        <p:spPr>
          <a:xfrm>
            <a:off x="3845295" y="3219649"/>
            <a:ext cx="278456" cy="18697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4" name="CuadroTexto 28">
            <a:extLst>
              <a:ext uri="{FF2B5EF4-FFF2-40B4-BE49-F238E27FC236}">
                <a16:creationId xmlns:a16="http://schemas.microsoft.com/office/drawing/2014/main" id="{16222FB2-3802-7AAC-C118-A6073818099D}"/>
              </a:ext>
            </a:extLst>
          </p:cNvPr>
          <p:cNvSpPr txBox="1"/>
          <p:nvPr/>
        </p:nvSpPr>
        <p:spPr>
          <a:xfrm rot="16200000">
            <a:off x="-109427" y="2213803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Amarillo</a:t>
            </a:r>
          </a:p>
        </p:txBody>
      </p:sp>
      <p:grpSp>
        <p:nvGrpSpPr>
          <p:cNvPr id="535" name="1 Grupo">
            <a:extLst>
              <a:ext uri="{FF2B5EF4-FFF2-40B4-BE49-F238E27FC236}">
                <a16:creationId xmlns:a16="http://schemas.microsoft.com/office/drawing/2014/main" id="{666E805E-5F41-31EF-74F4-43AAC55C25FA}"/>
              </a:ext>
            </a:extLst>
          </p:cNvPr>
          <p:cNvGrpSpPr/>
          <p:nvPr/>
        </p:nvGrpSpPr>
        <p:grpSpPr>
          <a:xfrm>
            <a:off x="1260907" y="2536831"/>
            <a:ext cx="731768" cy="660565"/>
            <a:chOff x="1517839" y="3760773"/>
            <a:chExt cx="731768" cy="660565"/>
          </a:xfrm>
        </p:grpSpPr>
        <p:grpSp>
          <p:nvGrpSpPr>
            <p:cNvPr id="536" name="Grupo 38">
              <a:extLst>
                <a:ext uri="{FF2B5EF4-FFF2-40B4-BE49-F238E27FC236}">
                  <a16:creationId xmlns:a16="http://schemas.microsoft.com/office/drawing/2014/main" id="{9EDF22DC-37ED-BC23-DBC0-D77B54F4A89C}"/>
                </a:ext>
              </a:extLst>
            </p:cNvPr>
            <p:cNvGrpSpPr/>
            <p:nvPr/>
          </p:nvGrpSpPr>
          <p:grpSpPr>
            <a:xfrm>
              <a:off x="1517839" y="3760773"/>
              <a:ext cx="731768" cy="660565"/>
              <a:chOff x="489078" y="4760151"/>
              <a:chExt cx="548826" cy="660565"/>
            </a:xfrm>
            <a:solidFill>
              <a:srgbClr val="FFFF00"/>
            </a:solidFill>
          </p:grpSpPr>
          <p:sp>
            <p:nvSpPr>
              <p:cNvPr id="538" name="Triángulo isósceles 24">
                <a:extLst>
                  <a:ext uri="{FF2B5EF4-FFF2-40B4-BE49-F238E27FC236}">
                    <a16:creationId xmlns:a16="http://schemas.microsoft.com/office/drawing/2014/main" id="{8E640CAF-7A4B-674F-EDFB-7F162095FB98}"/>
                  </a:ext>
                </a:extLst>
              </p:cNvPr>
              <p:cNvSpPr/>
              <p:nvPr/>
            </p:nvSpPr>
            <p:spPr>
              <a:xfrm>
                <a:off x="489078" y="5218586"/>
                <a:ext cx="154004" cy="20213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39" name="Triángulo isósceles 30">
                <a:extLst>
                  <a:ext uri="{FF2B5EF4-FFF2-40B4-BE49-F238E27FC236}">
                    <a16:creationId xmlns:a16="http://schemas.microsoft.com/office/drawing/2014/main" id="{B2F728A6-484B-A337-D15E-A386CA1F4C5D}"/>
                  </a:ext>
                </a:extLst>
              </p:cNvPr>
              <p:cNvSpPr/>
              <p:nvPr/>
            </p:nvSpPr>
            <p:spPr>
              <a:xfrm>
                <a:off x="883900" y="4892542"/>
                <a:ext cx="154004" cy="20213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40" name="Triángulo isósceles 32">
                <a:extLst>
                  <a:ext uri="{FF2B5EF4-FFF2-40B4-BE49-F238E27FC236}">
                    <a16:creationId xmlns:a16="http://schemas.microsoft.com/office/drawing/2014/main" id="{72F6A580-4468-86CC-778C-0415A4788308}"/>
                  </a:ext>
                </a:extLst>
              </p:cNvPr>
              <p:cNvSpPr/>
              <p:nvPr/>
            </p:nvSpPr>
            <p:spPr>
              <a:xfrm>
                <a:off x="622228" y="4760151"/>
                <a:ext cx="154004" cy="202130"/>
              </a:xfrm>
              <a:prstGeom prst="triangl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537" name="Triángulo isósceles 34">
              <a:extLst>
                <a:ext uri="{FF2B5EF4-FFF2-40B4-BE49-F238E27FC236}">
                  <a16:creationId xmlns:a16="http://schemas.microsoft.com/office/drawing/2014/main" id="{4A45C8D2-13C9-EA91-E86C-C854F66626B3}"/>
                </a:ext>
              </a:extLst>
            </p:cNvPr>
            <p:cNvSpPr/>
            <p:nvPr/>
          </p:nvSpPr>
          <p:spPr>
            <a:xfrm>
              <a:off x="1785607" y="4005340"/>
              <a:ext cx="205339" cy="202130"/>
            </a:xfrm>
            <a:prstGeom prst="triangl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541" name="Triángulo isósceles 36">
            <a:extLst>
              <a:ext uri="{FF2B5EF4-FFF2-40B4-BE49-F238E27FC236}">
                <a16:creationId xmlns:a16="http://schemas.microsoft.com/office/drawing/2014/main" id="{7CCFA741-0E71-6784-18CE-5E48A3626494}"/>
              </a:ext>
            </a:extLst>
          </p:cNvPr>
          <p:cNvSpPr/>
          <p:nvPr/>
        </p:nvSpPr>
        <p:spPr>
          <a:xfrm>
            <a:off x="1229235" y="2663501"/>
            <a:ext cx="205339" cy="202130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42" name="5 Grupo">
            <a:extLst>
              <a:ext uri="{FF2B5EF4-FFF2-40B4-BE49-F238E27FC236}">
                <a16:creationId xmlns:a16="http://schemas.microsoft.com/office/drawing/2014/main" id="{A288941F-9BC1-CC04-D8DD-EDB00FBA1767}"/>
              </a:ext>
            </a:extLst>
          </p:cNvPr>
          <p:cNvGrpSpPr/>
          <p:nvPr/>
        </p:nvGrpSpPr>
        <p:grpSpPr>
          <a:xfrm>
            <a:off x="3549421" y="4038492"/>
            <a:ext cx="603065" cy="496153"/>
            <a:chOff x="3806353" y="5262434"/>
            <a:chExt cx="603065" cy="496153"/>
          </a:xfrm>
        </p:grpSpPr>
        <p:grpSp>
          <p:nvGrpSpPr>
            <p:cNvPr id="543" name="Grupo 39">
              <a:extLst>
                <a:ext uri="{FF2B5EF4-FFF2-40B4-BE49-F238E27FC236}">
                  <a16:creationId xmlns:a16="http://schemas.microsoft.com/office/drawing/2014/main" id="{BB0BE5DF-79ED-58FD-4D46-1A531E5B7B10}"/>
                </a:ext>
              </a:extLst>
            </p:cNvPr>
            <p:cNvGrpSpPr/>
            <p:nvPr/>
          </p:nvGrpSpPr>
          <p:grpSpPr>
            <a:xfrm>
              <a:off x="3806353" y="5262434"/>
              <a:ext cx="603065" cy="496153"/>
              <a:chOff x="-378177" y="6083166"/>
              <a:chExt cx="452299" cy="496153"/>
            </a:xfrm>
            <a:solidFill>
              <a:srgbClr val="C00000"/>
            </a:solidFill>
          </p:grpSpPr>
          <p:sp>
            <p:nvSpPr>
              <p:cNvPr id="545" name="Elipse 27">
                <a:extLst>
                  <a:ext uri="{FF2B5EF4-FFF2-40B4-BE49-F238E27FC236}">
                    <a16:creationId xmlns:a16="http://schemas.microsoft.com/office/drawing/2014/main" id="{1E6A3A69-B519-8C3A-4FEB-25EBE63F6812}"/>
                  </a:ext>
                </a:extLst>
              </p:cNvPr>
              <p:cNvSpPr/>
              <p:nvPr/>
            </p:nvSpPr>
            <p:spPr>
              <a:xfrm>
                <a:off x="-318910" y="6083166"/>
                <a:ext cx="144379" cy="18288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46" name="Elipse 31">
                <a:extLst>
                  <a:ext uri="{FF2B5EF4-FFF2-40B4-BE49-F238E27FC236}">
                    <a16:creationId xmlns:a16="http://schemas.microsoft.com/office/drawing/2014/main" id="{66CF2911-99B0-6B40-FD89-C6236397295B}"/>
                  </a:ext>
                </a:extLst>
              </p:cNvPr>
              <p:cNvSpPr/>
              <p:nvPr/>
            </p:nvSpPr>
            <p:spPr>
              <a:xfrm>
                <a:off x="-70257" y="6235566"/>
                <a:ext cx="144379" cy="18288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547" name="Elipse 33">
                <a:extLst>
                  <a:ext uri="{FF2B5EF4-FFF2-40B4-BE49-F238E27FC236}">
                    <a16:creationId xmlns:a16="http://schemas.microsoft.com/office/drawing/2014/main" id="{FBDAF463-4E51-34AA-8E2A-BB8BDD322C17}"/>
                  </a:ext>
                </a:extLst>
              </p:cNvPr>
              <p:cNvSpPr/>
              <p:nvPr/>
            </p:nvSpPr>
            <p:spPr>
              <a:xfrm>
                <a:off x="-378177" y="6396439"/>
                <a:ext cx="144379" cy="18288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544" name="Elipse 37">
              <a:extLst>
                <a:ext uri="{FF2B5EF4-FFF2-40B4-BE49-F238E27FC236}">
                  <a16:creationId xmlns:a16="http://schemas.microsoft.com/office/drawing/2014/main" id="{7321C523-3DEC-5867-B816-7E0721B964B2}"/>
                </a:ext>
              </a:extLst>
            </p:cNvPr>
            <p:cNvSpPr/>
            <p:nvPr/>
          </p:nvSpPr>
          <p:spPr>
            <a:xfrm>
              <a:off x="4011634" y="5516230"/>
              <a:ext cx="192505" cy="182880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548" name="CuadroTexto 48">
            <a:extLst>
              <a:ext uri="{FF2B5EF4-FFF2-40B4-BE49-F238E27FC236}">
                <a16:creationId xmlns:a16="http://schemas.microsoft.com/office/drawing/2014/main" id="{EC3CE696-3FD2-12CE-351E-24EEDE5AE8C2}"/>
              </a:ext>
            </a:extLst>
          </p:cNvPr>
          <p:cNvSpPr txBox="1"/>
          <p:nvPr/>
        </p:nvSpPr>
        <p:spPr>
          <a:xfrm>
            <a:off x="4189084" y="4901454"/>
            <a:ext cx="1030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Redondo</a:t>
            </a:r>
          </a:p>
        </p:txBody>
      </p:sp>
      <p:sp>
        <p:nvSpPr>
          <p:cNvPr id="549" name="4 Estrella de 5 puntas">
            <a:extLst>
              <a:ext uri="{FF2B5EF4-FFF2-40B4-BE49-F238E27FC236}">
                <a16:creationId xmlns:a16="http://schemas.microsoft.com/office/drawing/2014/main" id="{8FAAA9EE-F4AF-CA26-2C3A-2705EAFB72BA}"/>
              </a:ext>
            </a:extLst>
          </p:cNvPr>
          <p:cNvSpPr/>
          <p:nvPr/>
        </p:nvSpPr>
        <p:spPr>
          <a:xfrm>
            <a:off x="2349988" y="2895893"/>
            <a:ext cx="280076" cy="334701"/>
          </a:xfrm>
          <a:prstGeom prst="star5">
            <a:avLst/>
          </a:prstGeom>
          <a:solidFill>
            <a:srgbClr val="FFFF00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0" name="Rectangle 5">
            <a:extLst>
              <a:ext uri="{FF2B5EF4-FFF2-40B4-BE49-F238E27FC236}">
                <a16:creationId xmlns:a16="http://schemas.microsoft.com/office/drawing/2014/main" id="{10CFA11B-9592-393C-106D-FC93D31DD0B7}"/>
              </a:ext>
            </a:extLst>
          </p:cNvPr>
          <p:cNvSpPr txBox="1">
            <a:spLocks noChangeArrowheads="1"/>
          </p:cNvSpPr>
          <p:nvPr/>
        </p:nvSpPr>
        <p:spPr>
          <a:xfrm>
            <a:off x="7002151" y="3720872"/>
            <a:ext cx="2113512" cy="11805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K </a:t>
            </a:r>
            <a:r>
              <a:rPr lang="es-CO" sz="1400" err="1">
                <a:solidFill>
                  <a:srgbClr val="C00000"/>
                </a:solidFill>
              </a:rPr>
              <a:t>Centroides</a:t>
            </a:r>
            <a:endParaRPr lang="es-CO" sz="140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s-CO" sz="1400">
                <a:solidFill>
                  <a:schemeClr val="accent1">
                    <a:lumMod val="75000"/>
                  </a:schemeClr>
                </a:solidFill>
              </a:rPr>
              <a:t>Lista de </a:t>
            </a:r>
            <a:r>
              <a:rPr lang="es-CO" sz="1400" err="1">
                <a:solidFill>
                  <a:schemeClr val="accent1">
                    <a:lumMod val="75000"/>
                  </a:schemeClr>
                </a:solidFill>
              </a:rPr>
              <a:t>Centroides</a:t>
            </a:r>
            <a:r>
              <a:rPr lang="es-CO" sz="1400">
                <a:solidFill>
                  <a:schemeClr val="accent1">
                    <a:lumMod val="75000"/>
                  </a:schemeClr>
                </a:solidFill>
              </a:rPr>
              <a:t> [</a:t>
            </a:r>
            <a:r>
              <a:rPr lang="es-CO" sz="1400" err="1">
                <a:solidFill>
                  <a:schemeClr val="accent1">
                    <a:lumMod val="75000"/>
                  </a:schemeClr>
                </a:solidFill>
              </a:rPr>
              <a:t>Xi,Yi</a:t>
            </a:r>
            <a:r>
              <a:rPr lang="es-CO" sz="1400">
                <a:solidFill>
                  <a:schemeClr val="accent1">
                    <a:lumMod val="75000"/>
                  </a:schemeClr>
                </a:solidFill>
              </a:rPr>
              <a:t>]</a:t>
            </a:r>
            <a:endParaRPr lang="es-CO" sz="14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51" name="Rectangle 5">
            <a:extLst>
              <a:ext uri="{FF2B5EF4-FFF2-40B4-BE49-F238E27FC236}">
                <a16:creationId xmlns:a16="http://schemas.microsoft.com/office/drawing/2014/main" id="{96B085EB-9AB8-E7AA-6FFF-8804EE7CD471}"/>
              </a:ext>
            </a:extLst>
          </p:cNvPr>
          <p:cNvSpPr txBox="1">
            <a:spLocks noChangeArrowheads="1"/>
          </p:cNvSpPr>
          <p:nvPr/>
        </p:nvSpPr>
        <p:spPr>
          <a:xfrm>
            <a:off x="7002151" y="1785750"/>
            <a:ext cx="2113512" cy="800717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PREGUNTA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0070C0"/>
                </a:solidFill>
              </a:rPr>
              <a:t>Cómo Ubicar </a:t>
            </a:r>
            <a:r>
              <a:rPr lang="es-CO" sz="1400" err="1">
                <a:solidFill>
                  <a:srgbClr val="0070C0"/>
                </a:solidFill>
              </a:rPr>
              <a:t>Centroides</a:t>
            </a:r>
            <a:r>
              <a:rPr lang="es-CO" sz="1400">
                <a:solidFill>
                  <a:srgbClr val="0070C0"/>
                </a:solidFill>
              </a:rPr>
              <a:t>?</a:t>
            </a:r>
          </a:p>
        </p:txBody>
      </p:sp>
      <p:sp>
        <p:nvSpPr>
          <p:cNvPr id="552" name="Rectangle 5">
            <a:extLst>
              <a:ext uri="{FF2B5EF4-FFF2-40B4-BE49-F238E27FC236}">
                <a16:creationId xmlns:a16="http://schemas.microsoft.com/office/drawing/2014/main" id="{19D5D50D-81A1-5EDD-26B8-D5A3CA62B3B9}"/>
              </a:ext>
            </a:extLst>
          </p:cNvPr>
          <p:cNvSpPr txBox="1">
            <a:spLocks noChangeArrowheads="1"/>
          </p:cNvSpPr>
          <p:nvPr/>
        </p:nvSpPr>
        <p:spPr>
          <a:xfrm>
            <a:off x="7002151" y="2638098"/>
            <a:ext cx="2113512" cy="972054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>
                <a:solidFill>
                  <a:srgbClr val="00B050"/>
                </a:solidFill>
              </a:rPr>
              <a:t>Mover los </a:t>
            </a:r>
            <a:r>
              <a:rPr lang="es-CO" sz="1400" err="1">
                <a:solidFill>
                  <a:srgbClr val="00B050"/>
                </a:solidFill>
              </a:rPr>
              <a:t>Centroides</a:t>
            </a:r>
            <a:endParaRPr lang="es-CO" sz="140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s-CO" sz="1400">
                <a:solidFill>
                  <a:srgbClr val="00B050"/>
                </a:solidFill>
              </a:rPr>
              <a:t>al Centro de las Más Cercanas !!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K-</a:t>
            </a:r>
            <a:r>
              <a:rPr lang="es-CO" sz="140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Means</a:t>
            </a:r>
            <a:r>
              <a:rPr lang="es-CO" sz="1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sz="140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Clustering</a:t>
            </a:r>
            <a:endParaRPr lang="es-CO" sz="14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3" name="36 Estrella de 5 puntas">
            <a:extLst>
              <a:ext uri="{FF2B5EF4-FFF2-40B4-BE49-F238E27FC236}">
                <a16:creationId xmlns:a16="http://schemas.microsoft.com/office/drawing/2014/main" id="{971CCCEF-49FC-8EA1-7ED7-B60A31283A1A}"/>
              </a:ext>
            </a:extLst>
          </p:cNvPr>
          <p:cNvSpPr/>
          <p:nvPr/>
        </p:nvSpPr>
        <p:spPr>
          <a:xfrm>
            <a:off x="3776157" y="3703791"/>
            <a:ext cx="280076" cy="334701"/>
          </a:xfrm>
          <a:prstGeom prst="star5">
            <a:avLst/>
          </a:prstGeom>
          <a:solidFill>
            <a:srgbClr val="C00000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4" name="39 Estrella de 5 puntas">
            <a:extLst>
              <a:ext uri="{FF2B5EF4-FFF2-40B4-BE49-F238E27FC236}">
                <a16:creationId xmlns:a16="http://schemas.microsoft.com/office/drawing/2014/main" id="{063F8374-99A7-C563-AFA2-71ECEE68C188}"/>
              </a:ext>
            </a:extLst>
          </p:cNvPr>
          <p:cNvSpPr/>
          <p:nvPr/>
        </p:nvSpPr>
        <p:spPr>
          <a:xfrm>
            <a:off x="3947207" y="3041157"/>
            <a:ext cx="280076" cy="334701"/>
          </a:xfrm>
          <a:prstGeom prst="star5">
            <a:avLst/>
          </a:prstGeom>
          <a:solidFill>
            <a:srgbClr val="FFC000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5" name="88 Estrella de 5 puntas">
            <a:extLst>
              <a:ext uri="{FF2B5EF4-FFF2-40B4-BE49-F238E27FC236}">
                <a16:creationId xmlns:a16="http://schemas.microsoft.com/office/drawing/2014/main" id="{68A5050F-BDE7-20D6-5F03-AEA6836B126D}"/>
              </a:ext>
            </a:extLst>
          </p:cNvPr>
          <p:cNvSpPr/>
          <p:nvPr/>
        </p:nvSpPr>
        <p:spPr>
          <a:xfrm>
            <a:off x="1451929" y="2670043"/>
            <a:ext cx="280076" cy="334701"/>
          </a:xfrm>
          <a:prstGeom prst="star5">
            <a:avLst/>
          </a:prstGeom>
          <a:solidFill>
            <a:srgbClr val="FFFF00"/>
          </a:solidFill>
          <a:ln w="28575"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6" name="92 Estrella de 5 puntas">
            <a:extLst>
              <a:ext uri="{FF2B5EF4-FFF2-40B4-BE49-F238E27FC236}">
                <a16:creationId xmlns:a16="http://schemas.microsoft.com/office/drawing/2014/main" id="{C9404BE5-9155-9E80-51B2-9463C2E9C67B}"/>
              </a:ext>
            </a:extLst>
          </p:cNvPr>
          <p:cNvSpPr/>
          <p:nvPr/>
        </p:nvSpPr>
        <p:spPr>
          <a:xfrm>
            <a:off x="3680911" y="4079616"/>
            <a:ext cx="280076" cy="334701"/>
          </a:xfrm>
          <a:prstGeom prst="star5">
            <a:avLst/>
          </a:prstGeom>
          <a:solidFill>
            <a:srgbClr val="C00000"/>
          </a:solidFill>
          <a:ln w="28575"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7" name="93 Estrella de 5 puntas">
            <a:extLst>
              <a:ext uri="{FF2B5EF4-FFF2-40B4-BE49-F238E27FC236}">
                <a16:creationId xmlns:a16="http://schemas.microsoft.com/office/drawing/2014/main" id="{C76BD0CB-2DA1-E2FA-1B5A-13229B667006}"/>
              </a:ext>
            </a:extLst>
          </p:cNvPr>
          <p:cNvSpPr/>
          <p:nvPr/>
        </p:nvSpPr>
        <p:spPr>
          <a:xfrm>
            <a:off x="3801861" y="3197396"/>
            <a:ext cx="280076" cy="334701"/>
          </a:xfrm>
          <a:prstGeom prst="star5">
            <a:avLst/>
          </a:prstGeom>
          <a:solidFill>
            <a:srgbClr val="FFC000"/>
          </a:solidFill>
          <a:ln w="28575"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8" name="Elipse 46">
            <a:extLst>
              <a:ext uri="{FF2B5EF4-FFF2-40B4-BE49-F238E27FC236}">
                <a16:creationId xmlns:a16="http://schemas.microsoft.com/office/drawing/2014/main" id="{52C4042D-C3EE-F68D-DFAC-D87D3A3EC1B6}"/>
              </a:ext>
            </a:extLst>
          </p:cNvPr>
          <p:cNvSpPr/>
          <p:nvPr/>
        </p:nvSpPr>
        <p:spPr>
          <a:xfrm>
            <a:off x="919618" y="2470706"/>
            <a:ext cx="1282431" cy="863600"/>
          </a:xfrm>
          <a:prstGeom prst="ellipse">
            <a:avLst/>
          </a:prstGeom>
          <a:noFill/>
          <a:ln w="38100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9" name="Elipse 47">
            <a:extLst>
              <a:ext uri="{FF2B5EF4-FFF2-40B4-BE49-F238E27FC236}">
                <a16:creationId xmlns:a16="http://schemas.microsoft.com/office/drawing/2014/main" id="{2287D883-5AAC-82B9-88E1-ECDE41C1AB9D}"/>
              </a:ext>
            </a:extLst>
          </p:cNvPr>
          <p:cNvSpPr/>
          <p:nvPr/>
        </p:nvSpPr>
        <p:spPr>
          <a:xfrm>
            <a:off x="3190285" y="3855952"/>
            <a:ext cx="1282431" cy="863600"/>
          </a:xfrm>
          <a:prstGeom prst="ellipse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0" name="Elipse 47">
            <a:extLst>
              <a:ext uri="{FF2B5EF4-FFF2-40B4-BE49-F238E27FC236}">
                <a16:creationId xmlns:a16="http://schemas.microsoft.com/office/drawing/2014/main" id="{AB0FFFF9-C53D-F97C-39D1-8845EE670460}"/>
              </a:ext>
            </a:extLst>
          </p:cNvPr>
          <p:cNvSpPr/>
          <p:nvPr/>
        </p:nvSpPr>
        <p:spPr>
          <a:xfrm>
            <a:off x="3224018" y="2873692"/>
            <a:ext cx="1282431" cy="863600"/>
          </a:xfrm>
          <a:prstGeom prst="ellipse">
            <a:avLst/>
          </a:prstGeom>
          <a:noFill/>
          <a:ln w="3810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61" name="Imagen 560">
            <a:extLst>
              <a:ext uri="{FF2B5EF4-FFF2-40B4-BE49-F238E27FC236}">
                <a16:creationId xmlns:a16="http://schemas.microsoft.com/office/drawing/2014/main" id="{1098BC94-80D1-5400-500A-DAD91CBA2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164" y="1911768"/>
            <a:ext cx="2259836" cy="2622878"/>
          </a:xfrm>
          <a:prstGeom prst="rect">
            <a:avLst/>
          </a:prstGeom>
        </p:spPr>
      </p:pic>
      <p:sp>
        <p:nvSpPr>
          <p:cNvPr id="562" name="CuadroTexto 561">
            <a:extLst>
              <a:ext uri="{FF2B5EF4-FFF2-40B4-BE49-F238E27FC236}">
                <a16:creationId xmlns:a16="http://schemas.microsoft.com/office/drawing/2014/main" id="{C064AAD2-448F-4467-4A59-C0AAE6B32BC9}"/>
              </a:ext>
            </a:extLst>
          </p:cNvPr>
          <p:cNvSpPr txBox="1"/>
          <p:nvPr/>
        </p:nvSpPr>
        <p:spPr>
          <a:xfrm>
            <a:off x="-194409" y="5399867"/>
            <a:ext cx="21114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900">
                <a:hlinkClick r:id="rId4"/>
              </a:rPr>
              <a:t>https://machinelearningparatodos.com/</a:t>
            </a:r>
            <a:endParaRPr lang="es-CO" sz="900"/>
          </a:p>
        </p:txBody>
      </p:sp>
      <p:pic>
        <p:nvPicPr>
          <p:cNvPr id="621" name="Imagen 620">
            <a:extLst>
              <a:ext uri="{FF2B5EF4-FFF2-40B4-BE49-F238E27FC236}">
                <a16:creationId xmlns:a16="http://schemas.microsoft.com/office/drawing/2014/main" id="{9EEB0D43-8989-7159-AD43-FB24CCC39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76" y="1077954"/>
            <a:ext cx="1371469" cy="102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45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" grpId="0" animBg="1"/>
      <p:bldP spid="555" grpId="0" animBg="1"/>
      <p:bldP spid="556" grpId="0" animBg="1"/>
      <p:bldP spid="557" grpId="0" animBg="1"/>
      <p:bldP spid="558" grpId="0" animBg="1"/>
      <p:bldP spid="559" grpId="0" animBg="1"/>
      <p:bldP spid="56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>
          <a:extLst>
            <a:ext uri="{FF2B5EF4-FFF2-40B4-BE49-F238E27FC236}">
              <a16:creationId xmlns:a16="http://schemas.microsoft.com/office/drawing/2014/main" id="{F0EF9485-FEC8-0359-9C6F-869EC474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>
            <a:extLst>
              <a:ext uri="{FF2B5EF4-FFF2-40B4-BE49-F238E27FC236}">
                <a16:creationId xmlns:a16="http://schemas.microsoft.com/office/drawing/2014/main" id="{C0A41BFA-B175-D609-4F15-77DB2F1036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8704" y="4319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Agrupamiento</a:t>
            </a:r>
            <a:endParaRPr/>
          </a:p>
        </p:txBody>
      </p:sp>
      <p:sp>
        <p:nvSpPr>
          <p:cNvPr id="33" name="Rectangle 5">
            <a:extLst>
              <a:ext uri="{FF2B5EF4-FFF2-40B4-BE49-F238E27FC236}">
                <a16:creationId xmlns:a16="http://schemas.microsoft.com/office/drawing/2014/main" id="{A2AAFD04-07E7-27BB-8191-3B6354F3E11B}"/>
              </a:ext>
            </a:extLst>
          </p:cNvPr>
          <p:cNvSpPr txBox="1">
            <a:spLocks noChangeArrowheads="1"/>
          </p:cNvSpPr>
          <p:nvPr/>
        </p:nvSpPr>
        <p:spPr>
          <a:xfrm>
            <a:off x="1169449" y="920043"/>
            <a:ext cx="7773829" cy="7856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Ejemplo Problema de Agrupamiento - </a:t>
            </a:r>
            <a:r>
              <a:rPr lang="es-CO" sz="1400" b="1" err="1">
                <a:solidFill>
                  <a:srgbClr val="7030A0"/>
                </a:solidFill>
              </a:rPr>
              <a:t>Clustering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Robot clasifica diferentes frutas a partir de imágenes</a:t>
            </a:r>
          </a:p>
          <a:p>
            <a:pPr lvl="1"/>
            <a:r>
              <a:rPr lang="es-CO" sz="1400"/>
              <a:t>No Supervisado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observa las frutas pero NO se le indica qué fruta está viendo</a:t>
            </a:r>
          </a:p>
        </p:txBody>
      </p:sp>
      <p:sp>
        <p:nvSpPr>
          <p:cNvPr id="562" name="CuadroTexto 561">
            <a:extLst>
              <a:ext uri="{FF2B5EF4-FFF2-40B4-BE49-F238E27FC236}">
                <a16:creationId xmlns:a16="http://schemas.microsoft.com/office/drawing/2014/main" id="{2ADB7544-02CD-DCD3-622E-57D7BF4A9EE5}"/>
              </a:ext>
            </a:extLst>
          </p:cNvPr>
          <p:cNvSpPr txBox="1"/>
          <p:nvPr/>
        </p:nvSpPr>
        <p:spPr>
          <a:xfrm>
            <a:off x="-194409" y="5399867"/>
            <a:ext cx="21114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900">
                <a:hlinkClick r:id="rId3"/>
              </a:rPr>
              <a:t>https://machinelearningparatodos.com/</a:t>
            </a:r>
            <a:endParaRPr lang="es-CO" sz="90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7E2188-2762-5041-E389-1D1616267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8" y="912494"/>
            <a:ext cx="1371469" cy="1026062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72C72CDF-D91B-023D-D2CB-77257AB1A6C8}"/>
              </a:ext>
            </a:extLst>
          </p:cNvPr>
          <p:cNvSpPr txBox="1">
            <a:spLocks noChangeArrowheads="1"/>
          </p:cNvSpPr>
          <p:nvPr/>
        </p:nvSpPr>
        <p:spPr>
          <a:xfrm>
            <a:off x="5565071" y="3266398"/>
            <a:ext cx="3475484" cy="10343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K </a:t>
            </a:r>
            <a:r>
              <a:rPr lang="es-CO" sz="1400" err="1">
                <a:solidFill>
                  <a:srgbClr val="C00000"/>
                </a:solidFill>
              </a:rPr>
              <a:t>Centroides</a:t>
            </a:r>
            <a:endParaRPr lang="es-CO" sz="140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s-CO" sz="1400">
                <a:solidFill>
                  <a:schemeClr val="accent1">
                    <a:lumMod val="75000"/>
                  </a:schemeClr>
                </a:solidFill>
              </a:rPr>
              <a:t>Lista de </a:t>
            </a:r>
            <a:r>
              <a:rPr lang="es-CO" sz="1400" err="1">
                <a:solidFill>
                  <a:schemeClr val="accent1">
                    <a:lumMod val="75000"/>
                  </a:schemeClr>
                </a:solidFill>
              </a:rPr>
              <a:t>Centroides</a:t>
            </a:r>
            <a:r>
              <a:rPr lang="es-CO" sz="1400">
                <a:solidFill>
                  <a:schemeClr val="accent1">
                    <a:lumMod val="75000"/>
                  </a:schemeClr>
                </a:solidFill>
              </a:rPr>
              <a:t> [</a:t>
            </a:r>
            <a:r>
              <a:rPr lang="es-CO" sz="1400" err="1">
                <a:solidFill>
                  <a:schemeClr val="accent1">
                    <a:lumMod val="75000"/>
                  </a:schemeClr>
                </a:solidFill>
              </a:rPr>
              <a:t>Xi,Yi</a:t>
            </a:r>
            <a:r>
              <a:rPr lang="es-CO" sz="1400">
                <a:solidFill>
                  <a:schemeClr val="accent1">
                    <a:lumMod val="75000"/>
                  </a:schemeClr>
                </a:solidFill>
              </a:rPr>
              <a:t>]</a:t>
            </a:r>
            <a:endParaRPr lang="es-CO" sz="14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0A403B-9519-726F-CA7F-6F9C435E526A}"/>
              </a:ext>
            </a:extLst>
          </p:cNvPr>
          <p:cNvSpPr txBox="1">
            <a:spLocks noChangeArrowheads="1"/>
          </p:cNvSpPr>
          <p:nvPr/>
        </p:nvSpPr>
        <p:spPr>
          <a:xfrm>
            <a:off x="5580898" y="1714740"/>
            <a:ext cx="3475484" cy="701519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PREGUNTA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0070C0"/>
                </a:solidFill>
              </a:rPr>
              <a:t>Cómo Ubicar </a:t>
            </a:r>
            <a:r>
              <a:rPr lang="es-CO" sz="1400" err="1">
                <a:solidFill>
                  <a:srgbClr val="0070C0"/>
                </a:solidFill>
              </a:rPr>
              <a:t>Centroides</a:t>
            </a:r>
            <a:r>
              <a:rPr lang="es-CO" sz="1400">
                <a:solidFill>
                  <a:srgbClr val="0070C0"/>
                </a:solidFill>
              </a:rPr>
              <a:t>?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6706228-A6EF-6408-36C7-AEEE455D1A6B}"/>
              </a:ext>
            </a:extLst>
          </p:cNvPr>
          <p:cNvSpPr txBox="1">
            <a:spLocks noChangeArrowheads="1"/>
          </p:cNvSpPr>
          <p:nvPr/>
        </p:nvSpPr>
        <p:spPr>
          <a:xfrm>
            <a:off x="5467794" y="2425310"/>
            <a:ext cx="3475484" cy="851629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>
                <a:solidFill>
                  <a:srgbClr val="00B050"/>
                </a:solidFill>
              </a:rPr>
              <a:t>Mover los </a:t>
            </a:r>
            <a:r>
              <a:rPr lang="es-CO" sz="1400" err="1">
                <a:solidFill>
                  <a:srgbClr val="00B050"/>
                </a:solidFill>
              </a:rPr>
              <a:t>Centroides</a:t>
            </a:r>
            <a:endParaRPr lang="es-CO" sz="140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s-CO" sz="1400">
                <a:solidFill>
                  <a:srgbClr val="00B050"/>
                </a:solidFill>
              </a:rPr>
              <a:t>al Centro de las Más Cercanas !!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K-</a:t>
            </a:r>
            <a:r>
              <a:rPr lang="es-CO" sz="140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Means</a:t>
            </a:r>
            <a:r>
              <a:rPr lang="es-CO" sz="1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sz="140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Clustering</a:t>
            </a:r>
            <a:endParaRPr lang="es-CO" sz="14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04938EE-2CD7-02F4-4685-97B19F418D4C}"/>
              </a:ext>
            </a:extLst>
          </p:cNvPr>
          <p:cNvSpPr txBox="1">
            <a:spLocks noChangeArrowheads="1"/>
          </p:cNvSpPr>
          <p:nvPr/>
        </p:nvSpPr>
        <p:spPr>
          <a:xfrm>
            <a:off x="5565071" y="4455145"/>
            <a:ext cx="3475484" cy="6423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Otros Métodos de </a:t>
            </a:r>
            <a:r>
              <a:rPr lang="es-CO" sz="140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Clustering</a:t>
            </a:r>
            <a:endParaRPr lang="es-CO" sz="14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s-CO" sz="1400">
                <a:solidFill>
                  <a:schemeClr val="accent2">
                    <a:lumMod val="50000"/>
                  </a:schemeClr>
                </a:solidFill>
              </a:rPr>
              <a:t>DBSCAN – OPTICS - FUZZY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4CFDE27-F1A5-89ED-66DA-7DF991850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04" y="2009838"/>
            <a:ext cx="4926367" cy="301639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FD6F5E8-65B1-AC2F-0BA5-5D10DF0BDB0D}"/>
              </a:ext>
            </a:extLst>
          </p:cNvPr>
          <p:cNvSpPr txBox="1"/>
          <p:nvPr/>
        </p:nvSpPr>
        <p:spPr>
          <a:xfrm>
            <a:off x="-732524" y="5014828"/>
            <a:ext cx="184930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900">
                <a:hlinkClick r:id="rId6"/>
              </a:rPr>
              <a:t>https://scikit-learn.org/stable/modules/clustering.html</a:t>
            </a:r>
            <a:endParaRPr lang="es-CO" sz="900"/>
          </a:p>
        </p:txBody>
      </p:sp>
    </p:spTree>
    <p:extLst>
      <p:ext uri="{BB962C8B-B14F-4D97-AF65-F5344CB8AC3E}">
        <p14:creationId xmlns:p14="http://schemas.microsoft.com/office/powerpoint/2010/main" val="374833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/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Árboles</a:t>
            </a:r>
            <a:r>
              <a:rPr lang="en"/>
              <a:t> de </a:t>
            </a:r>
            <a:r>
              <a:rPr lang="en" err="1"/>
              <a:t>decisión</a:t>
            </a:r>
            <a:endParaRPr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65011C83-D504-EFAD-62BC-E03A94470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8425"/>
            <a:ext cx="7772400" cy="34387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3D7FA8C3-34D2-77BF-D5F8-37278421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EB03CFAC-46CC-7BBD-5C48-FD69E978C9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 </a:t>
            </a:r>
            <a:r>
              <a:rPr lang="en" err="1"/>
              <a:t>Perceptrón</a:t>
            </a:r>
            <a:endParaRPr/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365AA800-3466-52F9-DA5D-159C0212E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53" y="1137424"/>
            <a:ext cx="8464152" cy="364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FC81770C-4126-7A3B-6E62-16C9928A7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39D6E634-5631-B277-FA2C-4436EE718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 </a:t>
            </a:r>
            <a:r>
              <a:rPr lang="en" err="1"/>
              <a:t>Perceptrón</a:t>
            </a:r>
            <a:endParaRPr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E254C0A2-98B4-49E7-707F-532B64316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68132"/>
            <a:ext cx="7772400" cy="334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26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5F1BB2C1-587E-F585-5D4B-BF41C616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5F86A807-BB27-8F47-BD6C-9785A67D55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 </a:t>
            </a:r>
            <a:r>
              <a:rPr lang="en" err="1"/>
              <a:t>Perceptrón</a:t>
            </a:r>
            <a:endParaRPr/>
          </a:p>
        </p:txBody>
      </p:sp>
      <p:pic>
        <p:nvPicPr>
          <p:cNvPr id="586" name="Imagen 585">
            <a:extLst>
              <a:ext uri="{FF2B5EF4-FFF2-40B4-BE49-F238E27FC236}">
                <a16:creationId xmlns:a16="http://schemas.microsoft.com/office/drawing/2014/main" id="{4EDD415D-5C62-9D1F-C59F-DFDC184C5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69371"/>
            <a:ext cx="7772400" cy="35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577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0E61AE4F-1586-46A1-F0F1-7AED1A7F9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0D035105-D5BA-046A-6DDD-8BA6B599DD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 </a:t>
            </a:r>
            <a:r>
              <a:rPr lang="en" err="1"/>
              <a:t>MultiCapa</a:t>
            </a:r>
            <a:endParaRPr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4B2BEA3-F26B-9892-E707-71A8BC4D5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1987"/>
            <a:ext cx="7772400" cy="349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432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6EB9A416-CE69-83FE-2297-F2278759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28EDD73D-A2CC-A891-3751-E6B49A28C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C5718EA-669A-8EBA-7A71-9EB65D2A3530}"/>
              </a:ext>
            </a:extLst>
          </p:cNvPr>
          <p:cNvSpPr txBox="1">
            <a:spLocks noChangeArrowheads="1"/>
          </p:cNvSpPr>
          <p:nvPr/>
        </p:nvSpPr>
        <p:spPr>
          <a:xfrm>
            <a:off x="1352983" y="671208"/>
            <a:ext cx="7611117" cy="8146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Ejemplo Problema de Clasificación – </a:t>
            </a:r>
            <a:r>
              <a:rPr lang="es-CO" sz="1400" b="1" err="1">
                <a:solidFill>
                  <a:srgbClr val="7030A0"/>
                </a:solidFill>
              </a:rPr>
              <a:t>Pattern</a:t>
            </a:r>
            <a:r>
              <a:rPr lang="es-CO" sz="1400" b="1">
                <a:solidFill>
                  <a:srgbClr val="7030A0"/>
                </a:solidFill>
              </a:rPr>
              <a:t> </a:t>
            </a:r>
            <a:r>
              <a:rPr lang="es-CO" sz="1400" b="1" err="1">
                <a:solidFill>
                  <a:srgbClr val="7030A0"/>
                </a:solidFill>
              </a:rPr>
              <a:t>Recognition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Robot clasifica diferentes frutas a partir de imágenes</a:t>
            </a:r>
          </a:p>
          <a:p>
            <a:pPr lvl="1"/>
            <a:r>
              <a:rPr lang="es-CO" sz="1400"/>
              <a:t>Supervisado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observa las frutas y además SÍ se le indica qué fruta está viendo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B88F05-CA9C-2AA1-D508-4D6E2F950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724" y="2720553"/>
            <a:ext cx="1033032" cy="99943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E19962A-DD23-F13C-4EFA-FC714B2DE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34115"/>
            <a:ext cx="1664285" cy="1245131"/>
          </a:xfrm>
          <a:prstGeom prst="rect">
            <a:avLst/>
          </a:prstGeom>
        </p:spPr>
      </p:pic>
      <p:grpSp>
        <p:nvGrpSpPr>
          <p:cNvPr id="5" name="Grupo 2">
            <a:extLst>
              <a:ext uri="{FF2B5EF4-FFF2-40B4-BE49-F238E27FC236}">
                <a16:creationId xmlns:a16="http://schemas.microsoft.com/office/drawing/2014/main" id="{9E944577-1433-99F1-7E96-BF718E88C89B}"/>
              </a:ext>
            </a:extLst>
          </p:cNvPr>
          <p:cNvGrpSpPr/>
          <p:nvPr/>
        </p:nvGrpSpPr>
        <p:grpSpPr>
          <a:xfrm>
            <a:off x="3734599" y="3032466"/>
            <a:ext cx="715336" cy="625554"/>
            <a:chOff x="493891" y="5987627"/>
            <a:chExt cx="536502" cy="625554"/>
          </a:xfrm>
        </p:grpSpPr>
        <p:sp>
          <p:nvSpPr>
            <p:cNvPr id="6" name="Elipse 35">
              <a:extLst>
                <a:ext uri="{FF2B5EF4-FFF2-40B4-BE49-F238E27FC236}">
                  <a16:creationId xmlns:a16="http://schemas.microsoft.com/office/drawing/2014/main" id="{C9D15EE4-6945-7728-E89E-34574A8F8337}"/>
                </a:ext>
              </a:extLst>
            </p:cNvPr>
            <p:cNvSpPr/>
            <p:nvPr/>
          </p:nvSpPr>
          <p:spPr>
            <a:xfrm>
              <a:off x="493891" y="6231467"/>
              <a:ext cx="208842" cy="1869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Elipse 41">
              <a:extLst>
                <a:ext uri="{FF2B5EF4-FFF2-40B4-BE49-F238E27FC236}">
                  <a16:creationId xmlns:a16="http://schemas.microsoft.com/office/drawing/2014/main" id="{47DE06AA-8358-9808-6464-76DCF43E619E}"/>
                </a:ext>
              </a:extLst>
            </p:cNvPr>
            <p:cNvSpPr/>
            <p:nvPr/>
          </p:nvSpPr>
          <p:spPr>
            <a:xfrm>
              <a:off x="646291" y="6426202"/>
              <a:ext cx="208842" cy="1869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Elipse 42">
              <a:extLst>
                <a:ext uri="{FF2B5EF4-FFF2-40B4-BE49-F238E27FC236}">
                  <a16:creationId xmlns:a16="http://schemas.microsoft.com/office/drawing/2014/main" id="{D9178197-C8FD-EC32-B37A-9706EFCF99D2}"/>
                </a:ext>
              </a:extLst>
            </p:cNvPr>
            <p:cNvSpPr/>
            <p:nvPr/>
          </p:nvSpPr>
          <p:spPr>
            <a:xfrm>
              <a:off x="608191" y="5987627"/>
              <a:ext cx="208842" cy="1869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Elipse 43">
              <a:extLst>
                <a:ext uri="{FF2B5EF4-FFF2-40B4-BE49-F238E27FC236}">
                  <a16:creationId xmlns:a16="http://schemas.microsoft.com/office/drawing/2014/main" id="{AF37DB76-81D7-0C4B-8279-E6B15DE2E4A5}"/>
                </a:ext>
              </a:extLst>
            </p:cNvPr>
            <p:cNvSpPr/>
            <p:nvPr/>
          </p:nvSpPr>
          <p:spPr>
            <a:xfrm>
              <a:off x="821551" y="6322907"/>
              <a:ext cx="208842" cy="1869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Elipse 44">
              <a:extLst>
                <a:ext uri="{FF2B5EF4-FFF2-40B4-BE49-F238E27FC236}">
                  <a16:creationId xmlns:a16="http://schemas.microsoft.com/office/drawing/2014/main" id="{9328FC79-6900-7B2B-FCE8-8B01C1BD6813}"/>
                </a:ext>
              </a:extLst>
            </p:cNvPr>
            <p:cNvSpPr/>
            <p:nvPr/>
          </p:nvSpPr>
          <p:spPr>
            <a:xfrm>
              <a:off x="684391" y="6185747"/>
              <a:ext cx="208842" cy="186979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cxnSp>
        <p:nvCxnSpPr>
          <p:cNvPr id="12" name="Conector recto de flecha 53">
            <a:extLst>
              <a:ext uri="{FF2B5EF4-FFF2-40B4-BE49-F238E27FC236}">
                <a16:creationId xmlns:a16="http://schemas.microsoft.com/office/drawing/2014/main" id="{389417FA-81CC-E644-7EA7-DF90C56537FB}"/>
              </a:ext>
            </a:extLst>
          </p:cNvPr>
          <p:cNvCxnSpPr>
            <a:cxnSpLocks/>
          </p:cNvCxnSpPr>
          <p:nvPr/>
        </p:nvCxnSpPr>
        <p:spPr>
          <a:xfrm flipV="1">
            <a:off x="1475775" y="2291423"/>
            <a:ext cx="2266807" cy="2339327"/>
          </a:xfrm>
          <a:prstGeom prst="straightConnector1">
            <a:avLst/>
          </a:prstGeom>
          <a:ln w="57150">
            <a:solidFill>
              <a:srgbClr val="00B05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2 Grupo">
            <a:extLst>
              <a:ext uri="{FF2B5EF4-FFF2-40B4-BE49-F238E27FC236}">
                <a16:creationId xmlns:a16="http://schemas.microsoft.com/office/drawing/2014/main" id="{867DBAAE-115D-64A5-FD2C-A1E6DF3B3B71}"/>
              </a:ext>
            </a:extLst>
          </p:cNvPr>
          <p:cNvGrpSpPr/>
          <p:nvPr/>
        </p:nvGrpSpPr>
        <p:grpSpPr>
          <a:xfrm>
            <a:off x="782008" y="1857549"/>
            <a:ext cx="5050323" cy="3055620"/>
            <a:chOff x="4895810" y="2873910"/>
            <a:chExt cx="5050323" cy="3055620"/>
          </a:xfrm>
        </p:grpSpPr>
        <p:cxnSp>
          <p:nvCxnSpPr>
            <p:cNvPr id="14" name="Conector recto de flecha 9">
              <a:extLst>
                <a:ext uri="{FF2B5EF4-FFF2-40B4-BE49-F238E27FC236}">
                  <a16:creationId xmlns:a16="http://schemas.microsoft.com/office/drawing/2014/main" id="{EBFED4C6-2A1D-C73D-C8D1-61E9EBA17CD4}"/>
                </a:ext>
              </a:extLst>
            </p:cNvPr>
            <p:cNvCxnSpPr/>
            <p:nvPr/>
          </p:nvCxnSpPr>
          <p:spPr>
            <a:xfrm flipH="1" flipV="1">
              <a:off x="4895810" y="2873910"/>
              <a:ext cx="55880" cy="30556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1">
              <a:extLst>
                <a:ext uri="{FF2B5EF4-FFF2-40B4-BE49-F238E27FC236}">
                  <a16:creationId xmlns:a16="http://schemas.microsoft.com/office/drawing/2014/main" id="{A9B2EE40-B121-B88C-6917-39C4D3B6575D}"/>
                </a:ext>
              </a:extLst>
            </p:cNvPr>
            <p:cNvCxnSpPr/>
            <p:nvPr/>
          </p:nvCxnSpPr>
          <p:spPr>
            <a:xfrm>
              <a:off x="4926290" y="3315870"/>
              <a:ext cx="39217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77098CB5-2AB7-653E-D233-159D77B193C9}"/>
                </a:ext>
              </a:extLst>
            </p:cNvPr>
            <p:cNvCxnSpPr/>
            <p:nvPr/>
          </p:nvCxnSpPr>
          <p:spPr>
            <a:xfrm flipV="1">
              <a:off x="4936450" y="5896644"/>
              <a:ext cx="5009683" cy="328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26F43984-B1DE-34FA-D353-949E1A6CD306}"/>
                </a:ext>
              </a:extLst>
            </p:cNvPr>
            <p:cNvCxnSpPr/>
            <p:nvPr/>
          </p:nvCxnSpPr>
          <p:spPr>
            <a:xfrm flipH="1" flipV="1">
              <a:off x="8848050" y="3315870"/>
              <a:ext cx="86360" cy="2590800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CuadroTexto 28">
            <a:extLst>
              <a:ext uri="{FF2B5EF4-FFF2-40B4-BE49-F238E27FC236}">
                <a16:creationId xmlns:a16="http://schemas.microsoft.com/office/drawing/2014/main" id="{B9E9CD17-9EDC-3F5D-31F3-D28C625A79FB}"/>
              </a:ext>
            </a:extLst>
          </p:cNvPr>
          <p:cNvSpPr txBox="1"/>
          <p:nvPr/>
        </p:nvSpPr>
        <p:spPr>
          <a:xfrm rot="16200000">
            <a:off x="104409" y="2255517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Amarillo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86A2A9AF-2DDF-7AB2-8C48-B8627BF64641}"/>
              </a:ext>
            </a:extLst>
          </p:cNvPr>
          <p:cNvGrpSpPr/>
          <p:nvPr/>
        </p:nvGrpSpPr>
        <p:grpSpPr>
          <a:xfrm>
            <a:off x="1372539" y="2547768"/>
            <a:ext cx="763440" cy="660565"/>
            <a:chOff x="1610721" y="3816376"/>
            <a:chExt cx="763440" cy="660565"/>
          </a:xfrm>
        </p:grpSpPr>
        <p:grpSp>
          <p:nvGrpSpPr>
            <p:cNvPr id="20" name="Grupo 38">
              <a:extLst>
                <a:ext uri="{FF2B5EF4-FFF2-40B4-BE49-F238E27FC236}">
                  <a16:creationId xmlns:a16="http://schemas.microsoft.com/office/drawing/2014/main" id="{A0659481-B939-EA39-F079-8E502C5EFC31}"/>
                </a:ext>
              </a:extLst>
            </p:cNvPr>
            <p:cNvGrpSpPr/>
            <p:nvPr/>
          </p:nvGrpSpPr>
          <p:grpSpPr>
            <a:xfrm>
              <a:off x="1642393" y="3816376"/>
              <a:ext cx="731768" cy="660565"/>
              <a:chOff x="489078" y="4760151"/>
              <a:chExt cx="548826" cy="660565"/>
            </a:xfrm>
          </p:grpSpPr>
          <p:sp>
            <p:nvSpPr>
              <p:cNvPr id="23" name="Triángulo isósceles 24">
                <a:extLst>
                  <a:ext uri="{FF2B5EF4-FFF2-40B4-BE49-F238E27FC236}">
                    <a16:creationId xmlns:a16="http://schemas.microsoft.com/office/drawing/2014/main" id="{BD99244C-9473-1D37-5B72-F488FE52EE37}"/>
                  </a:ext>
                </a:extLst>
              </p:cNvPr>
              <p:cNvSpPr/>
              <p:nvPr/>
            </p:nvSpPr>
            <p:spPr>
              <a:xfrm>
                <a:off x="489078" y="5218586"/>
                <a:ext cx="154004" cy="202130"/>
              </a:xfrm>
              <a:prstGeom prst="triangl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4" name="Triángulo isósceles 30">
                <a:extLst>
                  <a:ext uri="{FF2B5EF4-FFF2-40B4-BE49-F238E27FC236}">
                    <a16:creationId xmlns:a16="http://schemas.microsoft.com/office/drawing/2014/main" id="{1308B1AE-C508-D4AA-FD9B-4227BF5B6D22}"/>
                  </a:ext>
                </a:extLst>
              </p:cNvPr>
              <p:cNvSpPr/>
              <p:nvPr/>
            </p:nvSpPr>
            <p:spPr>
              <a:xfrm>
                <a:off x="883900" y="4892542"/>
                <a:ext cx="154004" cy="202130"/>
              </a:xfrm>
              <a:prstGeom prst="triangl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5" name="Triángulo isósceles 32">
                <a:extLst>
                  <a:ext uri="{FF2B5EF4-FFF2-40B4-BE49-F238E27FC236}">
                    <a16:creationId xmlns:a16="http://schemas.microsoft.com/office/drawing/2014/main" id="{331FC08B-1FC8-502E-4F04-67AF1855A6E9}"/>
                  </a:ext>
                </a:extLst>
              </p:cNvPr>
              <p:cNvSpPr/>
              <p:nvPr/>
            </p:nvSpPr>
            <p:spPr>
              <a:xfrm>
                <a:off x="622228" y="4760151"/>
                <a:ext cx="154004" cy="202130"/>
              </a:xfrm>
              <a:prstGeom prst="triangl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21" name="Triángulo isósceles 34">
              <a:extLst>
                <a:ext uri="{FF2B5EF4-FFF2-40B4-BE49-F238E27FC236}">
                  <a16:creationId xmlns:a16="http://schemas.microsoft.com/office/drawing/2014/main" id="{4B3CC356-C6F6-0911-9AF5-16ABE547EF26}"/>
                </a:ext>
              </a:extLst>
            </p:cNvPr>
            <p:cNvSpPr/>
            <p:nvPr/>
          </p:nvSpPr>
          <p:spPr>
            <a:xfrm>
              <a:off x="1910161" y="4060943"/>
              <a:ext cx="205339" cy="202130"/>
            </a:xfrm>
            <a:prstGeom prst="triangl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Triángulo isósceles 36">
              <a:extLst>
                <a:ext uri="{FF2B5EF4-FFF2-40B4-BE49-F238E27FC236}">
                  <a16:creationId xmlns:a16="http://schemas.microsoft.com/office/drawing/2014/main" id="{22377DF5-3013-D98A-8626-CF150C3E517F}"/>
                </a:ext>
              </a:extLst>
            </p:cNvPr>
            <p:cNvSpPr/>
            <p:nvPr/>
          </p:nvSpPr>
          <p:spPr>
            <a:xfrm>
              <a:off x="1610721" y="3943046"/>
              <a:ext cx="205339" cy="202130"/>
            </a:xfrm>
            <a:prstGeom prst="triangl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6" name="CuadroTexto 48">
            <a:extLst>
              <a:ext uri="{FF2B5EF4-FFF2-40B4-BE49-F238E27FC236}">
                <a16:creationId xmlns:a16="http://schemas.microsoft.com/office/drawing/2014/main" id="{067DAB15-7390-4D7E-4C52-12E4E0D5FAF2}"/>
              </a:ext>
            </a:extLst>
          </p:cNvPr>
          <p:cNvSpPr txBox="1"/>
          <p:nvPr/>
        </p:nvSpPr>
        <p:spPr>
          <a:xfrm>
            <a:off x="4332388" y="4912391"/>
            <a:ext cx="91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Redondo</a:t>
            </a:r>
          </a:p>
        </p:txBody>
      </p:sp>
      <p:sp>
        <p:nvSpPr>
          <p:cNvPr id="27" name="CuadroTexto 48">
            <a:extLst>
              <a:ext uri="{FF2B5EF4-FFF2-40B4-BE49-F238E27FC236}">
                <a16:creationId xmlns:a16="http://schemas.microsoft.com/office/drawing/2014/main" id="{0207BBFE-DE32-66A6-AA4B-CADD231D070F}"/>
              </a:ext>
            </a:extLst>
          </p:cNvPr>
          <p:cNvSpPr txBox="1"/>
          <p:nvPr/>
        </p:nvSpPr>
        <p:spPr>
          <a:xfrm>
            <a:off x="1824573" y="2633721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Vb</a:t>
            </a:r>
            <a:endParaRPr lang="es-CO" b="1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CuadroTexto 48">
            <a:extLst>
              <a:ext uri="{FF2B5EF4-FFF2-40B4-BE49-F238E27FC236}">
                <a16:creationId xmlns:a16="http://schemas.microsoft.com/office/drawing/2014/main" id="{3D70E026-6FC5-A525-3F1E-D81C249D271F}"/>
              </a:ext>
            </a:extLst>
          </p:cNvPr>
          <p:cNvSpPr txBox="1"/>
          <p:nvPr/>
        </p:nvSpPr>
        <p:spPr>
          <a:xfrm>
            <a:off x="1708624" y="3526150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2A10D6AB-F3C5-04B6-84FC-FACA83367FAE}"/>
              </a:ext>
            </a:extLst>
          </p:cNvPr>
          <p:cNvSpPr txBox="1">
            <a:spLocks noChangeArrowheads="1"/>
          </p:cNvSpPr>
          <p:nvPr/>
        </p:nvSpPr>
        <p:spPr>
          <a:xfrm>
            <a:off x="6150833" y="2677757"/>
            <a:ext cx="3050109" cy="615024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>
                <a:solidFill>
                  <a:srgbClr val="00B050"/>
                </a:solidFill>
              </a:rPr>
              <a:t>La que es Más Equidistante de las Nubes de Puntos !!</a:t>
            </a: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F98439C2-B2BE-6047-8BC8-EC92CB590D2C}"/>
              </a:ext>
            </a:extLst>
          </p:cNvPr>
          <p:cNvSpPr txBox="1">
            <a:spLocks noChangeArrowheads="1"/>
          </p:cNvSpPr>
          <p:nvPr/>
        </p:nvSpPr>
        <p:spPr>
          <a:xfrm>
            <a:off x="6157013" y="4101423"/>
            <a:ext cx="3024270" cy="10159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Recta Separa 2 Clases</a:t>
            </a:r>
          </a:p>
          <a:p>
            <a:pPr marL="0" indent="0" algn="ctr">
              <a:buNone/>
            </a:pPr>
            <a:r>
              <a:rPr lang="es-CO" sz="1400" err="1">
                <a:solidFill>
                  <a:schemeClr val="accent1">
                    <a:lumMod val="75000"/>
                  </a:schemeClr>
                </a:solidFill>
              </a:rPr>
              <a:t>Param</a:t>
            </a:r>
            <a:r>
              <a:rPr lang="es-CO" sz="1400">
                <a:solidFill>
                  <a:schemeClr val="accent1">
                    <a:lumMod val="75000"/>
                  </a:schemeClr>
                </a:solidFill>
              </a:rPr>
              <a:t>. Recta</a:t>
            </a:r>
            <a:r>
              <a:rPr lang="es-CO" sz="14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s-ES" sz="14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s-ES" sz="1400">
                <a:solidFill>
                  <a:schemeClr val="accent6">
                    <a:lumMod val="50000"/>
                  </a:schemeClr>
                </a:solidFill>
                <a:latin typeface="Arial Narrow"/>
              </a:rPr>
              <a:t>→</a:t>
            </a:r>
            <a:r>
              <a:rPr lang="es-CO" sz="140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es-CO" sz="1400">
                <a:solidFill>
                  <a:srgbClr val="C00000"/>
                </a:solidFill>
              </a:rPr>
              <a:t>[</a:t>
            </a:r>
            <a:r>
              <a:rPr lang="es-CO" sz="1400" err="1">
                <a:solidFill>
                  <a:srgbClr val="C00000"/>
                </a:solidFill>
              </a:rPr>
              <a:t>m,b</a:t>
            </a:r>
            <a:r>
              <a:rPr lang="es-CO" sz="1400">
                <a:solidFill>
                  <a:srgbClr val="C00000"/>
                </a:solidFill>
              </a:rPr>
              <a:t>]</a:t>
            </a:r>
            <a:endParaRPr lang="es-CO" sz="1400" baseline="-10000">
              <a:solidFill>
                <a:srgbClr val="C00000"/>
              </a:solidFill>
            </a:endParaRP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7DE2135C-7E0E-A950-AD63-6F38CFF866C9}"/>
              </a:ext>
            </a:extLst>
          </p:cNvPr>
          <p:cNvSpPr txBox="1">
            <a:spLocks noChangeArrowheads="1"/>
          </p:cNvSpPr>
          <p:nvPr/>
        </p:nvSpPr>
        <p:spPr>
          <a:xfrm>
            <a:off x="6150834" y="1574786"/>
            <a:ext cx="3050109" cy="816247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PREGUNTA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0070C0"/>
                </a:solidFill>
              </a:rPr>
              <a:t>Cuál es la Recta que Separa Mejor </a:t>
            </a:r>
            <a:r>
              <a:rPr lang="es-CO" sz="1400" b="1">
                <a:solidFill>
                  <a:srgbClr val="C00000"/>
                </a:solidFill>
              </a:rPr>
              <a:t>2</a:t>
            </a:r>
            <a:r>
              <a:rPr lang="es-CO" sz="1400">
                <a:solidFill>
                  <a:srgbClr val="0070C0"/>
                </a:solidFill>
              </a:rPr>
              <a:t> clases?</a:t>
            </a:r>
          </a:p>
        </p:txBody>
      </p:sp>
      <p:cxnSp>
        <p:nvCxnSpPr>
          <p:cNvPr id="32" name="Conector recto de flecha 53">
            <a:extLst>
              <a:ext uri="{FF2B5EF4-FFF2-40B4-BE49-F238E27FC236}">
                <a16:creationId xmlns:a16="http://schemas.microsoft.com/office/drawing/2014/main" id="{F126D363-A815-2AE1-AF7B-11E254B80347}"/>
              </a:ext>
            </a:extLst>
          </p:cNvPr>
          <p:cNvCxnSpPr>
            <a:cxnSpLocks/>
          </p:cNvCxnSpPr>
          <p:nvPr/>
        </p:nvCxnSpPr>
        <p:spPr>
          <a:xfrm flipV="1">
            <a:off x="782008" y="2291424"/>
            <a:ext cx="1976259" cy="2035761"/>
          </a:xfrm>
          <a:prstGeom prst="straightConnector1">
            <a:avLst/>
          </a:prstGeom>
          <a:ln w="57150">
            <a:solidFill>
              <a:schemeClr val="accent4">
                <a:lumMod val="50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53">
            <a:extLst>
              <a:ext uri="{FF2B5EF4-FFF2-40B4-BE49-F238E27FC236}">
                <a16:creationId xmlns:a16="http://schemas.microsoft.com/office/drawing/2014/main" id="{4DB82191-F30A-D55B-53B0-1455947A5AFF}"/>
              </a:ext>
            </a:extLst>
          </p:cNvPr>
          <p:cNvCxnSpPr>
            <a:cxnSpLocks/>
          </p:cNvCxnSpPr>
          <p:nvPr/>
        </p:nvCxnSpPr>
        <p:spPr>
          <a:xfrm flipV="1">
            <a:off x="2417334" y="2291423"/>
            <a:ext cx="2266807" cy="2339327"/>
          </a:xfrm>
          <a:prstGeom prst="straightConnector1">
            <a:avLst/>
          </a:prstGeom>
          <a:ln w="57150">
            <a:solidFill>
              <a:schemeClr val="accent4">
                <a:lumMod val="50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53">
            <a:extLst>
              <a:ext uri="{FF2B5EF4-FFF2-40B4-BE49-F238E27FC236}">
                <a16:creationId xmlns:a16="http://schemas.microsoft.com/office/drawing/2014/main" id="{5F9A14AB-8595-6071-E2C8-EF56280BA073}"/>
              </a:ext>
            </a:extLst>
          </p:cNvPr>
          <p:cNvCxnSpPr>
            <a:cxnSpLocks/>
          </p:cNvCxnSpPr>
          <p:nvPr/>
        </p:nvCxnSpPr>
        <p:spPr>
          <a:xfrm>
            <a:off x="2600685" y="3470611"/>
            <a:ext cx="504408" cy="470956"/>
          </a:xfrm>
          <a:prstGeom prst="straightConnector1">
            <a:avLst/>
          </a:prstGeom>
          <a:ln w="57150">
            <a:solidFill>
              <a:srgbClr val="0070C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53">
            <a:extLst>
              <a:ext uri="{FF2B5EF4-FFF2-40B4-BE49-F238E27FC236}">
                <a16:creationId xmlns:a16="http://schemas.microsoft.com/office/drawing/2014/main" id="{DAF204EB-12BD-C3CA-E318-BFC7AE7E8F9D}"/>
              </a:ext>
            </a:extLst>
          </p:cNvPr>
          <p:cNvCxnSpPr>
            <a:cxnSpLocks/>
          </p:cNvCxnSpPr>
          <p:nvPr/>
        </p:nvCxnSpPr>
        <p:spPr>
          <a:xfrm>
            <a:off x="1534879" y="3612817"/>
            <a:ext cx="504408" cy="470956"/>
          </a:xfrm>
          <a:prstGeom prst="straightConnector1">
            <a:avLst/>
          </a:prstGeom>
          <a:ln w="57150">
            <a:solidFill>
              <a:srgbClr val="0070C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48">
            <a:extLst>
              <a:ext uri="{FF2B5EF4-FFF2-40B4-BE49-F238E27FC236}">
                <a16:creationId xmlns:a16="http://schemas.microsoft.com/office/drawing/2014/main" id="{BCC78C64-5209-4FE0-E467-A7A6080F7442}"/>
              </a:ext>
            </a:extLst>
          </p:cNvPr>
          <p:cNvSpPr txBox="1"/>
          <p:nvPr/>
        </p:nvSpPr>
        <p:spPr>
          <a:xfrm>
            <a:off x="2789661" y="3391126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</a:p>
        </p:txBody>
      </p:sp>
      <p:sp>
        <p:nvSpPr>
          <p:cNvPr id="37" name="CuadroTexto 48">
            <a:extLst>
              <a:ext uri="{FF2B5EF4-FFF2-40B4-BE49-F238E27FC236}">
                <a16:creationId xmlns:a16="http://schemas.microsoft.com/office/drawing/2014/main" id="{2359C04A-CBC0-6A5E-B241-D5B06713F1A7}"/>
              </a:ext>
            </a:extLst>
          </p:cNvPr>
          <p:cNvSpPr txBox="1"/>
          <p:nvPr/>
        </p:nvSpPr>
        <p:spPr>
          <a:xfrm>
            <a:off x="3845893" y="2945218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Vn</a:t>
            </a:r>
            <a:endParaRPr lang="es-CO" b="1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597C7C58-E148-02F0-7C7E-1FD857E0F895}"/>
              </a:ext>
            </a:extLst>
          </p:cNvPr>
          <p:cNvSpPr txBox="1">
            <a:spLocks noChangeArrowheads="1"/>
          </p:cNvSpPr>
          <p:nvPr/>
        </p:nvSpPr>
        <p:spPr>
          <a:xfrm>
            <a:off x="6150833" y="3436163"/>
            <a:ext cx="3050109" cy="307512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MAXIMIZAR   h</a:t>
            </a:r>
            <a:endParaRPr lang="es-CO" sz="1400">
              <a:solidFill>
                <a:srgbClr val="00B050"/>
              </a:solidFill>
            </a:endParaRPr>
          </a:p>
        </p:txBody>
      </p:sp>
      <p:sp>
        <p:nvSpPr>
          <p:cNvPr id="39" name="CuadroTexto 48">
            <a:extLst>
              <a:ext uri="{FF2B5EF4-FFF2-40B4-BE49-F238E27FC236}">
                <a16:creationId xmlns:a16="http://schemas.microsoft.com/office/drawing/2014/main" id="{B1232083-A2B7-C7B6-778C-68113F64CBA5}"/>
              </a:ext>
            </a:extLst>
          </p:cNvPr>
          <p:cNvSpPr txBox="1"/>
          <p:nvPr/>
        </p:nvSpPr>
        <p:spPr>
          <a:xfrm>
            <a:off x="3914862" y="1731166"/>
            <a:ext cx="1725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 </a:t>
            </a:r>
            <a:r>
              <a:rPr lang="es-ES">
                <a:solidFill>
                  <a:srgbClr val="376092"/>
                </a:solidFill>
              </a:rPr>
              <a:t> </a:t>
            </a:r>
            <a:r>
              <a:rPr lang="es-ES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/>
              <a:t> </a:t>
            </a:r>
            <a:r>
              <a:rPr lang="es-CO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b="1">
                <a:solidFill>
                  <a:schemeClr val="accent1">
                    <a:lumMod val="50000"/>
                  </a:schemeClr>
                </a:solidFill>
              </a:rPr>
              <a:t>Holgura</a:t>
            </a:r>
          </a:p>
        </p:txBody>
      </p:sp>
      <p:sp>
        <p:nvSpPr>
          <p:cNvPr id="40" name="CuadroTexto 48">
            <a:extLst>
              <a:ext uri="{FF2B5EF4-FFF2-40B4-BE49-F238E27FC236}">
                <a16:creationId xmlns:a16="http://schemas.microsoft.com/office/drawing/2014/main" id="{B2F624B4-9170-1C49-F87D-236177A72714}"/>
              </a:ext>
            </a:extLst>
          </p:cNvPr>
          <p:cNvSpPr txBox="1"/>
          <p:nvPr/>
        </p:nvSpPr>
        <p:spPr>
          <a:xfrm>
            <a:off x="1855459" y="1740234"/>
            <a:ext cx="21162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</a:t>
            </a:r>
            <a:r>
              <a:rPr lang="es-ES">
                <a:solidFill>
                  <a:srgbClr val="376092"/>
                </a:solidFill>
              </a:rPr>
              <a:t> </a:t>
            </a:r>
            <a:r>
              <a:rPr lang="es-ES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/>
              <a:t> </a:t>
            </a:r>
            <a:r>
              <a:rPr lang="es-CO" b="1">
                <a:solidFill>
                  <a:schemeClr val="accent1">
                    <a:lumMod val="50000"/>
                  </a:schemeClr>
                </a:solidFill>
              </a:rPr>
              <a:t>Vectores Soporte</a:t>
            </a:r>
          </a:p>
        </p:txBody>
      </p:sp>
    </p:spTree>
    <p:extLst>
      <p:ext uri="{BB962C8B-B14F-4D97-AF65-F5344CB8AC3E}">
        <p14:creationId xmlns:p14="http://schemas.microsoft.com/office/powerpoint/2010/main" val="2376027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0" grpId="0" animBg="1"/>
      <p:bldP spid="36" grpId="0"/>
      <p:bldP spid="37" grpId="0"/>
      <p:bldP spid="38" grpId="0" animBg="1"/>
      <p:bldP spid="39" grpId="0"/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0328DF3F-1983-5312-13AF-533B3CA4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8D91E90A-94C5-6F87-9CB5-E20EA3F507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ADDE73A-0724-65B0-1F7E-283C923F398F}"/>
              </a:ext>
            </a:extLst>
          </p:cNvPr>
          <p:cNvSpPr txBox="1">
            <a:spLocks noChangeArrowheads="1"/>
          </p:cNvSpPr>
          <p:nvPr/>
        </p:nvSpPr>
        <p:spPr>
          <a:xfrm>
            <a:off x="1352983" y="671208"/>
            <a:ext cx="7611117" cy="8146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Ejemplo Problema de Clasificación – </a:t>
            </a:r>
            <a:r>
              <a:rPr lang="es-CO" sz="1400" b="1" err="1">
                <a:solidFill>
                  <a:srgbClr val="7030A0"/>
                </a:solidFill>
              </a:rPr>
              <a:t>Pattern</a:t>
            </a:r>
            <a:r>
              <a:rPr lang="es-CO" sz="1400" b="1">
                <a:solidFill>
                  <a:srgbClr val="7030A0"/>
                </a:solidFill>
              </a:rPr>
              <a:t> </a:t>
            </a:r>
            <a:r>
              <a:rPr lang="es-CO" sz="1400" b="1" err="1">
                <a:solidFill>
                  <a:srgbClr val="7030A0"/>
                </a:solidFill>
              </a:rPr>
              <a:t>Recognition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Robot clasifica diferentes frutas a partir de imágenes</a:t>
            </a:r>
          </a:p>
          <a:p>
            <a:pPr lvl="1"/>
            <a:r>
              <a:rPr lang="es-CO" sz="1400"/>
              <a:t>Supervisado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observa las frutas y además SÍ se le indica qué fruta está viendo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AB22ECA-FD86-0396-442B-D96932523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653" y="2178038"/>
            <a:ext cx="1033032" cy="99943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75E9D88-B99D-E110-76BC-0038F7F30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34115"/>
            <a:ext cx="1664285" cy="1245131"/>
          </a:xfrm>
          <a:prstGeom prst="rect">
            <a:avLst/>
          </a:prstGeom>
        </p:spPr>
      </p:pic>
      <p:sp>
        <p:nvSpPr>
          <p:cNvPr id="29" name="Rectangle 5">
            <a:extLst>
              <a:ext uri="{FF2B5EF4-FFF2-40B4-BE49-F238E27FC236}">
                <a16:creationId xmlns:a16="http://schemas.microsoft.com/office/drawing/2014/main" id="{9A0F36BA-CFFC-552C-C8FF-7EFA59D26287}"/>
              </a:ext>
            </a:extLst>
          </p:cNvPr>
          <p:cNvSpPr txBox="1">
            <a:spLocks noChangeArrowheads="1"/>
          </p:cNvSpPr>
          <p:nvPr/>
        </p:nvSpPr>
        <p:spPr>
          <a:xfrm>
            <a:off x="6150833" y="2677757"/>
            <a:ext cx="3050109" cy="615024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>
                <a:solidFill>
                  <a:srgbClr val="00B050"/>
                </a:solidFill>
              </a:rPr>
              <a:t>La que es Más Equidistante de las Nubes de Puntos !!</a:t>
            </a: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65DB6D7F-2738-826B-F99C-1AAA6B9913D9}"/>
              </a:ext>
            </a:extLst>
          </p:cNvPr>
          <p:cNvSpPr txBox="1">
            <a:spLocks noChangeArrowheads="1"/>
          </p:cNvSpPr>
          <p:nvPr/>
        </p:nvSpPr>
        <p:spPr>
          <a:xfrm>
            <a:off x="6157013" y="4101423"/>
            <a:ext cx="3024270" cy="10159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Recta Separa 2 Clases</a:t>
            </a:r>
          </a:p>
          <a:p>
            <a:pPr marL="0" indent="0" algn="ctr">
              <a:buNone/>
            </a:pPr>
            <a:r>
              <a:rPr lang="es-CO" sz="1400" err="1">
                <a:solidFill>
                  <a:schemeClr val="accent1">
                    <a:lumMod val="75000"/>
                  </a:schemeClr>
                </a:solidFill>
              </a:rPr>
              <a:t>Param</a:t>
            </a:r>
            <a:r>
              <a:rPr lang="es-CO" sz="1400">
                <a:solidFill>
                  <a:schemeClr val="accent1">
                    <a:lumMod val="75000"/>
                  </a:schemeClr>
                </a:solidFill>
              </a:rPr>
              <a:t>. Recta</a:t>
            </a:r>
            <a:r>
              <a:rPr lang="es-CO" sz="14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s-ES" sz="14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s-ES" sz="1400">
                <a:solidFill>
                  <a:schemeClr val="accent6">
                    <a:lumMod val="50000"/>
                  </a:schemeClr>
                </a:solidFill>
                <a:latin typeface="Arial Narrow"/>
              </a:rPr>
              <a:t>→</a:t>
            </a:r>
            <a:r>
              <a:rPr lang="es-CO" sz="140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es-CO" sz="1400">
                <a:solidFill>
                  <a:srgbClr val="C00000"/>
                </a:solidFill>
              </a:rPr>
              <a:t>[</a:t>
            </a:r>
            <a:r>
              <a:rPr lang="es-CO" sz="1400" err="1">
                <a:solidFill>
                  <a:srgbClr val="C00000"/>
                </a:solidFill>
              </a:rPr>
              <a:t>m,b</a:t>
            </a:r>
            <a:r>
              <a:rPr lang="es-CO" sz="1400">
                <a:solidFill>
                  <a:srgbClr val="C00000"/>
                </a:solidFill>
              </a:rPr>
              <a:t>]</a:t>
            </a:r>
            <a:endParaRPr lang="es-CO" sz="1400" baseline="-10000">
              <a:solidFill>
                <a:srgbClr val="C00000"/>
              </a:solidFill>
            </a:endParaRP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F528CB98-4982-C179-8262-DFE339CBEE43}"/>
              </a:ext>
            </a:extLst>
          </p:cNvPr>
          <p:cNvSpPr txBox="1">
            <a:spLocks noChangeArrowheads="1"/>
          </p:cNvSpPr>
          <p:nvPr/>
        </p:nvSpPr>
        <p:spPr>
          <a:xfrm>
            <a:off x="6150834" y="1574786"/>
            <a:ext cx="3050109" cy="816247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PREGUNTA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0070C0"/>
                </a:solidFill>
              </a:rPr>
              <a:t>Cuál es la Recta que Separa Mejor </a:t>
            </a:r>
            <a:r>
              <a:rPr lang="es-CO" sz="1400" b="1">
                <a:solidFill>
                  <a:srgbClr val="C00000"/>
                </a:solidFill>
              </a:rPr>
              <a:t>2</a:t>
            </a:r>
            <a:r>
              <a:rPr lang="es-CO" sz="1400">
                <a:solidFill>
                  <a:srgbClr val="0070C0"/>
                </a:solidFill>
              </a:rPr>
              <a:t> clases?</a:t>
            </a: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22025DAA-32A3-2BEA-6722-F32D6A0F12A5}"/>
              </a:ext>
            </a:extLst>
          </p:cNvPr>
          <p:cNvSpPr txBox="1">
            <a:spLocks noChangeArrowheads="1"/>
          </p:cNvSpPr>
          <p:nvPr/>
        </p:nvSpPr>
        <p:spPr>
          <a:xfrm>
            <a:off x="6150833" y="3436163"/>
            <a:ext cx="3050109" cy="307512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MAXIMIZAR   h</a:t>
            </a:r>
            <a:endParaRPr lang="es-CO" sz="1400">
              <a:solidFill>
                <a:srgbClr val="00B050"/>
              </a:solidFill>
            </a:endParaRPr>
          </a:p>
        </p:txBody>
      </p:sp>
      <p:sp>
        <p:nvSpPr>
          <p:cNvPr id="39" name="CuadroTexto 48">
            <a:extLst>
              <a:ext uri="{FF2B5EF4-FFF2-40B4-BE49-F238E27FC236}">
                <a16:creationId xmlns:a16="http://schemas.microsoft.com/office/drawing/2014/main" id="{CF07C6F9-F897-DD49-D3CB-452ADB15F10C}"/>
              </a:ext>
            </a:extLst>
          </p:cNvPr>
          <p:cNvSpPr txBox="1"/>
          <p:nvPr/>
        </p:nvSpPr>
        <p:spPr>
          <a:xfrm>
            <a:off x="3914862" y="1731166"/>
            <a:ext cx="1725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 </a:t>
            </a:r>
            <a:r>
              <a:rPr lang="es-ES">
                <a:solidFill>
                  <a:srgbClr val="376092"/>
                </a:solidFill>
              </a:rPr>
              <a:t> </a:t>
            </a:r>
            <a:r>
              <a:rPr lang="es-ES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/>
              <a:t> </a:t>
            </a:r>
            <a:r>
              <a:rPr lang="es-CO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b="1">
                <a:solidFill>
                  <a:schemeClr val="accent1">
                    <a:lumMod val="50000"/>
                  </a:schemeClr>
                </a:solidFill>
              </a:rPr>
              <a:t>Holgura</a:t>
            </a:r>
          </a:p>
        </p:txBody>
      </p:sp>
      <p:sp>
        <p:nvSpPr>
          <p:cNvPr id="40" name="CuadroTexto 48">
            <a:extLst>
              <a:ext uri="{FF2B5EF4-FFF2-40B4-BE49-F238E27FC236}">
                <a16:creationId xmlns:a16="http://schemas.microsoft.com/office/drawing/2014/main" id="{7958756B-E860-1207-ADA5-FEA7DAD7FFC2}"/>
              </a:ext>
            </a:extLst>
          </p:cNvPr>
          <p:cNvSpPr txBox="1"/>
          <p:nvPr/>
        </p:nvSpPr>
        <p:spPr>
          <a:xfrm>
            <a:off x="1855459" y="1740234"/>
            <a:ext cx="21162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</a:t>
            </a:r>
            <a:r>
              <a:rPr lang="es-ES">
                <a:solidFill>
                  <a:srgbClr val="376092"/>
                </a:solidFill>
              </a:rPr>
              <a:t> </a:t>
            </a:r>
            <a:r>
              <a:rPr lang="es-ES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/>
              <a:t> </a:t>
            </a:r>
            <a:r>
              <a:rPr lang="es-CO" b="1">
                <a:solidFill>
                  <a:schemeClr val="accent1">
                    <a:lumMod val="50000"/>
                  </a:schemeClr>
                </a:solidFill>
              </a:rPr>
              <a:t>Vectores Soporte</a:t>
            </a:r>
          </a:p>
        </p:txBody>
      </p:sp>
      <p:pic>
        <p:nvPicPr>
          <p:cNvPr id="593" name="Imagen 592">
            <a:extLst>
              <a:ext uri="{FF2B5EF4-FFF2-40B4-BE49-F238E27FC236}">
                <a16:creationId xmlns:a16="http://schemas.microsoft.com/office/drawing/2014/main" id="{BBDC4F3D-5033-A160-3615-45FFE78E9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53" y="1843593"/>
            <a:ext cx="6115307" cy="323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6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8" grpId="0" animBg="1"/>
      <p:bldP spid="39" grpId="0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189CBC5D-A165-1123-F7AC-3D5F51E66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71F3AE53-3586-F3F6-9436-AC2B329303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CFC71892-EBC8-C049-B1D5-195EE25E550A}"/>
              </a:ext>
            </a:extLst>
          </p:cNvPr>
          <p:cNvSpPr txBox="1">
            <a:spLocks noChangeArrowheads="1"/>
          </p:cNvSpPr>
          <p:nvPr/>
        </p:nvSpPr>
        <p:spPr>
          <a:xfrm>
            <a:off x="1352983" y="671208"/>
            <a:ext cx="7611117" cy="8146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Ejemplo Problema de Clasificación – </a:t>
            </a:r>
            <a:r>
              <a:rPr lang="es-CO" sz="1400" b="1" err="1">
                <a:solidFill>
                  <a:srgbClr val="7030A0"/>
                </a:solidFill>
              </a:rPr>
              <a:t>Pattern</a:t>
            </a:r>
            <a:r>
              <a:rPr lang="es-CO" sz="1400" b="1">
                <a:solidFill>
                  <a:srgbClr val="7030A0"/>
                </a:solidFill>
              </a:rPr>
              <a:t> </a:t>
            </a:r>
            <a:r>
              <a:rPr lang="es-CO" sz="1400" b="1" err="1">
                <a:solidFill>
                  <a:srgbClr val="7030A0"/>
                </a:solidFill>
              </a:rPr>
              <a:t>Recognition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Robot clasifica diferentes frutas a partir de imágenes</a:t>
            </a:r>
          </a:p>
          <a:p>
            <a:pPr lvl="1"/>
            <a:r>
              <a:rPr lang="es-CO" sz="1400"/>
              <a:t>Supervisado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observa las frutas y además SÍ se le indica qué fruta está viendo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DA51530-159C-7773-AF07-DA66A4730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4115"/>
            <a:ext cx="1664285" cy="1245131"/>
          </a:xfrm>
          <a:prstGeom prst="rect">
            <a:avLst/>
          </a:prstGeom>
        </p:spPr>
      </p:pic>
      <p:sp>
        <p:nvSpPr>
          <p:cNvPr id="29" name="Rectangle 5">
            <a:extLst>
              <a:ext uri="{FF2B5EF4-FFF2-40B4-BE49-F238E27FC236}">
                <a16:creationId xmlns:a16="http://schemas.microsoft.com/office/drawing/2014/main" id="{30ADE015-F512-7F1A-6B7A-DE40C3A85F98}"/>
              </a:ext>
            </a:extLst>
          </p:cNvPr>
          <p:cNvSpPr txBox="1">
            <a:spLocks noChangeArrowheads="1"/>
          </p:cNvSpPr>
          <p:nvPr/>
        </p:nvSpPr>
        <p:spPr>
          <a:xfrm>
            <a:off x="6150833" y="2677757"/>
            <a:ext cx="3050109" cy="615024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>
                <a:solidFill>
                  <a:srgbClr val="00B050"/>
                </a:solidFill>
              </a:rPr>
              <a:t>La que es Más Equidistante de las Nubes de Puntos !!</a:t>
            </a: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D3711295-E78D-2177-F7C8-3C1E4C29C20C}"/>
              </a:ext>
            </a:extLst>
          </p:cNvPr>
          <p:cNvSpPr txBox="1">
            <a:spLocks noChangeArrowheads="1"/>
          </p:cNvSpPr>
          <p:nvPr/>
        </p:nvSpPr>
        <p:spPr>
          <a:xfrm>
            <a:off x="6157013" y="4101423"/>
            <a:ext cx="3024270" cy="10159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Recta Separa 2 Clases</a:t>
            </a:r>
          </a:p>
          <a:p>
            <a:pPr marL="0" indent="0" algn="ctr">
              <a:buNone/>
            </a:pPr>
            <a:r>
              <a:rPr lang="es-CO" sz="1400" err="1">
                <a:solidFill>
                  <a:schemeClr val="accent1">
                    <a:lumMod val="75000"/>
                  </a:schemeClr>
                </a:solidFill>
              </a:rPr>
              <a:t>Param</a:t>
            </a:r>
            <a:r>
              <a:rPr lang="es-CO" sz="1400">
                <a:solidFill>
                  <a:schemeClr val="accent1">
                    <a:lumMod val="75000"/>
                  </a:schemeClr>
                </a:solidFill>
              </a:rPr>
              <a:t>. Recta</a:t>
            </a:r>
            <a:r>
              <a:rPr lang="es-CO" sz="14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s-ES" sz="14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s-ES" sz="1400">
                <a:solidFill>
                  <a:schemeClr val="accent6">
                    <a:lumMod val="50000"/>
                  </a:schemeClr>
                </a:solidFill>
                <a:latin typeface="Arial Narrow"/>
              </a:rPr>
              <a:t>→</a:t>
            </a:r>
            <a:r>
              <a:rPr lang="es-CO" sz="140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es-CO" sz="1400">
                <a:solidFill>
                  <a:srgbClr val="C00000"/>
                </a:solidFill>
              </a:rPr>
              <a:t>[</a:t>
            </a:r>
            <a:r>
              <a:rPr lang="es-CO" sz="1400" err="1">
                <a:solidFill>
                  <a:srgbClr val="C00000"/>
                </a:solidFill>
              </a:rPr>
              <a:t>m,b</a:t>
            </a:r>
            <a:r>
              <a:rPr lang="es-CO" sz="1400">
                <a:solidFill>
                  <a:srgbClr val="C00000"/>
                </a:solidFill>
              </a:rPr>
              <a:t>]</a:t>
            </a:r>
            <a:endParaRPr lang="es-CO" sz="1400" baseline="-10000">
              <a:solidFill>
                <a:srgbClr val="C00000"/>
              </a:solidFill>
            </a:endParaRP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EF7C34B6-EA72-137E-E590-74893CD660B5}"/>
              </a:ext>
            </a:extLst>
          </p:cNvPr>
          <p:cNvSpPr txBox="1">
            <a:spLocks noChangeArrowheads="1"/>
          </p:cNvSpPr>
          <p:nvPr/>
        </p:nvSpPr>
        <p:spPr>
          <a:xfrm>
            <a:off x="6150834" y="1574786"/>
            <a:ext cx="3050109" cy="816247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PREGUNTA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0070C0"/>
                </a:solidFill>
              </a:rPr>
              <a:t>Cuál es la Recta que Separa Mejor </a:t>
            </a:r>
            <a:r>
              <a:rPr lang="es-CO" sz="1400" b="1">
                <a:solidFill>
                  <a:srgbClr val="C00000"/>
                </a:solidFill>
              </a:rPr>
              <a:t>2</a:t>
            </a:r>
            <a:r>
              <a:rPr lang="es-CO" sz="1400">
                <a:solidFill>
                  <a:srgbClr val="0070C0"/>
                </a:solidFill>
              </a:rPr>
              <a:t> clases?</a:t>
            </a: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EF3DA065-D0F3-27C2-AE5C-98A0D259E3C0}"/>
              </a:ext>
            </a:extLst>
          </p:cNvPr>
          <p:cNvSpPr txBox="1">
            <a:spLocks noChangeArrowheads="1"/>
          </p:cNvSpPr>
          <p:nvPr/>
        </p:nvSpPr>
        <p:spPr>
          <a:xfrm>
            <a:off x="6150833" y="3436163"/>
            <a:ext cx="3050109" cy="307512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MAXIMIZAR   h</a:t>
            </a:r>
            <a:endParaRPr lang="es-CO" sz="1400">
              <a:solidFill>
                <a:srgbClr val="00B050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8B3ADD1-1BE6-1FC8-B65D-7514DB0CA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14" y="2079246"/>
            <a:ext cx="6434627" cy="28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9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28A5F439-384C-08A0-3603-821256EDE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9544B9E7-563E-B7C5-3FA1-0BDE948C9C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Aprendizaje</a:t>
            </a:r>
            <a:r>
              <a:rPr lang="en"/>
              <a:t> Lazy</a:t>
            </a:r>
            <a:endParaRPr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4C6A049-5612-FAE5-81CD-FF498F1F3DAA}"/>
              </a:ext>
            </a:extLst>
          </p:cNvPr>
          <p:cNvSpPr txBox="1">
            <a:spLocks noChangeArrowheads="1"/>
          </p:cNvSpPr>
          <p:nvPr/>
        </p:nvSpPr>
        <p:spPr>
          <a:xfrm>
            <a:off x="1423295" y="740760"/>
            <a:ext cx="6750322" cy="1032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Aprendizaje Basado en Instancias – </a:t>
            </a:r>
            <a:r>
              <a:rPr lang="es-CO" sz="1400" b="1">
                <a:solidFill>
                  <a:srgbClr val="7030A0"/>
                </a:solidFill>
              </a:rPr>
              <a:t>Aprendizaje “Perezoso” (LAZY)</a:t>
            </a:r>
          </a:p>
          <a:p>
            <a:pPr lvl="1"/>
            <a:r>
              <a:rPr lang="es-ES" sz="1400"/>
              <a:t>Almacena los ejemplos</a:t>
            </a:r>
            <a:r>
              <a:rPr lang="es-CO" sz="1400"/>
              <a:t>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no genera un modelo por entrenamiento ML</a:t>
            </a:r>
          </a:p>
          <a:p>
            <a:pPr lvl="1"/>
            <a:r>
              <a:rPr lang="es-ES" sz="1400"/>
              <a:t>Clasificación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</a:t>
            </a:r>
            <a:r>
              <a:rPr lang="es-ES" sz="1400"/>
              <a:t>compara nueva instancia respecto a los ejemplos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265A51-5D69-34AA-B8FE-55CDC22B10D0}"/>
              </a:ext>
            </a:extLst>
          </p:cNvPr>
          <p:cNvSpPr txBox="1">
            <a:spLocks noChangeArrowheads="1"/>
          </p:cNvSpPr>
          <p:nvPr/>
        </p:nvSpPr>
        <p:spPr>
          <a:xfrm>
            <a:off x="5816533" y="2019031"/>
            <a:ext cx="3463622" cy="9198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0070C0"/>
                </a:solidFill>
              </a:rPr>
              <a:t>NO Hay – Usa Ejemplos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92D379-68BA-3AAA-ACF5-71BC4B607CF5}"/>
              </a:ext>
            </a:extLst>
          </p:cNvPr>
          <p:cNvSpPr txBox="1">
            <a:spLocks noChangeArrowheads="1"/>
          </p:cNvSpPr>
          <p:nvPr/>
        </p:nvSpPr>
        <p:spPr>
          <a:xfrm>
            <a:off x="5816533" y="2939144"/>
            <a:ext cx="3463622" cy="131775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K-VECINOS MÁS CERCANOS</a:t>
            </a:r>
          </a:p>
          <a:p>
            <a:pPr marL="0" indent="0" algn="ctr">
              <a:buNone/>
            </a:pPr>
            <a:r>
              <a:rPr lang="es-CO" sz="1400" b="1">
                <a:solidFill>
                  <a:srgbClr val="0070C0"/>
                </a:solidFill>
              </a:rPr>
              <a:t>KNN</a:t>
            </a:r>
            <a:endParaRPr lang="es-ES" sz="140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busca </a:t>
            </a:r>
            <a:r>
              <a:rPr lang="es-ES" sz="1400">
                <a:solidFill>
                  <a:srgbClr val="C00000"/>
                </a:solidFill>
              </a:rPr>
              <a:t>K</a:t>
            </a: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 vecinos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clasifica</a:t>
            </a:r>
            <a:r>
              <a:rPr lang="es-CO" sz="1400" b="1">
                <a:solidFill>
                  <a:srgbClr val="0070C0"/>
                </a:solidFill>
              </a:rPr>
              <a:t> </a:t>
            </a:r>
            <a:r>
              <a:rPr lang="es-ES" sz="1400">
                <a:solidFill>
                  <a:srgbClr val="C00000"/>
                </a:solidFill>
                <a:latin typeface="Arial Narrow"/>
              </a:rPr>
              <a:t>→</a:t>
            </a:r>
            <a:r>
              <a:rPr lang="es-CO" sz="1400">
                <a:solidFill>
                  <a:srgbClr val="0070C0"/>
                </a:solidFill>
              </a:rPr>
              <a:t> por votación</a:t>
            </a: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33A0BF5-A054-2DFE-2B1A-A7784D684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0083"/>
            <a:ext cx="1423294" cy="92966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8269AAA-9F9D-7603-93EB-895752AE7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100" y="1854609"/>
            <a:ext cx="2692393" cy="2422282"/>
          </a:xfrm>
          <a:prstGeom prst="rect">
            <a:avLst/>
          </a:prstGeom>
          <a:ln>
            <a:noFill/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E2DBBA-66A3-FFFA-DDA7-D021E5616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100" y="1870087"/>
            <a:ext cx="2692393" cy="2391327"/>
          </a:xfrm>
          <a:prstGeom prst="rect">
            <a:avLst/>
          </a:prstGeom>
          <a:ln>
            <a:noFill/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4F52FCA-56F7-5576-B7AB-765087477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533" y="1854344"/>
            <a:ext cx="2692393" cy="2422282"/>
          </a:xfrm>
          <a:prstGeom prst="rect">
            <a:avLst/>
          </a:prstGeom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102AC6B-9357-A53F-8CAC-780B4C76A5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234" y="1869556"/>
            <a:ext cx="2692990" cy="2391858"/>
          </a:xfrm>
          <a:prstGeom prst="rect">
            <a:avLst/>
          </a:prstGeom>
          <a:ln>
            <a:noFill/>
          </a:ln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7FD377B-8D40-20DF-2B85-38003D92AE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853" y="4338512"/>
            <a:ext cx="2834886" cy="93886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AA52270-B290-9D8A-000B-ADAE4BB8DC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3286" y="4307764"/>
            <a:ext cx="2834886" cy="969348"/>
          </a:xfrm>
          <a:prstGeom prst="rect">
            <a:avLst/>
          </a:prstGeom>
        </p:spPr>
      </p:pic>
      <p:sp>
        <p:nvSpPr>
          <p:cNvPr id="15" name="Rectangle 5">
            <a:extLst>
              <a:ext uri="{FF2B5EF4-FFF2-40B4-BE49-F238E27FC236}">
                <a16:creationId xmlns:a16="http://schemas.microsoft.com/office/drawing/2014/main" id="{665C05C9-4BC4-638D-9E88-01C9F85F24C8}"/>
              </a:ext>
            </a:extLst>
          </p:cNvPr>
          <p:cNvSpPr txBox="1">
            <a:spLocks noChangeArrowheads="1"/>
          </p:cNvSpPr>
          <p:nvPr/>
        </p:nvSpPr>
        <p:spPr>
          <a:xfrm>
            <a:off x="5816533" y="4220410"/>
            <a:ext cx="3463622" cy="92309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Requerimiento</a:t>
            </a:r>
          </a:p>
          <a:p>
            <a:pPr marL="0" indent="0" algn="ctr">
              <a:buNone/>
            </a:pPr>
            <a:r>
              <a:rPr lang="es-CO" sz="1400">
                <a:solidFill>
                  <a:schemeClr val="accent1">
                    <a:lumMod val="75000"/>
                  </a:schemeClr>
                </a:solidFill>
              </a:rPr>
              <a:t>Medición de Distancia</a:t>
            </a:r>
          </a:p>
        </p:txBody>
      </p:sp>
    </p:spTree>
    <p:extLst>
      <p:ext uri="{BB962C8B-B14F-4D97-AF65-F5344CB8AC3E}">
        <p14:creationId xmlns:p14="http://schemas.microsoft.com/office/powerpoint/2010/main" val="215527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547DC248-D3FB-C2B8-94EE-3EB7872B4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02D95FAF-06E3-F3F0-67A4-47A6ACCD5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Aprendizaje</a:t>
            </a:r>
            <a:r>
              <a:rPr lang="en"/>
              <a:t> </a:t>
            </a:r>
            <a:r>
              <a:rPr lang="en" err="1"/>
              <a:t>por</a:t>
            </a:r>
            <a:r>
              <a:rPr lang="en"/>
              <a:t> Refuerzo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D70E767D-8F65-A0DA-D38A-E6BF4CC90EB4}"/>
              </a:ext>
            </a:extLst>
          </p:cNvPr>
          <p:cNvSpPr txBox="1">
            <a:spLocks noChangeArrowheads="1"/>
          </p:cNvSpPr>
          <p:nvPr/>
        </p:nvSpPr>
        <p:spPr>
          <a:xfrm>
            <a:off x="703714" y="772399"/>
            <a:ext cx="7296539" cy="1032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Aplicable si es Posible tener Retroalimentación del Resultado – </a:t>
            </a:r>
            <a:r>
              <a:rPr lang="es-CO" sz="1400" b="1">
                <a:solidFill>
                  <a:srgbClr val="7030A0"/>
                </a:solidFill>
              </a:rPr>
              <a:t>Q-</a:t>
            </a:r>
            <a:r>
              <a:rPr lang="es-CO" sz="1400" b="1" err="1">
                <a:solidFill>
                  <a:srgbClr val="7030A0"/>
                </a:solidFill>
              </a:rPr>
              <a:t>Learning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Refuerzo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requiere definir función de Recompensa Inmediata</a:t>
            </a:r>
          </a:p>
          <a:p>
            <a:pPr lvl="1"/>
            <a:r>
              <a:rPr lang="es-CO" sz="1400"/>
              <a:t>Recompensa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premio o castigo dependiendo del éxito/fracaso de una acción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F8383E-70B4-4628-1BAD-47984A94F5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135"/>
          <a:stretch/>
        </p:blipFill>
        <p:spPr>
          <a:xfrm>
            <a:off x="1143747" y="1804666"/>
            <a:ext cx="3699787" cy="2948268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DEFA4996-B9DD-000C-536D-F1DDB62ED95B}"/>
              </a:ext>
            </a:extLst>
          </p:cNvPr>
          <p:cNvSpPr txBox="1">
            <a:spLocks noChangeArrowheads="1"/>
          </p:cNvSpPr>
          <p:nvPr/>
        </p:nvSpPr>
        <p:spPr>
          <a:xfrm>
            <a:off x="5283567" y="2066692"/>
            <a:ext cx="3463622" cy="12721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Solución “Política”</a:t>
            </a:r>
          </a:p>
          <a:p>
            <a:pPr marL="0" indent="0" algn="ctr">
              <a:buNone/>
            </a:pPr>
            <a:r>
              <a:rPr lang="es-CO" sz="1400">
                <a:solidFill>
                  <a:schemeClr val="accent1">
                    <a:lumMod val="75000"/>
                  </a:schemeClr>
                </a:solidFill>
              </a:rPr>
              <a:t>Para cada Estado define la “Mejor Acción”</a:t>
            </a:r>
          </a:p>
        </p:txBody>
      </p:sp>
    </p:spTree>
    <p:extLst>
      <p:ext uri="{BB962C8B-B14F-4D97-AF65-F5344CB8AC3E}">
        <p14:creationId xmlns:p14="http://schemas.microsoft.com/office/powerpoint/2010/main" val="309711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36E0D006-6F0B-4D79-4F65-CB030CD6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78FEBF61-0D6C-3616-72C4-940DB64E22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Aprendizaje</a:t>
            </a:r>
            <a:r>
              <a:rPr lang="en"/>
              <a:t> </a:t>
            </a:r>
            <a:r>
              <a:rPr lang="en" err="1"/>
              <a:t>por</a:t>
            </a:r>
            <a:r>
              <a:rPr lang="en"/>
              <a:t> Refuerzo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500DFD3-84B1-FF1D-0DA4-C00F003E60DF}"/>
              </a:ext>
            </a:extLst>
          </p:cNvPr>
          <p:cNvSpPr txBox="1">
            <a:spLocks noChangeArrowheads="1"/>
          </p:cNvSpPr>
          <p:nvPr/>
        </p:nvSpPr>
        <p:spPr>
          <a:xfrm>
            <a:off x="703714" y="772399"/>
            <a:ext cx="7296539" cy="1032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Aplicable si es Posible tener Retroalimentación del Resultado – </a:t>
            </a:r>
            <a:r>
              <a:rPr lang="es-CO" sz="1400" b="1">
                <a:solidFill>
                  <a:srgbClr val="7030A0"/>
                </a:solidFill>
              </a:rPr>
              <a:t>Q-</a:t>
            </a:r>
            <a:r>
              <a:rPr lang="es-CO" sz="1400" b="1" err="1">
                <a:solidFill>
                  <a:srgbClr val="7030A0"/>
                </a:solidFill>
              </a:rPr>
              <a:t>Learning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Refuerzo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requiere definir función de Recompensa Inmediata</a:t>
            </a:r>
          </a:p>
          <a:p>
            <a:pPr lvl="1"/>
            <a:r>
              <a:rPr lang="es-CO" sz="1400"/>
              <a:t>Recompensa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premio o castigo dependiendo del éxito/fracaso de una acción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CBCDAE3-4CE5-84B0-BE8B-2E84BE6422DC}"/>
              </a:ext>
            </a:extLst>
          </p:cNvPr>
          <p:cNvSpPr txBox="1">
            <a:spLocks noChangeArrowheads="1"/>
          </p:cNvSpPr>
          <p:nvPr/>
        </p:nvSpPr>
        <p:spPr>
          <a:xfrm>
            <a:off x="5283567" y="2066692"/>
            <a:ext cx="3463622" cy="12721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Solución “Política”</a:t>
            </a:r>
          </a:p>
          <a:p>
            <a:pPr marL="0" indent="0" algn="ctr">
              <a:buNone/>
            </a:pPr>
            <a:r>
              <a:rPr lang="es-CO" sz="1400">
                <a:solidFill>
                  <a:schemeClr val="accent1">
                    <a:lumMod val="75000"/>
                  </a:schemeClr>
                </a:solidFill>
              </a:rPr>
              <a:t>Para cada Estado define la “Mejor Acción”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36A4259E-0BE6-5FA4-ABB8-B18EAA7D1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14" y="2282845"/>
            <a:ext cx="6550854" cy="2111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lvl="1" indent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</a:pPr>
            <a:endParaRPr lang="es-ES" sz="1400" b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1" indent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</a:pPr>
            <a:r>
              <a:rPr lang="es-ES" sz="1400" b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Función de Valor</a:t>
            </a:r>
          </a:p>
          <a:p>
            <a:pPr marL="342900" lvl="1" indent="-3429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sz="1400" b="0">
                <a:solidFill>
                  <a:schemeClr val="accent1">
                    <a:lumMod val="50000"/>
                  </a:schemeClr>
                </a:solidFill>
              </a:rPr>
              <a:t>Asignación de Crédito por Propagación Atenuada</a:t>
            </a:r>
          </a:p>
          <a:p>
            <a:pPr marL="342900" lvl="1" indent="-3429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sz="1400" b="0">
                <a:solidFill>
                  <a:schemeClr val="accent1">
                    <a:lumMod val="50000"/>
                  </a:schemeClr>
                </a:solidFill>
              </a:rPr>
              <a:t>Crédito  </a:t>
            </a:r>
            <a:r>
              <a:rPr kumimoji="0" lang="es-CO" sz="1400" b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kumimoji="0" lang="es-CO" sz="1400" b="0">
                <a:solidFill>
                  <a:schemeClr val="accent1">
                    <a:lumMod val="50000"/>
                  </a:schemeClr>
                </a:solidFill>
                <a:sym typeface="Symbol" pitchFamily="18" charset="2"/>
              </a:rPr>
              <a:t> </a:t>
            </a:r>
            <a:r>
              <a:rPr kumimoji="0" lang="es-ES" sz="1400" b="0">
                <a:solidFill>
                  <a:schemeClr val="accent1">
                    <a:lumMod val="50000"/>
                  </a:schemeClr>
                </a:solidFill>
              </a:rPr>
              <a:t> Contribución de una Acción al éxito/fracaso</a:t>
            </a:r>
          </a:p>
          <a:p>
            <a:pPr marL="342900" lvl="1" indent="-3429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sz="1400" b="0">
              <a:solidFill>
                <a:schemeClr val="accent1">
                  <a:lumMod val="50000"/>
                </a:schemeClr>
              </a:solidFill>
            </a:endParaRPr>
          </a:p>
          <a:p>
            <a:pPr marL="0" lvl="1" indent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</a:pPr>
            <a:r>
              <a:rPr lang="es-ES" sz="1400" b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Q-</a:t>
            </a:r>
            <a:r>
              <a:rPr lang="es-ES" sz="1400" b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Learning</a:t>
            </a:r>
            <a:endParaRPr lang="es-ES" sz="1400" b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lvl="1" indent="-3429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sz="1400" b="0">
                <a:solidFill>
                  <a:schemeClr val="accent1">
                    <a:lumMod val="50000"/>
                  </a:schemeClr>
                </a:solidFill>
              </a:rPr>
              <a:t>Cálculo Incremental de una aproximación de la función de valor</a:t>
            </a:r>
          </a:p>
          <a:p>
            <a:pPr marL="342900" lvl="1" indent="-3429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sz="1400" b="0">
                <a:solidFill>
                  <a:schemeClr val="accent1">
                    <a:lumMod val="50000"/>
                  </a:schemeClr>
                </a:solidFill>
              </a:rPr>
              <a:t>Converge a la política Óptima a medida que se explora y explota la política en el tiempo</a:t>
            </a:r>
          </a:p>
          <a:p>
            <a:pPr marL="342900" lvl="1" indent="-3429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CO" sz="1400" b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7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BD6CCB6C-979A-1503-5E83-422431E3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5A7329F9-376A-37CC-F413-3E45EF3E4A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Aprendizaje</a:t>
            </a:r>
            <a:r>
              <a:rPr lang="en"/>
              <a:t> </a:t>
            </a:r>
            <a:r>
              <a:rPr lang="en" err="1"/>
              <a:t>por</a:t>
            </a:r>
            <a:r>
              <a:rPr lang="en"/>
              <a:t> Refuerzo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3A8F208-CCAB-2FD3-ED06-E9ECB7EC795D}"/>
              </a:ext>
            </a:extLst>
          </p:cNvPr>
          <p:cNvSpPr txBox="1">
            <a:spLocks noChangeArrowheads="1"/>
          </p:cNvSpPr>
          <p:nvPr/>
        </p:nvSpPr>
        <p:spPr>
          <a:xfrm>
            <a:off x="703714" y="772399"/>
            <a:ext cx="7296539" cy="1032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Aplicable si es Posible tener Retroalimentación del Resultado – </a:t>
            </a:r>
            <a:r>
              <a:rPr lang="es-CO" sz="1400" b="1">
                <a:solidFill>
                  <a:srgbClr val="7030A0"/>
                </a:solidFill>
              </a:rPr>
              <a:t>Q-</a:t>
            </a:r>
            <a:r>
              <a:rPr lang="es-CO" sz="1400" b="1" err="1">
                <a:solidFill>
                  <a:srgbClr val="7030A0"/>
                </a:solidFill>
              </a:rPr>
              <a:t>Learning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Refuerzo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requiere definir función de Recompensa Inmediata</a:t>
            </a:r>
          </a:p>
          <a:p>
            <a:pPr lvl="1"/>
            <a:r>
              <a:rPr lang="es-CO" sz="1400"/>
              <a:t>Recompensa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premio o castigo dependiendo del éxito/fracaso de una acción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4FE7CCF-4D14-BABC-0B09-6E5A1626C499}"/>
              </a:ext>
            </a:extLst>
          </p:cNvPr>
          <p:cNvSpPr txBox="1">
            <a:spLocks noChangeArrowheads="1"/>
          </p:cNvSpPr>
          <p:nvPr/>
        </p:nvSpPr>
        <p:spPr>
          <a:xfrm>
            <a:off x="5824312" y="2310576"/>
            <a:ext cx="2361207" cy="9528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Solución “Política”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52260C6-D8ED-0B92-C329-13A7D6675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14" y="1962740"/>
            <a:ext cx="4584700" cy="3110266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s-ES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0913EAAE-52FF-C426-C14A-9CA958661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5492" y="2022829"/>
            <a:ext cx="0" cy="3140311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91D48E7C-60C2-2B09-1E20-F5C29CB6D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0938" y="1992785"/>
            <a:ext cx="0" cy="3140311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F20CBB79-494F-E7C9-75D4-96B9257F3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714" y="3504157"/>
            <a:ext cx="45847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E5B063E7-6124-59A4-F092-7F940A9CC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6441" y="2787006"/>
            <a:ext cx="77810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9" name="Line 20">
            <a:extLst>
              <a:ext uri="{FF2B5EF4-FFF2-40B4-BE49-F238E27FC236}">
                <a16:creationId xmlns:a16="http://schemas.microsoft.com/office/drawing/2014/main" id="{24B102AB-0007-46A8-3E17-CD9AD0BC83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60162" y="3222652"/>
            <a:ext cx="0" cy="563009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4BF8B457-436F-6C49-3084-739FB9AFB601}"/>
              </a:ext>
            </a:extLst>
          </p:cNvPr>
          <p:cNvSpPr txBox="1">
            <a:spLocks noChangeArrowheads="1"/>
          </p:cNvSpPr>
          <p:nvPr/>
        </p:nvSpPr>
        <p:spPr>
          <a:xfrm>
            <a:off x="5796342" y="3176349"/>
            <a:ext cx="2389178" cy="1348847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>
                <a:solidFill>
                  <a:srgbClr val="7030A0"/>
                </a:solidFill>
              </a:rPr>
              <a:t>Cómo dar Recompensas?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Contribución de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Cada Acción al 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Éxito/Fracaso</a:t>
            </a:r>
            <a:endParaRPr lang="es-CO" sz="14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031B439-1482-8C80-FE52-AA0571C2E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855" y="4025879"/>
            <a:ext cx="366451" cy="52931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5E8C40B-D067-E3D0-C3DB-5CA290C29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855" y="2510590"/>
            <a:ext cx="366451" cy="52931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4A43CB7-13B5-8453-43AB-613C4675F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005" y="2510590"/>
            <a:ext cx="366451" cy="529318"/>
          </a:xfrm>
          <a:prstGeom prst="rect">
            <a:avLst/>
          </a:prstGeom>
        </p:spPr>
      </p:pic>
      <p:sp>
        <p:nvSpPr>
          <p:cNvPr id="16" name="Line 13">
            <a:extLst>
              <a:ext uri="{FF2B5EF4-FFF2-40B4-BE49-F238E27FC236}">
                <a16:creationId xmlns:a16="http://schemas.microsoft.com/office/drawing/2014/main" id="{93C725FB-4006-57D5-03C1-00562824C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5059" y="2787006"/>
            <a:ext cx="77810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BE2F12F-1630-28A2-B2FC-A55CE915E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304" y="2664232"/>
            <a:ext cx="485517" cy="30633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E63E461-89B6-BDF2-B017-8F05319B0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135" y="2510590"/>
            <a:ext cx="366451" cy="529318"/>
          </a:xfrm>
          <a:prstGeom prst="rect">
            <a:avLst/>
          </a:prstGeom>
        </p:spPr>
      </p:pic>
      <p:sp>
        <p:nvSpPr>
          <p:cNvPr id="19" name="Text Box 22">
            <a:extLst>
              <a:ext uri="{FF2B5EF4-FFF2-40B4-BE49-F238E27FC236}">
                <a16:creationId xmlns:a16="http://schemas.microsoft.com/office/drawing/2014/main" id="{2FF5ABC7-4113-B6B1-1E81-EE0505A38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612" y="2165902"/>
            <a:ext cx="664947" cy="3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800" b="1">
                <a:solidFill>
                  <a:schemeClr val="bg1"/>
                </a:solidFill>
                <a:latin typeface="Times New Roman" pitchFamily="18" charset="0"/>
              </a:rPr>
              <a:t>81</a:t>
            </a:r>
            <a:endParaRPr lang="es-ES" sz="1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0" name="Text Box 22">
            <a:extLst>
              <a:ext uri="{FF2B5EF4-FFF2-40B4-BE49-F238E27FC236}">
                <a16:creationId xmlns:a16="http://schemas.microsoft.com/office/drawing/2014/main" id="{0D87CB4F-DB19-AD7E-2467-4ADD5D4D7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612" y="4553560"/>
            <a:ext cx="664947" cy="3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800" b="1">
                <a:solidFill>
                  <a:schemeClr val="bg1"/>
                </a:solidFill>
                <a:latin typeface="Times New Roman" pitchFamily="18" charset="0"/>
              </a:rPr>
              <a:t>72</a:t>
            </a:r>
            <a:endParaRPr lang="es-ES" sz="1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64013DCD-F5F2-E0A8-DC8E-A7AADF044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907" y="2124957"/>
            <a:ext cx="6649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2000" b="1">
                <a:solidFill>
                  <a:srgbClr val="FFFF00"/>
                </a:solidFill>
                <a:latin typeface="Times New Roman" pitchFamily="18" charset="0"/>
              </a:rPr>
              <a:t>100</a:t>
            </a:r>
            <a:endParaRPr lang="es-ES" sz="2000" b="1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6B7E2DA6-4C70-0C8B-8E14-D7917D92A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250" y="2165902"/>
            <a:ext cx="664947" cy="3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800" b="1">
                <a:solidFill>
                  <a:schemeClr val="bg1"/>
                </a:solidFill>
                <a:latin typeface="Times New Roman" pitchFamily="18" charset="0"/>
              </a:rPr>
              <a:t>90</a:t>
            </a:r>
            <a:endParaRPr lang="es-ES" sz="1800" b="1">
              <a:solidFill>
                <a:schemeClr val="bg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45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6" grpId="0" animBg="1"/>
      <p:bldP spid="19" grpId="0"/>
      <p:bldP spid="20" grpId="0"/>
      <p:bldP spid="21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1B613092-D87F-ED3C-3EE3-667CAEB3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00ECFE97-0959-4233-1DBE-31665935F6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Aprendizaje</a:t>
            </a:r>
            <a:r>
              <a:rPr lang="en"/>
              <a:t> </a:t>
            </a:r>
            <a:r>
              <a:rPr lang="en" err="1"/>
              <a:t>por</a:t>
            </a:r>
            <a:r>
              <a:rPr lang="en"/>
              <a:t> Refuerzo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CBF2EC57-D034-457E-FDB3-8E79E2D90B0A}"/>
              </a:ext>
            </a:extLst>
          </p:cNvPr>
          <p:cNvSpPr txBox="1">
            <a:spLocks noChangeArrowheads="1"/>
          </p:cNvSpPr>
          <p:nvPr/>
        </p:nvSpPr>
        <p:spPr>
          <a:xfrm>
            <a:off x="703714" y="772399"/>
            <a:ext cx="7296539" cy="1032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Aplicable si es Posible tener Retroalimentación del Resultado – </a:t>
            </a:r>
            <a:r>
              <a:rPr lang="es-CO" sz="1400" b="1">
                <a:solidFill>
                  <a:srgbClr val="7030A0"/>
                </a:solidFill>
              </a:rPr>
              <a:t>Q-</a:t>
            </a:r>
            <a:r>
              <a:rPr lang="es-CO" sz="1400" b="1" err="1">
                <a:solidFill>
                  <a:srgbClr val="7030A0"/>
                </a:solidFill>
              </a:rPr>
              <a:t>Learning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Refuerzo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requiere definir función de Recompensa Inmediata</a:t>
            </a:r>
          </a:p>
          <a:p>
            <a:pPr lvl="1"/>
            <a:r>
              <a:rPr lang="es-CO" sz="1400"/>
              <a:t>Recompensa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premio o castigo dependiendo del éxito/fracaso de una acción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A64FC89-7E51-4606-8678-4E9BD70D5E4E}"/>
              </a:ext>
            </a:extLst>
          </p:cNvPr>
          <p:cNvSpPr txBox="1">
            <a:spLocks noChangeArrowheads="1"/>
          </p:cNvSpPr>
          <p:nvPr/>
        </p:nvSpPr>
        <p:spPr>
          <a:xfrm>
            <a:off x="5824312" y="2310576"/>
            <a:ext cx="2361207" cy="9528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Solución “Política”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1B9D98A-A6BD-3452-8135-FEAB7778C75F}"/>
              </a:ext>
            </a:extLst>
          </p:cNvPr>
          <p:cNvSpPr txBox="1">
            <a:spLocks noChangeArrowheads="1"/>
          </p:cNvSpPr>
          <p:nvPr/>
        </p:nvSpPr>
        <p:spPr>
          <a:xfrm>
            <a:off x="5796342" y="3176349"/>
            <a:ext cx="2389178" cy="1348847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>
                <a:solidFill>
                  <a:srgbClr val="7030A0"/>
                </a:solidFill>
              </a:rPr>
              <a:t>Cómo dar Recompensas?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Contribución de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Cada Acción al 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Éxito/Fracaso</a:t>
            </a:r>
            <a:endParaRPr lang="es-CO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6FF7355-3A14-B623-140B-A17A01F2C581}"/>
              </a:ext>
            </a:extLst>
          </p:cNvPr>
          <p:cNvSpPr txBox="1"/>
          <p:nvPr/>
        </p:nvSpPr>
        <p:spPr>
          <a:xfrm>
            <a:off x="9405257" y="500120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B87E1AEB-C012-77AD-EE1B-5724DD87C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480" y="2033234"/>
            <a:ext cx="4584700" cy="3110266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s-ES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5B20DADC-F257-A974-4D92-A24627F104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258" y="2093323"/>
            <a:ext cx="0" cy="3140311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4" name="Line 8">
            <a:extLst>
              <a:ext uri="{FF2B5EF4-FFF2-40B4-BE49-F238E27FC236}">
                <a16:creationId xmlns:a16="http://schemas.microsoft.com/office/drawing/2014/main" id="{358E3956-799E-69A2-5EAF-4C0E689763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5704" y="2063279"/>
            <a:ext cx="0" cy="3140311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05E5344C-A849-E404-C2C8-E1A38FB7E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480" y="3574651"/>
            <a:ext cx="45847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6" name="Line 13">
            <a:extLst>
              <a:ext uri="{FF2B5EF4-FFF2-40B4-BE49-F238E27FC236}">
                <a16:creationId xmlns:a16="http://schemas.microsoft.com/office/drawing/2014/main" id="{F5F3055D-03D4-B8D5-2250-C36E3F0BF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1207" y="2857500"/>
            <a:ext cx="77810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7" name="Line 19">
            <a:extLst>
              <a:ext uri="{FF2B5EF4-FFF2-40B4-BE49-F238E27FC236}">
                <a16:creationId xmlns:a16="http://schemas.microsoft.com/office/drawing/2014/main" id="{A53A51C0-A1B5-A5A5-5AFC-4484DAA6B0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2268" y="3261919"/>
            <a:ext cx="0" cy="593054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8" name="Line 20">
            <a:extLst>
              <a:ext uri="{FF2B5EF4-FFF2-40B4-BE49-F238E27FC236}">
                <a16:creationId xmlns:a16="http://schemas.microsoft.com/office/drawing/2014/main" id="{FF8209B5-74ED-E24B-08EA-4BEC9C2404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14928" y="3293146"/>
            <a:ext cx="0" cy="563009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9" name="Text Box 22">
            <a:extLst>
              <a:ext uri="{FF2B5EF4-FFF2-40B4-BE49-F238E27FC236}">
                <a16:creationId xmlns:a16="http://schemas.microsoft.com/office/drawing/2014/main" id="{0D3DD862-FFAB-EA85-95C2-5256FDB7C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4673" y="2195451"/>
            <a:ext cx="6649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2000" b="1">
                <a:solidFill>
                  <a:srgbClr val="FFFF00"/>
                </a:solidFill>
                <a:latin typeface="Times New Roman" pitchFamily="18" charset="0"/>
              </a:rPr>
              <a:t>100</a:t>
            </a:r>
            <a:endParaRPr lang="es-ES" sz="2000" b="1">
              <a:solidFill>
                <a:srgbClr val="FFFF00"/>
              </a:solidFill>
              <a:latin typeface="Times New Roman" pitchFamily="18" charset="0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9997FEA9-CD27-2597-D04E-43B924640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621" y="4096373"/>
            <a:ext cx="366451" cy="52931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B3400D88-3882-37D7-6C37-67985D94A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621" y="2581084"/>
            <a:ext cx="366451" cy="529318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108F4ED-71E9-4651-AF99-428346F4F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771" y="2581084"/>
            <a:ext cx="366451" cy="52931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63075F98-D62F-3458-C110-8F87515EB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70" y="2734726"/>
            <a:ext cx="485517" cy="306338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0BB86B6A-57CE-7CEF-E18F-69AE360A0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901" y="2581084"/>
            <a:ext cx="366451" cy="529318"/>
          </a:xfrm>
          <a:prstGeom prst="rect">
            <a:avLst/>
          </a:prstGeom>
        </p:spPr>
      </p:pic>
      <p:sp>
        <p:nvSpPr>
          <p:cNvPr id="35" name="Text Box 22">
            <a:extLst>
              <a:ext uri="{FF2B5EF4-FFF2-40B4-BE49-F238E27FC236}">
                <a16:creationId xmlns:a16="http://schemas.microsoft.com/office/drawing/2014/main" id="{48BFB111-E72F-551A-2BB6-BE3CCBB8B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378" y="2236396"/>
            <a:ext cx="664947" cy="3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800" b="1">
                <a:solidFill>
                  <a:schemeClr val="bg1"/>
                </a:solidFill>
                <a:latin typeface="Times New Roman" pitchFamily="18" charset="0"/>
              </a:rPr>
              <a:t>63</a:t>
            </a:r>
            <a:endParaRPr lang="es-ES" sz="1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6" name="Text Box 22">
            <a:extLst>
              <a:ext uri="{FF2B5EF4-FFF2-40B4-BE49-F238E27FC236}">
                <a16:creationId xmlns:a16="http://schemas.microsoft.com/office/drawing/2014/main" id="{330A0D3C-E758-C893-D287-CBC1D1A44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378" y="4624054"/>
            <a:ext cx="664947" cy="3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800" b="1">
                <a:solidFill>
                  <a:schemeClr val="bg1"/>
                </a:solidFill>
                <a:latin typeface="Times New Roman" pitchFamily="18" charset="0"/>
              </a:rPr>
              <a:t>54</a:t>
            </a:r>
            <a:endParaRPr lang="es-ES" sz="1800" b="1">
              <a:solidFill>
                <a:schemeClr val="bg1"/>
              </a:solidFill>
              <a:latin typeface="Times New Roman" pitchFamily="18" charset="0"/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A28317E6-98B6-0C94-B3C0-EC9BF9BB2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771" y="4082568"/>
            <a:ext cx="366451" cy="529318"/>
          </a:xfrm>
          <a:prstGeom prst="rect">
            <a:avLst/>
          </a:prstGeom>
        </p:spPr>
      </p:pic>
      <p:sp>
        <p:nvSpPr>
          <p:cNvPr id="38" name="Line 13">
            <a:extLst>
              <a:ext uri="{FF2B5EF4-FFF2-40B4-BE49-F238E27FC236}">
                <a16:creationId xmlns:a16="http://schemas.microsoft.com/office/drawing/2014/main" id="{6A4A0898-E0F7-9249-0EE4-C3DBA7D44C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6281" y="4355108"/>
            <a:ext cx="77810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9091B9DD-44E0-989E-806E-6B3CE0888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845" y="4078692"/>
            <a:ext cx="366451" cy="529318"/>
          </a:xfrm>
          <a:prstGeom prst="rect">
            <a:avLst/>
          </a:prstGeom>
        </p:spPr>
      </p:pic>
      <p:sp>
        <p:nvSpPr>
          <p:cNvPr id="40" name="Line 20">
            <a:extLst>
              <a:ext uri="{FF2B5EF4-FFF2-40B4-BE49-F238E27FC236}">
                <a16:creationId xmlns:a16="http://schemas.microsoft.com/office/drawing/2014/main" id="{C0BF104E-A06A-0D84-F77F-075F2A31BA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34070" y="3293146"/>
            <a:ext cx="0" cy="563009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1" name="Text Box 22">
            <a:extLst>
              <a:ext uri="{FF2B5EF4-FFF2-40B4-BE49-F238E27FC236}">
                <a16:creationId xmlns:a16="http://schemas.microsoft.com/office/drawing/2014/main" id="{BEBB4CA9-670D-8B8A-AB6C-F6AC942D4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771" y="2236396"/>
            <a:ext cx="664947" cy="3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800" b="1">
                <a:solidFill>
                  <a:schemeClr val="bg1"/>
                </a:solidFill>
                <a:latin typeface="Times New Roman" pitchFamily="18" charset="0"/>
              </a:rPr>
              <a:t>72</a:t>
            </a:r>
            <a:endParaRPr lang="es-ES" sz="1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42" name="Text Box 22">
            <a:extLst>
              <a:ext uri="{FF2B5EF4-FFF2-40B4-BE49-F238E27FC236}">
                <a16:creationId xmlns:a16="http://schemas.microsoft.com/office/drawing/2014/main" id="{0B3B9EF9-00FD-4018-EE04-2B37AADD9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771" y="4624054"/>
            <a:ext cx="664947" cy="3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800" b="1">
                <a:solidFill>
                  <a:schemeClr val="bg1"/>
                </a:solidFill>
                <a:latin typeface="Times New Roman" pitchFamily="18" charset="0"/>
              </a:rPr>
              <a:t>81</a:t>
            </a:r>
            <a:endParaRPr lang="es-ES" sz="1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43" name="Text Box 22">
            <a:extLst>
              <a:ext uri="{FF2B5EF4-FFF2-40B4-BE49-F238E27FC236}">
                <a16:creationId xmlns:a16="http://schemas.microsoft.com/office/drawing/2014/main" id="{1358FC73-0B2A-8A3D-5AD3-634ED574A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9901" y="4624054"/>
            <a:ext cx="664947" cy="3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800" b="1">
                <a:solidFill>
                  <a:schemeClr val="bg1"/>
                </a:solidFill>
                <a:latin typeface="Times New Roman" pitchFamily="18" charset="0"/>
              </a:rPr>
              <a:t>90</a:t>
            </a:r>
            <a:endParaRPr lang="es-ES" sz="1800" b="1">
              <a:solidFill>
                <a:schemeClr val="bg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3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/>
      <p:bldP spid="35" grpId="0"/>
      <p:bldP spid="36" grpId="0"/>
      <p:bldP spid="38" grpId="0" animBg="1"/>
      <p:bldP spid="40" grpId="0" animBg="1"/>
      <p:bldP spid="41" grpId="0"/>
      <p:bldP spid="42" grpId="0"/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0D049794-28CB-3641-7D2F-7901E7A7B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A943E73B-05BF-A9CD-D71F-6C6502B135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Aprendizaje</a:t>
            </a:r>
            <a:r>
              <a:rPr lang="en"/>
              <a:t> </a:t>
            </a:r>
            <a:r>
              <a:rPr lang="en" err="1"/>
              <a:t>por</a:t>
            </a:r>
            <a:r>
              <a:rPr lang="en"/>
              <a:t> Refuerzo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31949750-544E-F5BC-BDCD-31A2AE095D9D}"/>
              </a:ext>
            </a:extLst>
          </p:cNvPr>
          <p:cNvSpPr txBox="1">
            <a:spLocks noChangeArrowheads="1"/>
          </p:cNvSpPr>
          <p:nvPr/>
        </p:nvSpPr>
        <p:spPr>
          <a:xfrm>
            <a:off x="703714" y="772399"/>
            <a:ext cx="7296539" cy="1032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Aplicable si es Posible tener Retroalimentación del Resultado – </a:t>
            </a:r>
            <a:r>
              <a:rPr lang="es-CO" sz="1400" b="1">
                <a:solidFill>
                  <a:srgbClr val="7030A0"/>
                </a:solidFill>
              </a:rPr>
              <a:t>Q-</a:t>
            </a:r>
            <a:r>
              <a:rPr lang="es-CO" sz="1400" b="1" err="1">
                <a:solidFill>
                  <a:srgbClr val="7030A0"/>
                </a:solidFill>
              </a:rPr>
              <a:t>Learning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Refuerzo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requiere definir función de Recompensa Inmediata</a:t>
            </a:r>
          </a:p>
          <a:p>
            <a:pPr lvl="1"/>
            <a:r>
              <a:rPr lang="es-CO" sz="1400"/>
              <a:t>Recompensa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premio o castigo dependiendo del éxito/fracaso de una acción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706C515-72EB-26A3-6AB0-05BAD37AD971}"/>
              </a:ext>
            </a:extLst>
          </p:cNvPr>
          <p:cNvSpPr txBox="1">
            <a:spLocks noChangeArrowheads="1"/>
          </p:cNvSpPr>
          <p:nvPr/>
        </p:nvSpPr>
        <p:spPr>
          <a:xfrm>
            <a:off x="5824312" y="2310576"/>
            <a:ext cx="2361207" cy="9528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Solución “Política”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565E374-747F-159D-F88C-1C78AD72B3BC}"/>
              </a:ext>
            </a:extLst>
          </p:cNvPr>
          <p:cNvSpPr txBox="1">
            <a:spLocks noChangeArrowheads="1"/>
          </p:cNvSpPr>
          <p:nvPr/>
        </p:nvSpPr>
        <p:spPr>
          <a:xfrm>
            <a:off x="5796342" y="3176349"/>
            <a:ext cx="2389178" cy="1348847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>
                <a:solidFill>
                  <a:srgbClr val="7030A0"/>
                </a:solidFill>
              </a:rPr>
              <a:t>Cómo dar Recompensas?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Contribución de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Cada Acción al 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Éxito/Fracaso</a:t>
            </a:r>
            <a:endParaRPr lang="es-CO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393C118-90A3-E500-6EAD-65AFCA5C1CA9}"/>
              </a:ext>
            </a:extLst>
          </p:cNvPr>
          <p:cNvSpPr txBox="1"/>
          <p:nvPr/>
        </p:nvSpPr>
        <p:spPr>
          <a:xfrm>
            <a:off x="9405257" y="500120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AD1DD141-EBAE-FD2F-B4F6-437F0021B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480" y="2033234"/>
            <a:ext cx="4584700" cy="3110266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s-ES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4ADF0CD7-E6E3-52A7-C1F9-D4038F1BF7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0258" y="2093323"/>
            <a:ext cx="0" cy="3140311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4" name="Line 8">
            <a:extLst>
              <a:ext uri="{FF2B5EF4-FFF2-40B4-BE49-F238E27FC236}">
                <a16:creationId xmlns:a16="http://schemas.microsoft.com/office/drawing/2014/main" id="{BEA8DB46-8889-1975-3C68-70D3E59D6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5704" y="2063279"/>
            <a:ext cx="0" cy="3140311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5" name="Line 9">
            <a:extLst>
              <a:ext uri="{FF2B5EF4-FFF2-40B4-BE49-F238E27FC236}">
                <a16:creationId xmlns:a16="http://schemas.microsoft.com/office/drawing/2014/main" id="{E5B5B955-E72D-3DF8-76D2-DFC4A267FC8E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480" y="3574651"/>
            <a:ext cx="45847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6" name="Line 13">
            <a:extLst>
              <a:ext uri="{FF2B5EF4-FFF2-40B4-BE49-F238E27FC236}">
                <a16:creationId xmlns:a16="http://schemas.microsoft.com/office/drawing/2014/main" id="{B957F891-338C-A08E-0A2E-FB60BF8210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1207" y="2857500"/>
            <a:ext cx="77810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7" name="Line 19">
            <a:extLst>
              <a:ext uri="{FF2B5EF4-FFF2-40B4-BE49-F238E27FC236}">
                <a16:creationId xmlns:a16="http://schemas.microsoft.com/office/drawing/2014/main" id="{59DE2A45-4734-BE73-5BE4-6B6539D2DE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02268" y="3261919"/>
            <a:ext cx="0" cy="593054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8" name="Line 20">
            <a:extLst>
              <a:ext uri="{FF2B5EF4-FFF2-40B4-BE49-F238E27FC236}">
                <a16:creationId xmlns:a16="http://schemas.microsoft.com/office/drawing/2014/main" id="{BFA677FF-20D6-DD3B-E74E-D0366F16B5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14928" y="3293146"/>
            <a:ext cx="0" cy="563009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9" name="Text Box 22">
            <a:extLst>
              <a:ext uri="{FF2B5EF4-FFF2-40B4-BE49-F238E27FC236}">
                <a16:creationId xmlns:a16="http://schemas.microsoft.com/office/drawing/2014/main" id="{07EE77BB-73A8-6CDC-B8AD-5F09C83CA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4673" y="2195451"/>
            <a:ext cx="6649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2000" b="1">
                <a:solidFill>
                  <a:srgbClr val="FFFF00"/>
                </a:solidFill>
                <a:latin typeface="Times New Roman" pitchFamily="18" charset="0"/>
              </a:rPr>
              <a:t>100</a:t>
            </a:r>
            <a:endParaRPr lang="es-ES" sz="2000" b="1">
              <a:solidFill>
                <a:srgbClr val="FFFF00"/>
              </a:solidFill>
              <a:latin typeface="Times New Roman" pitchFamily="18" charset="0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194DAD04-A7BB-8A72-28EE-BF16A9A24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621" y="4096373"/>
            <a:ext cx="366451" cy="52931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8C344ACE-B64C-3F49-235A-78DA51EF8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621" y="2581084"/>
            <a:ext cx="366451" cy="529318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0DE6630B-1D6F-E6D8-27E0-499ACE107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771" y="2581084"/>
            <a:ext cx="366451" cy="52931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8BE6C07-DA6A-7E19-24BA-D2A7CB903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070" y="2734726"/>
            <a:ext cx="485517" cy="306338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7007F56-AF98-61B4-4F58-FB73C1360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901" y="2581084"/>
            <a:ext cx="366451" cy="529318"/>
          </a:xfrm>
          <a:prstGeom prst="rect">
            <a:avLst/>
          </a:prstGeom>
        </p:spPr>
      </p:pic>
      <p:sp>
        <p:nvSpPr>
          <p:cNvPr id="35" name="Text Box 22">
            <a:extLst>
              <a:ext uri="{FF2B5EF4-FFF2-40B4-BE49-F238E27FC236}">
                <a16:creationId xmlns:a16="http://schemas.microsoft.com/office/drawing/2014/main" id="{52D78575-E343-6BA3-8E21-089BD51EA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378" y="2236396"/>
            <a:ext cx="664947" cy="3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800" b="1">
                <a:solidFill>
                  <a:schemeClr val="bg1"/>
                </a:solidFill>
                <a:latin typeface="Times New Roman" pitchFamily="18" charset="0"/>
              </a:rPr>
              <a:t>63</a:t>
            </a:r>
            <a:endParaRPr lang="es-ES" sz="1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6" name="Text Box 22">
            <a:extLst>
              <a:ext uri="{FF2B5EF4-FFF2-40B4-BE49-F238E27FC236}">
                <a16:creationId xmlns:a16="http://schemas.microsoft.com/office/drawing/2014/main" id="{69C589EB-D295-1467-AAB2-EF625425F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378" y="4624054"/>
            <a:ext cx="664947" cy="3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800" b="1">
                <a:solidFill>
                  <a:schemeClr val="bg1"/>
                </a:solidFill>
                <a:latin typeface="Times New Roman" pitchFamily="18" charset="0"/>
              </a:rPr>
              <a:t>54</a:t>
            </a:r>
            <a:endParaRPr lang="es-ES" sz="1800" b="1">
              <a:solidFill>
                <a:schemeClr val="bg1"/>
              </a:solidFill>
              <a:latin typeface="Times New Roman" pitchFamily="18" charset="0"/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EDFBEFE8-FAE3-2500-7426-93FDE3466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771" y="4082568"/>
            <a:ext cx="366451" cy="529318"/>
          </a:xfrm>
          <a:prstGeom prst="rect">
            <a:avLst/>
          </a:prstGeom>
        </p:spPr>
      </p:pic>
      <p:sp>
        <p:nvSpPr>
          <p:cNvPr id="38" name="Line 13">
            <a:extLst>
              <a:ext uri="{FF2B5EF4-FFF2-40B4-BE49-F238E27FC236}">
                <a16:creationId xmlns:a16="http://schemas.microsoft.com/office/drawing/2014/main" id="{94DF28E2-3806-B876-3CF0-82CF57D2C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6281" y="4355108"/>
            <a:ext cx="778102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DEBED6AE-D5FD-75DD-5DF8-2542787F1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845" y="4078692"/>
            <a:ext cx="366451" cy="529318"/>
          </a:xfrm>
          <a:prstGeom prst="rect">
            <a:avLst/>
          </a:prstGeom>
        </p:spPr>
      </p:pic>
      <p:sp>
        <p:nvSpPr>
          <p:cNvPr id="40" name="Line 20">
            <a:extLst>
              <a:ext uri="{FF2B5EF4-FFF2-40B4-BE49-F238E27FC236}">
                <a16:creationId xmlns:a16="http://schemas.microsoft.com/office/drawing/2014/main" id="{8C371A89-1599-2134-F8E9-5586EC709F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34070" y="3293146"/>
            <a:ext cx="0" cy="563009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41" name="Text Box 22">
            <a:extLst>
              <a:ext uri="{FF2B5EF4-FFF2-40B4-BE49-F238E27FC236}">
                <a16:creationId xmlns:a16="http://schemas.microsoft.com/office/drawing/2014/main" id="{AF3E077B-959B-BDE0-F159-1F55F8E02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771" y="2236396"/>
            <a:ext cx="664947" cy="3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800" b="1">
                <a:solidFill>
                  <a:schemeClr val="bg1"/>
                </a:solidFill>
                <a:latin typeface="Times New Roman" pitchFamily="18" charset="0"/>
              </a:rPr>
              <a:t>72</a:t>
            </a:r>
            <a:endParaRPr lang="es-ES" sz="1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42" name="Text Box 22">
            <a:extLst>
              <a:ext uri="{FF2B5EF4-FFF2-40B4-BE49-F238E27FC236}">
                <a16:creationId xmlns:a16="http://schemas.microsoft.com/office/drawing/2014/main" id="{6C6725DB-505A-AB5C-5835-9E8EAA6A5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771" y="4624054"/>
            <a:ext cx="664947" cy="3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800" b="1">
                <a:solidFill>
                  <a:schemeClr val="bg1"/>
                </a:solidFill>
                <a:latin typeface="Times New Roman" pitchFamily="18" charset="0"/>
              </a:rPr>
              <a:t>81</a:t>
            </a:r>
            <a:endParaRPr lang="es-ES" sz="1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43" name="Text Box 22">
            <a:extLst>
              <a:ext uri="{FF2B5EF4-FFF2-40B4-BE49-F238E27FC236}">
                <a16:creationId xmlns:a16="http://schemas.microsoft.com/office/drawing/2014/main" id="{653B1C59-9309-C95F-4FFE-A0E768860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9901" y="4624054"/>
            <a:ext cx="664947" cy="369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800" b="1">
                <a:solidFill>
                  <a:schemeClr val="bg1"/>
                </a:solidFill>
                <a:latin typeface="Times New Roman" pitchFamily="18" charset="0"/>
              </a:rPr>
              <a:t>90</a:t>
            </a:r>
            <a:endParaRPr lang="es-ES" sz="1800" b="1">
              <a:solidFill>
                <a:schemeClr val="bg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28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/>
      <p:bldP spid="35" grpId="0"/>
      <p:bldP spid="36" grpId="0"/>
      <p:bldP spid="38" grpId="0" animBg="1"/>
      <p:bldP spid="40" grpId="0" animBg="1"/>
      <p:bldP spid="41" grpId="0"/>
      <p:bldP spid="42" grpId="0"/>
      <p:bldP spid="4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D2AFAD45-25C6-3116-E888-3AE0062BC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FFCA43F2-D2AC-DF36-547C-88A3C08F3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Aprendizaje</a:t>
            </a:r>
            <a:r>
              <a:rPr lang="en"/>
              <a:t> </a:t>
            </a:r>
            <a:r>
              <a:rPr lang="en" err="1"/>
              <a:t>por</a:t>
            </a:r>
            <a:r>
              <a:rPr lang="en"/>
              <a:t> Refuerzo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3B09C348-3AD2-77E0-051E-7ED54FF2D6A4}"/>
              </a:ext>
            </a:extLst>
          </p:cNvPr>
          <p:cNvSpPr txBox="1">
            <a:spLocks noChangeArrowheads="1"/>
          </p:cNvSpPr>
          <p:nvPr/>
        </p:nvSpPr>
        <p:spPr>
          <a:xfrm>
            <a:off x="703714" y="772399"/>
            <a:ext cx="7296539" cy="1032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Aplicable si es Posible tener Retroalimentación del Resultado – </a:t>
            </a:r>
            <a:r>
              <a:rPr lang="es-CO" sz="1400" b="1">
                <a:solidFill>
                  <a:srgbClr val="7030A0"/>
                </a:solidFill>
              </a:rPr>
              <a:t>Q-</a:t>
            </a:r>
            <a:r>
              <a:rPr lang="es-CO" sz="1400" b="1" err="1">
                <a:solidFill>
                  <a:srgbClr val="7030A0"/>
                </a:solidFill>
              </a:rPr>
              <a:t>Learning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Refuerzo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requiere definir función de Recompensa Inmediata</a:t>
            </a:r>
          </a:p>
          <a:p>
            <a:pPr lvl="1"/>
            <a:r>
              <a:rPr lang="es-CO" sz="1400"/>
              <a:t>Recompensa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premio o castigo dependiendo del éxito/fracaso de una acción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D76BBF4-2B04-6763-818B-1BDF16DC9821}"/>
              </a:ext>
            </a:extLst>
          </p:cNvPr>
          <p:cNvSpPr txBox="1">
            <a:spLocks noChangeArrowheads="1"/>
          </p:cNvSpPr>
          <p:nvPr/>
        </p:nvSpPr>
        <p:spPr>
          <a:xfrm>
            <a:off x="5824312" y="2310576"/>
            <a:ext cx="2361207" cy="9528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Solución “Política”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F800F41B-A5CB-764A-F683-2C7842FA261D}"/>
              </a:ext>
            </a:extLst>
          </p:cNvPr>
          <p:cNvSpPr txBox="1">
            <a:spLocks noChangeArrowheads="1"/>
          </p:cNvSpPr>
          <p:nvPr/>
        </p:nvSpPr>
        <p:spPr>
          <a:xfrm>
            <a:off x="5796342" y="3176349"/>
            <a:ext cx="2389178" cy="1348847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b="1">
                <a:solidFill>
                  <a:srgbClr val="0070C0"/>
                </a:solidFill>
              </a:rPr>
              <a:t>Función de Valor</a:t>
            </a:r>
          </a:p>
          <a:p>
            <a:pPr marL="0" indent="0" algn="ctr">
              <a:buNone/>
            </a:pPr>
            <a:r>
              <a:rPr lang="es-ES" sz="1400">
                <a:solidFill>
                  <a:srgbClr val="7030A0"/>
                </a:solidFill>
              </a:rPr>
              <a:t>Qué Acción es Mejor?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Acción que lleva al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Estado de Mejor Valor</a:t>
            </a:r>
            <a:endParaRPr lang="es-CO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0F668CE-49B5-A208-4C63-50AC11DE0A03}"/>
              </a:ext>
            </a:extLst>
          </p:cNvPr>
          <p:cNvSpPr txBox="1"/>
          <p:nvPr/>
        </p:nvSpPr>
        <p:spPr>
          <a:xfrm>
            <a:off x="9405257" y="500120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/>
          </a:p>
        </p:txBody>
      </p:sp>
      <p:grpSp>
        <p:nvGrpSpPr>
          <p:cNvPr id="4" name="Group 30">
            <a:extLst>
              <a:ext uri="{FF2B5EF4-FFF2-40B4-BE49-F238E27FC236}">
                <a16:creationId xmlns:a16="http://schemas.microsoft.com/office/drawing/2014/main" id="{CDF0E882-0D57-CBD5-D299-1760C74889AC}"/>
              </a:ext>
            </a:extLst>
          </p:cNvPr>
          <p:cNvGrpSpPr>
            <a:grpSpLocks/>
          </p:cNvGrpSpPr>
          <p:nvPr/>
        </p:nvGrpSpPr>
        <p:grpSpPr bwMode="auto">
          <a:xfrm>
            <a:off x="646373" y="1830559"/>
            <a:ext cx="5149969" cy="3312941"/>
            <a:chOff x="1043" y="822"/>
            <a:chExt cx="3606" cy="2450"/>
          </a:xfrm>
        </p:grpSpPr>
        <p:sp>
          <p:nvSpPr>
            <p:cNvPr id="5" name="Rectangle 31">
              <a:extLst>
                <a:ext uri="{FF2B5EF4-FFF2-40B4-BE49-F238E27FC236}">
                  <a16:creationId xmlns:a16="http://schemas.microsoft.com/office/drawing/2014/main" id="{8F8AF633-6EB3-F596-6C1B-26EC01742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822"/>
              <a:ext cx="3606" cy="238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s-ES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6" name="Line 32">
              <a:extLst>
                <a:ext uri="{FF2B5EF4-FFF2-40B4-BE49-F238E27FC236}">
                  <a16:creationId xmlns:a16="http://schemas.microsoft.com/office/drawing/2014/main" id="{15F727AB-149C-8C41-B3E8-C1C7C3F1B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7" y="868"/>
              <a:ext cx="0" cy="240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Line 33">
              <a:extLst>
                <a:ext uri="{FF2B5EF4-FFF2-40B4-BE49-F238E27FC236}">
                  <a16:creationId xmlns:a16="http://schemas.microsoft.com/office/drawing/2014/main" id="{FB6D8D8F-3CE7-CE80-9109-D67FDB580E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845"/>
              <a:ext cx="0" cy="240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Line 34">
              <a:extLst>
                <a:ext uri="{FF2B5EF4-FFF2-40B4-BE49-F238E27FC236}">
                  <a16:creationId xmlns:a16="http://schemas.microsoft.com/office/drawing/2014/main" id="{8D68FD3D-7FF9-D6E7-E9A5-BD0D616B4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3" y="2002"/>
              <a:ext cx="360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Text Box 35">
              <a:extLst>
                <a:ext uri="{FF2B5EF4-FFF2-40B4-BE49-F238E27FC236}">
                  <a16:creationId xmlns:a16="http://schemas.microsoft.com/office/drawing/2014/main" id="{C030E260-4802-7D2F-98C0-6D1ACB990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9" y="1300"/>
              <a:ext cx="704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>
                  <a:solidFill>
                    <a:srgbClr val="FFFF00"/>
                  </a:solidFill>
                  <a:latin typeface="Lucida Console" pitchFamily="49" charset="0"/>
                </a:rPr>
                <a:t>Meta</a:t>
              </a:r>
              <a:endParaRPr lang="es-ES">
                <a:solidFill>
                  <a:srgbClr val="FFFF00"/>
                </a:solidFill>
                <a:latin typeface="Lucida Console" pitchFamily="49" charset="0"/>
              </a:endParaRPr>
            </a:p>
          </p:txBody>
        </p:sp>
        <p:sp>
          <p:nvSpPr>
            <p:cNvPr id="13" name="Line 36">
              <a:extLst>
                <a:ext uri="{FF2B5EF4-FFF2-40B4-BE49-F238E27FC236}">
                  <a16:creationId xmlns:a16="http://schemas.microsoft.com/office/drawing/2014/main" id="{B7288ACC-0C1F-3CCA-C82B-E0AAC1CFF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503"/>
              <a:ext cx="6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Line 37">
              <a:extLst>
                <a:ext uri="{FF2B5EF4-FFF2-40B4-BE49-F238E27FC236}">
                  <a16:creationId xmlns:a16="http://schemas.microsoft.com/office/drawing/2014/main" id="{3FEB4560-0AB4-52E4-617E-7AE846D12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4" y="1525"/>
              <a:ext cx="6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Line 38">
              <a:extLst>
                <a:ext uri="{FF2B5EF4-FFF2-40B4-BE49-F238E27FC236}">
                  <a16:creationId xmlns:a16="http://schemas.microsoft.com/office/drawing/2014/main" id="{916455E1-E52F-C3DB-E8D0-C90B78EA4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4" y="2637"/>
              <a:ext cx="6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Line 39">
              <a:extLst>
                <a:ext uri="{FF2B5EF4-FFF2-40B4-BE49-F238E27FC236}">
                  <a16:creationId xmlns:a16="http://schemas.microsoft.com/office/drawing/2014/main" id="{164D69BD-872E-801B-7586-267134078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4" y="2637"/>
              <a:ext cx="6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Line 40">
              <a:extLst>
                <a:ext uri="{FF2B5EF4-FFF2-40B4-BE49-F238E27FC236}">
                  <a16:creationId xmlns:a16="http://schemas.microsoft.com/office/drawing/2014/main" id="{10E69BA2-1DC5-E13B-747B-E2F7A28B7C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7" y="1775"/>
              <a:ext cx="0" cy="47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Line 41">
              <a:extLst>
                <a:ext uri="{FF2B5EF4-FFF2-40B4-BE49-F238E27FC236}">
                  <a16:creationId xmlns:a16="http://schemas.microsoft.com/office/drawing/2014/main" id="{D1DCBCAA-6083-F734-1C64-A6FD7791F7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01" y="1752"/>
              <a:ext cx="56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Line 42">
              <a:extLst>
                <a:ext uri="{FF2B5EF4-FFF2-40B4-BE49-F238E27FC236}">
                  <a16:creationId xmlns:a16="http://schemas.microsoft.com/office/drawing/2014/main" id="{557282EB-8217-DC62-A66B-4CACB49F9A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1" y="2864"/>
              <a:ext cx="56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Line 43">
              <a:extLst>
                <a:ext uri="{FF2B5EF4-FFF2-40B4-BE49-F238E27FC236}">
                  <a16:creationId xmlns:a16="http://schemas.microsoft.com/office/drawing/2014/main" id="{443207E4-53EB-45B0-477D-24E81309C6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14" y="2864"/>
              <a:ext cx="56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Line 44">
              <a:extLst>
                <a:ext uri="{FF2B5EF4-FFF2-40B4-BE49-F238E27FC236}">
                  <a16:creationId xmlns:a16="http://schemas.microsoft.com/office/drawing/2014/main" id="{5321BC58-8799-92C1-2CE0-9797E16524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3" y="1843"/>
              <a:ext cx="0" cy="45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Line 45">
              <a:extLst>
                <a:ext uri="{FF2B5EF4-FFF2-40B4-BE49-F238E27FC236}">
                  <a16:creationId xmlns:a16="http://schemas.microsoft.com/office/drawing/2014/main" id="{3FCEC7D8-D29D-E966-B364-E519A2A01D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90" y="1843"/>
              <a:ext cx="0" cy="43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4" name="Text Box 46">
              <a:extLst>
                <a:ext uri="{FF2B5EF4-FFF2-40B4-BE49-F238E27FC236}">
                  <a16:creationId xmlns:a16="http://schemas.microsoft.com/office/drawing/2014/main" id="{4151DBD1-3CCF-500B-CA4C-AB0183038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" y="2615"/>
              <a:ext cx="40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800">
                  <a:solidFill>
                    <a:schemeClr val="bg1"/>
                  </a:solidFill>
                  <a:latin typeface="Times New Roman" pitchFamily="18" charset="0"/>
                </a:rPr>
                <a:t>100</a:t>
              </a:r>
              <a:endParaRPr lang="es-ES" sz="18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5" name="Text Box 47">
              <a:extLst>
                <a:ext uri="{FF2B5EF4-FFF2-40B4-BE49-F238E27FC236}">
                  <a16:creationId xmlns:a16="http://schemas.microsoft.com/office/drawing/2014/main" id="{699F1438-9CE1-3CD0-89D8-141434AFA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" y="1479"/>
              <a:ext cx="408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800">
                  <a:solidFill>
                    <a:schemeClr val="bg1"/>
                  </a:solidFill>
                  <a:latin typeface="Times New Roman" pitchFamily="18" charset="0"/>
                </a:rPr>
                <a:t>100</a:t>
              </a:r>
              <a:endParaRPr lang="es-ES" sz="18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6" name="Text Box 48">
              <a:extLst>
                <a:ext uri="{FF2B5EF4-FFF2-40B4-BE49-F238E27FC236}">
                  <a16:creationId xmlns:a16="http://schemas.microsoft.com/office/drawing/2014/main" id="{E4082D26-DA11-26F8-FD13-4BCA1BFA45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" y="2636"/>
              <a:ext cx="407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800">
                  <a:solidFill>
                    <a:schemeClr val="bg1"/>
                  </a:solidFill>
                  <a:latin typeface="Times New Roman" pitchFamily="18" charset="0"/>
                </a:rPr>
                <a:t>81</a:t>
              </a:r>
              <a:endParaRPr lang="es-ES" sz="18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7" name="Text Box 49">
              <a:extLst>
                <a:ext uri="{FF2B5EF4-FFF2-40B4-BE49-F238E27FC236}">
                  <a16:creationId xmlns:a16="http://schemas.microsoft.com/office/drawing/2014/main" id="{0BBA11D4-1E51-97B2-1473-87AAFFBA9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639"/>
              <a:ext cx="40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800">
                  <a:solidFill>
                    <a:schemeClr val="bg1"/>
                  </a:solidFill>
                  <a:latin typeface="Times New Roman" pitchFamily="18" charset="0"/>
                </a:rPr>
                <a:t>0</a:t>
              </a:r>
              <a:endParaRPr lang="es-ES" sz="18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8" name="Text Box 50">
              <a:extLst>
                <a:ext uri="{FF2B5EF4-FFF2-40B4-BE49-F238E27FC236}">
                  <a16:creationId xmlns:a16="http://schemas.microsoft.com/office/drawing/2014/main" id="{28555248-B746-7DE5-97F0-9FDB46805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" y="1503"/>
              <a:ext cx="40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800">
                  <a:solidFill>
                    <a:schemeClr val="bg1"/>
                  </a:solidFill>
                  <a:latin typeface="Times New Roman" pitchFamily="18" charset="0"/>
                </a:rPr>
                <a:t>90</a:t>
              </a:r>
              <a:endParaRPr lang="es-ES" sz="18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9" name="Text Box 51">
              <a:extLst>
                <a:ext uri="{FF2B5EF4-FFF2-40B4-BE49-F238E27FC236}">
                  <a16:creationId xmlns:a16="http://schemas.microsoft.com/office/drawing/2014/main" id="{7F8AF908-FE9D-FD45-73BA-F0E333728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" y="2591"/>
              <a:ext cx="407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800">
                  <a:solidFill>
                    <a:schemeClr val="bg1"/>
                  </a:solidFill>
                  <a:latin typeface="Times New Roman" pitchFamily="18" charset="0"/>
                </a:rPr>
                <a:t>90</a:t>
              </a:r>
              <a:endParaRPr lang="es-ES" sz="18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0647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52C4C840-D77E-86B4-FCE3-6C4B411EF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7569E838-DAE3-C90E-DC06-9D3480DA47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Aprendizaje</a:t>
            </a:r>
            <a:r>
              <a:rPr lang="en"/>
              <a:t> </a:t>
            </a:r>
            <a:r>
              <a:rPr lang="en" err="1"/>
              <a:t>por</a:t>
            </a:r>
            <a:r>
              <a:rPr lang="en"/>
              <a:t> Refuerzo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1A3AFD9-DEB6-EFB7-4A61-98201123ACAB}"/>
              </a:ext>
            </a:extLst>
          </p:cNvPr>
          <p:cNvSpPr txBox="1">
            <a:spLocks noChangeArrowheads="1"/>
          </p:cNvSpPr>
          <p:nvPr/>
        </p:nvSpPr>
        <p:spPr>
          <a:xfrm>
            <a:off x="703714" y="772399"/>
            <a:ext cx="7296539" cy="1032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Aplicable si es Posible tener Retroalimentación del Resultado – </a:t>
            </a:r>
            <a:r>
              <a:rPr lang="es-CO" sz="1400" b="1">
                <a:solidFill>
                  <a:srgbClr val="7030A0"/>
                </a:solidFill>
              </a:rPr>
              <a:t>Q-</a:t>
            </a:r>
            <a:r>
              <a:rPr lang="es-CO" sz="1400" b="1" err="1">
                <a:solidFill>
                  <a:srgbClr val="7030A0"/>
                </a:solidFill>
              </a:rPr>
              <a:t>Learning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Refuerzo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requiere definir función de Recompensa Inmediata</a:t>
            </a:r>
          </a:p>
          <a:p>
            <a:pPr lvl="1"/>
            <a:r>
              <a:rPr lang="es-CO" sz="1400"/>
              <a:t>Recompensa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premio o castigo dependiendo del éxito/fracaso de una acción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B2CFCB2-C017-5925-4F57-811E4A05DD3D}"/>
              </a:ext>
            </a:extLst>
          </p:cNvPr>
          <p:cNvSpPr txBox="1">
            <a:spLocks noChangeArrowheads="1"/>
          </p:cNvSpPr>
          <p:nvPr/>
        </p:nvSpPr>
        <p:spPr>
          <a:xfrm>
            <a:off x="5824312" y="2310576"/>
            <a:ext cx="2361207" cy="9528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Solución “Política”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C4BA296B-B608-E197-C8B6-48103D7A81F9}"/>
              </a:ext>
            </a:extLst>
          </p:cNvPr>
          <p:cNvSpPr txBox="1">
            <a:spLocks noChangeArrowheads="1"/>
          </p:cNvSpPr>
          <p:nvPr/>
        </p:nvSpPr>
        <p:spPr>
          <a:xfrm>
            <a:off x="5796342" y="3176349"/>
            <a:ext cx="2389178" cy="1348847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>
                <a:solidFill>
                  <a:srgbClr val="7030A0"/>
                </a:solidFill>
              </a:rPr>
              <a:t>Cómo dar Recompensas?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Detección INMEDIATA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del </a:t>
            </a:r>
            <a:r>
              <a:rPr lang="es-ES" sz="1400" err="1">
                <a:solidFill>
                  <a:schemeClr val="accent1">
                    <a:lumMod val="75000"/>
                  </a:schemeClr>
                </a:solidFill>
              </a:rPr>
              <a:t>Exito</a:t>
            </a: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/Fracaso con los “sensores”</a:t>
            </a:r>
            <a:endParaRPr lang="es-CO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F8A96B8-67CC-8FA1-BA77-405818C8302D}"/>
              </a:ext>
            </a:extLst>
          </p:cNvPr>
          <p:cNvSpPr txBox="1"/>
          <p:nvPr/>
        </p:nvSpPr>
        <p:spPr>
          <a:xfrm>
            <a:off x="9405257" y="500120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/>
          </a:p>
        </p:txBody>
      </p:sp>
      <p:grpSp>
        <p:nvGrpSpPr>
          <p:cNvPr id="4" name="Group 30">
            <a:extLst>
              <a:ext uri="{FF2B5EF4-FFF2-40B4-BE49-F238E27FC236}">
                <a16:creationId xmlns:a16="http://schemas.microsoft.com/office/drawing/2014/main" id="{27A30154-04CA-1560-E1A9-A90948BBD3E0}"/>
              </a:ext>
            </a:extLst>
          </p:cNvPr>
          <p:cNvGrpSpPr>
            <a:grpSpLocks/>
          </p:cNvGrpSpPr>
          <p:nvPr/>
        </p:nvGrpSpPr>
        <p:grpSpPr bwMode="auto">
          <a:xfrm>
            <a:off x="646373" y="1830559"/>
            <a:ext cx="5149969" cy="3312941"/>
            <a:chOff x="1043" y="822"/>
            <a:chExt cx="3606" cy="2450"/>
          </a:xfrm>
        </p:grpSpPr>
        <p:sp>
          <p:nvSpPr>
            <p:cNvPr id="5" name="Rectangle 31">
              <a:extLst>
                <a:ext uri="{FF2B5EF4-FFF2-40B4-BE49-F238E27FC236}">
                  <a16:creationId xmlns:a16="http://schemas.microsoft.com/office/drawing/2014/main" id="{F3962C5A-381D-6610-65E8-8AA095C9F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822"/>
              <a:ext cx="3606" cy="238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s-ES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6" name="Line 32">
              <a:extLst>
                <a:ext uri="{FF2B5EF4-FFF2-40B4-BE49-F238E27FC236}">
                  <a16:creationId xmlns:a16="http://schemas.microsoft.com/office/drawing/2014/main" id="{24619DB4-CDEA-D246-CA47-D2CA470D5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7" y="868"/>
              <a:ext cx="0" cy="240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Line 33">
              <a:extLst>
                <a:ext uri="{FF2B5EF4-FFF2-40B4-BE49-F238E27FC236}">
                  <a16:creationId xmlns:a16="http://schemas.microsoft.com/office/drawing/2014/main" id="{823A4A91-F889-060E-4346-9F588B188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845"/>
              <a:ext cx="0" cy="240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Line 34">
              <a:extLst>
                <a:ext uri="{FF2B5EF4-FFF2-40B4-BE49-F238E27FC236}">
                  <a16:creationId xmlns:a16="http://schemas.microsoft.com/office/drawing/2014/main" id="{1A8F9312-C82D-E97F-C752-374E9CEEA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3" y="2002"/>
              <a:ext cx="360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Text Box 35">
              <a:extLst>
                <a:ext uri="{FF2B5EF4-FFF2-40B4-BE49-F238E27FC236}">
                  <a16:creationId xmlns:a16="http://schemas.microsoft.com/office/drawing/2014/main" id="{B7489ABE-ABCB-0374-54F9-C3427E0BA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9" y="1300"/>
              <a:ext cx="704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>
                  <a:solidFill>
                    <a:srgbClr val="FFFF00"/>
                  </a:solidFill>
                  <a:latin typeface="Lucida Console" pitchFamily="49" charset="0"/>
                </a:rPr>
                <a:t>Meta</a:t>
              </a:r>
              <a:endParaRPr lang="es-ES">
                <a:solidFill>
                  <a:srgbClr val="FFFF00"/>
                </a:solidFill>
                <a:latin typeface="Lucida Console" pitchFamily="49" charset="0"/>
              </a:endParaRPr>
            </a:p>
          </p:txBody>
        </p:sp>
        <p:sp>
          <p:nvSpPr>
            <p:cNvPr id="13" name="Line 36">
              <a:extLst>
                <a:ext uri="{FF2B5EF4-FFF2-40B4-BE49-F238E27FC236}">
                  <a16:creationId xmlns:a16="http://schemas.microsoft.com/office/drawing/2014/main" id="{28972DE2-6991-55D4-04FA-E2643D802F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503"/>
              <a:ext cx="6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Line 37">
              <a:extLst>
                <a:ext uri="{FF2B5EF4-FFF2-40B4-BE49-F238E27FC236}">
                  <a16:creationId xmlns:a16="http://schemas.microsoft.com/office/drawing/2014/main" id="{172ACEA1-4AE8-82BE-C85D-B38FCC932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4" y="1525"/>
              <a:ext cx="6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Line 38">
              <a:extLst>
                <a:ext uri="{FF2B5EF4-FFF2-40B4-BE49-F238E27FC236}">
                  <a16:creationId xmlns:a16="http://schemas.microsoft.com/office/drawing/2014/main" id="{A76134F3-1047-F037-7911-D8ECA07F1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4" y="2637"/>
              <a:ext cx="6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Line 39">
              <a:extLst>
                <a:ext uri="{FF2B5EF4-FFF2-40B4-BE49-F238E27FC236}">
                  <a16:creationId xmlns:a16="http://schemas.microsoft.com/office/drawing/2014/main" id="{82C700DF-B340-7797-B5B9-4F32A053CB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4" y="2637"/>
              <a:ext cx="6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Line 40">
              <a:extLst>
                <a:ext uri="{FF2B5EF4-FFF2-40B4-BE49-F238E27FC236}">
                  <a16:creationId xmlns:a16="http://schemas.microsoft.com/office/drawing/2014/main" id="{E7DFE874-769F-CBAC-6D75-00D3D8DDC1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7" y="1775"/>
              <a:ext cx="0" cy="47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Line 41">
              <a:extLst>
                <a:ext uri="{FF2B5EF4-FFF2-40B4-BE49-F238E27FC236}">
                  <a16:creationId xmlns:a16="http://schemas.microsoft.com/office/drawing/2014/main" id="{B0F4F509-EBB7-3B8B-2F57-C33F5D500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01" y="1752"/>
              <a:ext cx="56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Line 42">
              <a:extLst>
                <a:ext uri="{FF2B5EF4-FFF2-40B4-BE49-F238E27FC236}">
                  <a16:creationId xmlns:a16="http://schemas.microsoft.com/office/drawing/2014/main" id="{F9BF80CB-6FC2-0115-30E8-1F2BB8975C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1" y="2864"/>
              <a:ext cx="56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Line 43">
              <a:extLst>
                <a:ext uri="{FF2B5EF4-FFF2-40B4-BE49-F238E27FC236}">
                  <a16:creationId xmlns:a16="http://schemas.microsoft.com/office/drawing/2014/main" id="{CD8D9889-8D94-6366-F846-7185125BA4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14" y="2864"/>
              <a:ext cx="56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Line 44">
              <a:extLst>
                <a:ext uri="{FF2B5EF4-FFF2-40B4-BE49-F238E27FC236}">
                  <a16:creationId xmlns:a16="http://schemas.microsoft.com/office/drawing/2014/main" id="{CF90D5A9-93FA-520F-49C7-2446FAF78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3" y="1843"/>
              <a:ext cx="0" cy="45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Line 45">
              <a:extLst>
                <a:ext uri="{FF2B5EF4-FFF2-40B4-BE49-F238E27FC236}">
                  <a16:creationId xmlns:a16="http://schemas.microsoft.com/office/drawing/2014/main" id="{01E9F584-E505-61D1-A220-E71EF0CD01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90" y="1843"/>
              <a:ext cx="0" cy="43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4" name="Text Box 46">
              <a:extLst>
                <a:ext uri="{FF2B5EF4-FFF2-40B4-BE49-F238E27FC236}">
                  <a16:creationId xmlns:a16="http://schemas.microsoft.com/office/drawing/2014/main" id="{007F5398-75B8-EA5C-D162-43CF58353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" y="2615"/>
              <a:ext cx="40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800">
                  <a:solidFill>
                    <a:schemeClr val="bg1"/>
                  </a:solidFill>
                  <a:latin typeface="Times New Roman" pitchFamily="18" charset="0"/>
                </a:rPr>
                <a:t>100</a:t>
              </a:r>
              <a:endParaRPr lang="es-ES" sz="18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5" name="Text Box 47">
              <a:extLst>
                <a:ext uri="{FF2B5EF4-FFF2-40B4-BE49-F238E27FC236}">
                  <a16:creationId xmlns:a16="http://schemas.microsoft.com/office/drawing/2014/main" id="{B5E840F8-A5C1-F485-8D27-8FBD503D2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5" y="1479"/>
              <a:ext cx="408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800">
                  <a:solidFill>
                    <a:schemeClr val="bg1"/>
                  </a:solidFill>
                  <a:latin typeface="Times New Roman" pitchFamily="18" charset="0"/>
                </a:rPr>
                <a:t>100</a:t>
              </a:r>
              <a:endParaRPr lang="es-ES" sz="18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6" name="Text Box 48">
              <a:extLst>
                <a:ext uri="{FF2B5EF4-FFF2-40B4-BE49-F238E27FC236}">
                  <a16:creationId xmlns:a16="http://schemas.microsoft.com/office/drawing/2014/main" id="{59427016-BE51-502C-FBC7-E10DB4E4FB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" y="2636"/>
              <a:ext cx="407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800">
                  <a:solidFill>
                    <a:schemeClr val="bg1"/>
                  </a:solidFill>
                  <a:latin typeface="Times New Roman" pitchFamily="18" charset="0"/>
                </a:rPr>
                <a:t>81</a:t>
              </a:r>
              <a:endParaRPr lang="es-ES" sz="18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7" name="Text Box 49">
              <a:extLst>
                <a:ext uri="{FF2B5EF4-FFF2-40B4-BE49-F238E27FC236}">
                  <a16:creationId xmlns:a16="http://schemas.microsoft.com/office/drawing/2014/main" id="{0E8C30B7-4EAB-5273-4AE4-FE4DE913A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639"/>
              <a:ext cx="40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800">
                  <a:solidFill>
                    <a:schemeClr val="bg1"/>
                  </a:solidFill>
                  <a:latin typeface="Times New Roman" pitchFamily="18" charset="0"/>
                </a:rPr>
                <a:t>0</a:t>
              </a:r>
              <a:endParaRPr lang="es-ES" sz="18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8" name="Text Box 50">
              <a:extLst>
                <a:ext uri="{FF2B5EF4-FFF2-40B4-BE49-F238E27FC236}">
                  <a16:creationId xmlns:a16="http://schemas.microsoft.com/office/drawing/2014/main" id="{83D6EAC9-CDEF-761B-1CA1-496B71A1A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" y="1503"/>
              <a:ext cx="40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800">
                  <a:solidFill>
                    <a:schemeClr val="bg1"/>
                  </a:solidFill>
                  <a:latin typeface="Times New Roman" pitchFamily="18" charset="0"/>
                </a:rPr>
                <a:t>90</a:t>
              </a:r>
              <a:endParaRPr lang="es-ES" sz="18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9" name="Text Box 51">
              <a:extLst>
                <a:ext uri="{FF2B5EF4-FFF2-40B4-BE49-F238E27FC236}">
                  <a16:creationId xmlns:a16="http://schemas.microsoft.com/office/drawing/2014/main" id="{445BD3FF-F3AF-78FE-090D-B28BD6E338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7" y="2591"/>
              <a:ext cx="407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800">
                  <a:solidFill>
                    <a:schemeClr val="bg1"/>
                  </a:solidFill>
                  <a:latin typeface="Times New Roman" pitchFamily="18" charset="0"/>
                </a:rPr>
                <a:t>90</a:t>
              </a:r>
              <a:endParaRPr lang="es-ES" sz="18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7017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1B49BA17-D8E9-E795-E709-3A7DB6FC5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6128EB1E-449A-E1A0-9CFF-56E14E805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Aprendizaje</a:t>
            </a:r>
            <a:r>
              <a:rPr lang="en"/>
              <a:t> </a:t>
            </a:r>
            <a:r>
              <a:rPr lang="en" err="1"/>
              <a:t>por</a:t>
            </a:r>
            <a:r>
              <a:rPr lang="en"/>
              <a:t> Refuerzo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4BF61736-C8C4-3496-D39D-3D53354B336F}"/>
              </a:ext>
            </a:extLst>
          </p:cNvPr>
          <p:cNvSpPr txBox="1">
            <a:spLocks noChangeArrowheads="1"/>
          </p:cNvSpPr>
          <p:nvPr/>
        </p:nvSpPr>
        <p:spPr>
          <a:xfrm>
            <a:off x="703714" y="772399"/>
            <a:ext cx="7296539" cy="1032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Aplicable si es Posible tener Retroalimentación del Resultado – </a:t>
            </a:r>
            <a:r>
              <a:rPr lang="es-CO" sz="1400" b="1">
                <a:solidFill>
                  <a:srgbClr val="7030A0"/>
                </a:solidFill>
              </a:rPr>
              <a:t>Q-</a:t>
            </a:r>
            <a:r>
              <a:rPr lang="es-CO" sz="1400" b="1" err="1">
                <a:solidFill>
                  <a:srgbClr val="7030A0"/>
                </a:solidFill>
              </a:rPr>
              <a:t>Learning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Refuerzo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requiere definir función de Recompensa Inmediata</a:t>
            </a:r>
          </a:p>
          <a:p>
            <a:pPr lvl="1"/>
            <a:r>
              <a:rPr lang="es-CO" sz="1400"/>
              <a:t>Recompensa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premio o castigo dependiendo del éxito/fracaso de una acción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DDC65FF-96EF-E688-4C17-3911B01DFBFD}"/>
              </a:ext>
            </a:extLst>
          </p:cNvPr>
          <p:cNvSpPr txBox="1"/>
          <p:nvPr/>
        </p:nvSpPr>
        <p:spPr>
          <a:xfrm>
            <a:off x="8486287" y="454775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9639A6F6-BFFB-C8F2-B56D-D4AF382A2E5E}"/>
              </a:ext>
            </a:extLst>
          </p:cNvPr>
          <p:cNvSpPr txBox="1">
            <a:spLocks noChangeArrowheads="1"/>
          </p:cNvSpPr>
          <p:nvPr/>
        </p:nvSpPr>
        <p:spPr>
          <a:xfrm>
            <a:off x="5453631" y="1804330"/>
            <a:ext cx="3463622" cy="5707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Solución “Política”</a:t>
            </a:r>
          </a:p>
        </p:txBody>
      </p:sp>
      <p:sp>
        <p:nvSpPr>
          <p:cNvPr id="11" name="Rectangle 53">
            <a:extLst>
              <a:ext uri="{FF2B5EF4-FFF2-40B4-BE49-F238E27FC236}">
                <a16:creationId xmlns:a16="http://schemas.microsoft.com/office/drawing/2014/main" id="{28B16334-A22B-C327-56BA-51D075F84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642286"/>
            <a:ext cx="4801246" cy="2537817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s-ES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4" name="Line 54">
            <a:extLst>
              <a:ext uri="{FF2B5EF4-FFF2-40B4-BE49-F238E27FC236}">
                <a16:creationId xmlns:a16="http://schemas.microsoft.com/office/drawing/2014/main" id="{344F7867-647F-28A5-1518-E8DB989E9B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3451" y="1702375"/>
            <a:ext cx="0" cy="3140311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5" name="Line 55">
            <a:extLst>
              <a:ext uri="{FF2B5EF4-FFF2-40B4-BE49-F238E27FC236}">
                <a16:creationId xmlns:a16="http://schemas.microsoft.com/office/drawing/2014/main" id="{B33964FD-B05D-A72F-B064-B67E44C35A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1664" y="1672331"/>
            <a:ext cx="0" cy="3140311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6" name="Line 56">
            <a:extLst>
              <a:ext uri="{FF2B5EF4-FFF2-40B4-BE49-F238E27FC236}">
                <a16:creationId xmlns:a16="http://schemas.microsoft.com/office/drawing/2014/main" id="{2A78F90E-C7AD-3CC7-E656-DF53CE1C45F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183703"/>
            <a:ext cx="52578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7" name="Text Box 57">
            <a:extLst>
              <a:ext uri="{FF2B5EF4-FFF2-40B4-BE49-F238E27FC236}">
                <a16:creationId xmlns:a16="http://schemas.microsoft.com/office/drawing/2014/main" id="{9300855C-A645-110F-5E8D-31A950604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1795" y="2266691"/>
            <a:ext cx="102648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400">
                <a:solidFill>
                  <a:srgbClr val="FFFF00"/>
                </a:solidFill>
                <a:latin typeface="Lucida Console" pitchFamily="49" charset="0"/>
              </a:rPr>
              <a:t>Meta</a:t>
            </a:r>
            <a:endParaRPr lang="es-ES" sz="1400">
              <a:solidFill>
                <a:srgbClr val="FFFF00"/>
              </a:solidFill>
              <a:latin typeface="Lucida Console" pitchFamily="49" charset="0"/>
            </a:endParaRPr>
          </a:p>
        </p:txBody>
      </p:sp>
      <p:sp>
        <p:nvSpPr>
          <p:cNvPr id="28" name="Line 59">
            <a:extLst>
              <a:ext uri="{FF2B5EF4-FFF2-40B4-BE49-F238E27FC236}">
                <a16:creationId xmlns:a16="http://schemas.microsoft.com/office/drawing/2014/main" id="{B6FA65B2-6056-C7B6-4EC6-06309CFD2C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1631" y="2560605"/>
            <a:ext cx="735402" cy="0"/>
          </a:xfrm>
          <a:prstGeom prst="line">
            <a:avLst/>
          </a:prstGeom>
          <a:noFill/>
          <a:ln w="9525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29" name="Line 60">
            <a:extLst>
              <a:ext uri="{FF2B5EF4-FFF2-40B4-BE49-F238E27FC236}">
                <a16:creationId xmlns:a16="http://schemas.microsoft.com/office/drawing/2014/main" id="{0E911F3F-4016-EB36-DFB0-5A705A9697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0083" y="2508939"/>
            <a:ext cx="1093827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0" name="Line 64">
            <a:extLst>
              <a:ext uri="{FF2B5EF4-FFF2-40B4-BE49-F238E27FC236}">
                <a16:creationId xmlns:a16="http://schemas.microsoft.com/office/drawing/2014/main" id="{06BDFDF7-A99C-DB13-9D6C-E6FABB028C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42048" y="1879377"/>
            <a:ext cx="826726" cy="0"/>
          </a:xfrm>
          <a:prstGeom prst="line">
            <a:avLst/>
          </a:prstGeom>
          <a:noFill/>
          <a:ln w="9525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>
              <a:solidFill>
                <a:srgbClr val="FFCCFF"/>
              </a:solidFill>
            </a:endParaRPr>
          </a:p>
        </p:txBody>
      </p:sp>
      <p:sp>
        <p:nvSpPr>
          <p:cNvPr id="31" name="Line 66">
            <a:extLst>
              <a:ext uri="{FF2B5EF4-FFF2-40B4-BE49-F238E27FC236}">
                <a16:creationId xmlns:a16="http://schemas.microsoft.com/office/drawing/2014/main" id="{6FED285F-C211-58F3-070F-CE1620FD2B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16266" y="2976004"/>
            <a:ext cx="0" cy="593054"/>
          </a:xfrm>
          <a:prstGeom prst="line">
            <a:avLst/>
          </a:prstGeom>
          <a:noFill/>
          <a:ln w="9525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O"/>
          </a:p>
        </p:txBody>
      </p:sp>
      <p:sp>
        <p:nvSpPr>
          <p:cNvPr id="32" name="Text Box 69">
            <a:extLst>
              <a:ext uri="{FF2B5EF4-FFF2-40B4-BE49-F238E27FC236}">
                <a16:creationId xmlns:a16="http://schemas.microsoft.com/office/drawing/2014/main" id="{70C077ED-CCDB-5065-7E49-E7B05C1CC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2741" y="2250363"/>
            <a:ext cx="5948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400">
                <a:solidFill>
                  <a:srgbClr val="FFCCFF"/>
                </a:solidFill>
                <a:latin typeface="Times New Roman" pitchFamily="18" charset="0"/>
              </a:rPr>
              <a:t>0</a:t>
            </a:r>
            <a:endParaRPr lang="es-ES" sz="1400">
              <a:solidFill>
                <a:srgbClr val="FFCCFF"/>
              </a:solidFill>
              <a:latin typeface="Times New Roman" pitchFamily="18" charset="0"/>
            </a:endParaRPr>
          </a:p>
        </p:txBody>
      </p:sp>
      <p:sp>
        <p:nvSpPr>
          <p:cNvPr id="33" name="Text Box 73">
            <a:extLst>
              <a:ext uri="{FF2B5EF4-FFF2-40B4-BE49-F238E27FC236}">
                <a16:creationId xmlns:a16="http://schemas.microsoft.com/office/drawing/2014/main" id="{30F9D4FC-8259-50B5-DEC2-B7DA7290A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979" y="2182868"/>
            <a:ext cx="46220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400">
                <a:solidFill>
                  <a:srgbClr val="FFFF00"/>
                </a:solidFill>
                <a:latin typeface="Times New Roman" pitchFamily="18" charset="0"/>
              </a:rPr>
              <a:t>0</a:t>
            </a:r>
            <a:endParaRPr lang="es-ES" sz="140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34" name="Text Box 78">
            <a:extLst>
              <a:ext uri="{FF2B5EF4-FFF2-40B4-BE49-F238E27FC236}">
                <a16:creationId xmlns:a16="http://schemas.microsoft.com/office/drawing/2014/main" id="{22041525-19EA-C3DD-4E56-1BB8F129E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345" y="1849333"/>
            <a:ext cx="59489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400">
                <a:solidFill>
                  <a:srgbClr val="FFCCFF"/>
                </a:solidFill>
                <a:latin typeface="Times New Roman" pitchFamily="18" charset="0"/>
              </a:rPr>
              <a:t>20</a:t>
            </a:r>
            <a:endParaRPr lang="es-ES" sz="1400">
              <a:solidFill>
                <a:srgbClr val="FFCCFF"/>
              </a:solidFill>
              <a:latin typeface="Times New Roman" pitchFamily="18" charset="0"/>
            </a:endParaRP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D2CFB113-A324-BFB9-455A-3C761800B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591" y="3420717"/>
            <a:ext cx="4712967" cy="1395132"/>
          </a:xfrm>
          <a:prstGeom prst="rect">
            <a:avLst/>
          </a:prstGeom>
        </p:spPr>
      </p:pic>
      <p:sp>
        <p:nvSpPr>
          <p:cNvPr id="36" name="Rectangle 5">
            <a:extLst>
              <a:ext uri="{FF2B5EF4-FFF2-40B4-BE49-F238E27FC236}">
                <a16:creationId xmlns:a16="http://schemas.microsoft.com/office/drawing/2014/main" id="{D3A1FB91-936F-175A-BAEC-A2E9C4CCA2F0}"/>
              </a:ext>
            </a:extLst>
          </p:cNvPr>
          <p:cNvSpPr txBox="1">
            <a:spLocks noChangeArrowheads="1"/>
          </p:cNvSpPr>
          <p:nvPr/>
        </p:nvSpPr>
        <p:spPr>
          <a:xfrm>
            <a:off x="5453631" y="2409158"/>
            <a:ext cx="3463622" cy="1002797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b="1">
                <a:solidFill>
                  <a:srgbClr val="0070C0"/>
                </a:solidFill>
              </a:rPr>
              <a:t>Q-</a:t>
            </a:r>
            <a:r>
              <a:rPr lang="es-ES" sz="1400" b="1" err="1">
                <a:solidFill>
                  <a:srgbClr val="0070C0"/>
                </a:solidFill>
              </a:rPr>
              <a:t>Learning</a:t>
            </a:r>
            <a:r>
              <a:rPr lang="es-ES" sz="1400" b="1">
                <a:solidFill>
                  <a:srgbClr val="0070C0"/>
                </a:solidFill>
              </a:rPr>
              <a:t> - Exploración</a:t>
            </a:r>
          </a:p>
          <a:p>
            <a:pPr marL="0" indent="0" algn="ctr">
              <a:buNone/>
            </a:pPr>
            <a:r>
              <a:rPr lang="es-ES" sz="1400">
                <a:solidFill>
                  <a:srgbClr val="7030A0"/>
                </a:solidFill>
              </a:rPr>
              <a:t>Cómo propagar Recompensas?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obtener crédito de los “Mejores Vecinos”</a:t>
            </a:r>
            <a:endParaRPr lang="es-CO" sz="14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C324D252-5535-3E86-0101-460E7088D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04" y="2215093"/>
            <a:ext cx="366451" cy="529318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7FF59254-0783-1F1B-9510-359CBD780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206" y="2215093"/>
            <a:ext cx="366451" cy="529318"/>
          </a:xfrm>
          <a:prstGeom prst="rect">
            <a:avLst/>
          </a:prstGeom>
        </p:spPr>
      </p:pic>
      <p:sp>
        <p:nvSpPr>
          <p:cNvPr id="39" name="Text Box 73">
            <a:extLst>
              <a:ext uri="{FF2B5EF4-FFF2-40B4-BE49-F238E27FC236}">
                <a16:creationId xmlns:a16="http://schemas.microsoft.com/office/drawing/2014/main" id="{B73D1178-F474-660E-7DAD-E1AEC7128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4971" y="2130298"/>
            <a:ext cx="6007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4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itchFamily="18" charset="0"/>
              </a:rPr>
              <a:t>S’</a:t>
            </a:r>
            <a:endParaRPr lang="es-ES" sz="1400">
              <a:solidFill>
                <a:schemeClr val="accent1">
                  <a:lumMod val="20000"/>
                  <a:lumOff val="8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40" name="Text Box 73">
            <a:extLst>
              <a:ext uri="{FF2B5EF4-FFF2-40B4-BE49-F238E27FC236}">
                <a16:creationId xmlns:a16="http://schemas.microsoft.com/office/drawing/2014/main" id="{825C7347-D2B2-4811-C0CF-1EE12B539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162" y="2130298"/>
            <a:ext cx="6007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40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itchFamily="18" charset="0"/>
              </a:rPr>
              <a:t>S</a:t>
            </a:r>
            <a:endParaRPr lang="es-ES" sz="1400">
              <a:solidFill>
                <a:schemeClr val="accent1">
                  <a:lumMod val="20000"/>
                  <a:lumOff val="8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41" name="Text Box 68">
            <a:extLst>
              <a:ext uri="{FF2B5EF4-FFF2-40B4-BE49-F238E27FC236}">
                <a16:creationId xmlns:a16="http://schemas.microsoft.com/office/drawing/2014/main" id="{A519509F-4D6D-928D-4457-800A64E1D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321" y="3153659"/>
            <a:ext cx="5948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400">
                <a:solidFill>
                  <a:srgbClr val="FFCCFF"/>
                </a:solidFill>
                <a:latin typeface="Times New Roman" pitchFamily="18" charset="0"/>
              </a:rPr>
              <a:t>30</a:t>
            </a:r>
            <a:endParaRPr lang="es-ES" sz="1400">
              <a:solidFill>
                <a:srgbClr val="FFCCFF"/>
              </a:solidFill>
              <a:latin typeface="Times New Roman" pitchFamily="18" charset="0"/>
            </a:endParaRPr>
          </a:p>
        </p:txBody>
      </p:sp>
      <p:sp>
        <p:nvSpPr>
          <p:cNvPr id="42" name="Text Box 73">
            <a:extLst>
              <a:ext uri="{FF2B5EF4-FFF2-40B4-BE49-F238E27FC236}">
                <a16:creationId xmlns:a16="http://schemas.microsoft.com/office/drawing/2014/main" id="{843CB9C2-69A3-6320-2038-DA7DBBE78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2317" y="2486527"/>
            <a:ext cx="7893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_tradnl" sz="1400">
                <a:solidFill>
                  <a:srgbClr val="FFFF00"/>
                </a:solidFill>
                <a:latin typeface="Times New Roman" pitchFamily="18" charset="0"/>
              </a:rPr>
              <a:t>r(</a:t>
            </a:r>
            <a:r>
              <a:rPr lang="es-ES_tradnl" sz="1400" err="1">
                <a:solidFill>
                  <a:srgbClr val="FFFF00"/>
                </a:solidFill>
                <a:latin typeface="Times New Roman" pitchFamily="18" charset="0"/>
              </a:rPr>
              <a:t>s,a</a:t>
            </a:r>
            <a:r>
              <a:rPr lang="es-ES_tradnl" sz="1400">
                <a:solidFill>
                  <a:srgbClr val="FFFF00"/>
                </a:solidFill>
                <a:latin typeface="Times New Roman" pitchFamily="18" charset="0"/>
              </a:rPr>
              <a:t>)</a:t>
            </a:r>
            <a:endParaRPr lang="es-ES" sz="140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6159CBF7-9612-8E73-D9BA-B8FF1B790B9A}"/>
              </a:ext>
            </a:extLst>
          </p:cNvPr>
          <p:cNvSpPr/>
          <p:nvPr/>
        </p:nvSpPr>
        <p:spPr>
          <a:xfrm>
            <a:off x="5897734" y="3495128"/>
            <a:ext cx="895512" cy="36522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D05DF8AC-D61E-AD5A-D768-FE01E25871BC}"/>
              </a:ext>
            </a:extLst>
          </p:cNvPr>
          <p:cNvSpPr/>
          <p:nvPr/>
        </p:nvSpPr>
        <p:spPr>
          <a:xfrm>
            <a:off x="7364930" y="3499717"/>
            <a:ext cx="1728454" cy="503762"/>
          </a:xfrm>
          <a:prstGeom prst="rect">
            <a:avLst/>
          </a:prstGeom>
          <a:noFill/>
          <a:ln w="28575">
            <a:solidFill>
              <a:srgbClr val="FF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C71B0497-8EF5-06CA-5102-6EF168B86C70}"/>
              </a:ext>
            </a:extLst>
          </p:cNvPr>
          <p:cNvGrpSpPr/>
          <p:nvPr/>
        </p:nvGrpSpPr>
        <p:grpSpPr>
          <a:xfrm>
            <a:off x="7168262" y="3860349"/>
            <a:ext cx="200025" cy="927166"/>
            <a:chOff x="9996688" y="5732060"/>
            <a:chExt cx="200025" cy="927166"/>
          </a:xfrm>
        </p:grpSpPr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FFB2E9A4-FCA5-084C-10C8-8FB19610E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6688" y="5732060"/>
              <a:ext cx="200025" cy="438150"/>
            </a:xfrm>
            <a:prstGeom prst="rect">
              <a:avLst/>
            </a:prstGeom>
          </p:spPr>
        </p:pic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A60A8223-D8D9-C06D-60C0-A86C9C004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6688" y="5975367"/>
              <a:ext cx="200025" cy="438150"/>
            </a:xfrm>
            <a:prstGeom prst="rect">
              <a:avLst/>
            </a:prstGeom>
          </p:spPr>
        </p:pic>
        <p:pic>
          <p:nvPicPr>
            <p:cNvPr id="54" name="Imagen 53">
              <a:extLst>
                <a:ext uri="{FF2B5EF4-FFF2-40B4-BE49-F238E27FC236}">
                  <a16:creationId xmlns:a16="http://schemas.microsoft.com/office/drawing/2014/main" id="{58323FE1-1874-6293-AE2B-407BEF45C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96688" y="6221076"/>
              <a:ext cx="200025" cy="438150"/>
            </a:xfrm>
            <a:prstGeom prst="rect">
              <a:avLst/>
            </a:prstGeom>
          </p:spPr>
        </p:pic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A2FA56B2-602A-2F90-5CFB-D1BCDD742181}"/>
              </a:ext>
            </a:extLst>
          </p:cNvPr>
          <p:cNvGrpSpPr/>
          <p:nvPr/>
        </p:nvGrpSpPr>
        <p:grpSpPr>
          <a:xfrm>
            <a:off x="6483792" y="4697479"/>
            <a:ext cx="1376274" cy="523220"/>
            <a:chOff x="9312217" y="6569190"/>
            <a:chExt cx="1552175" cy="523220"/>
          </a:xfrm>
        </p:grpSpPr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272D8BB6-5E59-6F88-3564-C4E4E09203AB}"/>
                </a:ext>
              </a:extLst>
            </p:cNvPr>
            <p:cNvSpPr txBox="1"/>
            <p:nvPr/>
          </p:nvSpPr>
          <p:spPr>
            <a:xfrm>
              <a:off x="9312217" y="6569190"/>
              <a:ext cx="1552175" cy="52322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CO">
                  <a:latin typeface="Times New Roman" panose="02020603050405020304" pitchFamily="18" charset="0"/>
                  <a:cs typeface="Times New Roman" panose="02020603050405020304" pitchFamily="18" charset="0"/>
                </a:rPr>
                <a:t>Factor de Descuento</a:t>
              </a:r>
            </a:p>
          </p:txBody>
        </p: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DDFDB375-E808-A31B-D723-830BE373E29C}"/>
                </a:ext>
              </a:extLst>
            </p:cNvPr>
            <p:cNvSpPr/>
            <p:nvPr/>
          </p:nvSpPr>
          <p:spPr>
            <a:xfrm>
              <a:off x="9312217" y="6616396"/>
              <a:ext cx="1552175" cy="19748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58" name="Text Box 73">
            <a:extLst>
              <a:ext uri="{FF2B5EF4-FFF2-40B4-BE49-F238E27FC236}">
                <a16:creationId xmlns:a16="http://schemas.microsoft.com/office/drawing/2014/main" id="{D65AFA54-D842-5E4A-0C53-02CD542FA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25" y="4303999"/>
            <a:ext cx="42424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ES_tradnl" sz="1400">
                <a:solidFill>
                  <a:srgbClr val="0070C0"/>
                </a:solidFill>
                <a:latin typeface="Times New Roman" pitchFamily="18" charset="0"/>
              </a:rPr>
              <a:t>Q(</a:t>
            </a:r>
            <a:r>
              <a:rPr lang="es-ES_tradnl" sz="1400" err="1">
                <a:solidFill>
                  <a:srgbClr val="0070C0"/>
                </a:solidFill>
                <a:latin typeface="Times New Roman" pitchFamily="18" charset="0"/>
              </a:rPr>
              <a:t>s,a</a:t>
            </a:r>
            <a:r>
              <a:rPr lang="es-ES_tradnl" sz="1400">
                <a:solidFill>
                  <a:srgbClr val="0070C0"/>
                </a:solidFill>
                <a:latin typeface="Times New Roman" pitchFamily="18" charset="0"/>
              </a:rPr>
              <a:t>) = 0 + 0,9 x </a:t>
            </a:r>
            <a:r>
              <a:rPr lang="es-ES_tradnl" sz="1400" err="1">
                <a:solidFill>
                  <a:srgbClr val="0070C0"/>
                </a:solidFill>
                <a:latin typeface="Times New Roman" pitchFamily="18" charset="0"/>
              </a:rPr>
              <a:t>max</a:t>
            </a:r>
            <a:r>
              <a:rPr lang="es-ES_tradnl" sz="1400">
                <a:solidFill>
                  <a:srgbClr val="0070C0"/>
                </a:solidFill>
                <a:latin typeface="Times New Roman" pitchFamily="18" charset="0"/>
              </a:rPr>
              <a:t>(20,0,30) = 27</a:t>
            </a:r>
            <a:endParaRPr lang="es-ES" sz="1400">
              <a:solidFill>
                <a:srgbClr val="0070C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60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9" grpId="0"/>
      <p:bldP spid="41" grpId="0"/>
      <p:bldP spid="42" grpId="0"/>
      <p:bldP spid="43" grpId="0" animBg="1"/>
      <p:bldP spid="50" grpId="0" animBg="1"/>
      <p:bldP spid="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FB03EE28-3850-6F1F-701D-36FA8C2FD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9D5E7556-FB79-1DC9-28F2-B3BD16D52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Aprendizaje</a:t>
            </a:r>
            <a:r>
              <a:rPr lang="en"/>
              <a:t> </a:t>
            </a:r>
            <a:r>
              <a:rPr lang="en" err="1"/>
              <a:t>por</a:t>
            </a:r>
            <a:r>
              <a:rPr lang="en"/>
              <a:t> Refuerzo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B4D7791D-FD34-8D9F-105A-46FF43C89FD0}"/>
              </a:ext>
            </a:extLst>
          </p:cNvPr>
          <p:cNvSpPr txBox="1">
            <a:spLocks noChangeArrowheads="1"/>
          </p:cNvSpPr>
          <p:nvPr/>
        </p:nvSpPr>
        <p:spPr>
          <a:xfrm>
            <a:off x="703714" y="772399"/>
            <a:ext cx="7296539" cy="1032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400" b="1">
                <a:solidFill>
                  <a:srgbClr val="C00000"/>
                </a:solidFill>
              </a:rPr>
              <a:t>Aplicable si es Posible tener Retroalimentación del Resultado – </a:t>
            </a:r>
            <a:r>
              <a:rPr lang="es-CO" sz="1400" b="1">
                <a:solidFill>
                  <a:srgbClr val="7030A0"/>
                </a:solidFill>
              </a:rPr>
              <a:t>Q-</a:t>
            </a:r>
            <a:r>
              <a:rPr lang="es-CO" sz="1400" b="1" err="1">
                <a:solidFill>
                  <a:srgbClr val="7030A0"/>
                </a:solidFill>
              </a:rPr>
              <a:t>Learning</a:t>
            </a:r>
            <a:endParaRPr lang="es-CO" sz="1400" b="1">
              <a:solidFill>
                <a:srgbClr val="7030A0"/>
              </a:solidFill>
            </a:endParaRPr>
          </a:p>
          <a:p>
            <a:pPr lvl="1"/>
            <a:r>
              <a:rPr lang="es-CO" sz="1400"/>
              <a:t>Refuerzo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requiere definir función de Recompensa Inmediata</a:t>
            </a:r>
          </a:p>
          <a:p>
            <a:pPr lvl="1"/>
            <a:r>
              <a:rPr lang="es-CO" sz="1400"/>
              <a:t>Recompensa </a:t>
            </a:r>
            <a:r>
              <a:rPr lang="es-ES" sz="1400">
                <a:solidFill>
                  <a:srgbClr val="376092"/>
                </a:solidFill>
              </a:rPr>
              <a:t> </a:t>
            </a:r>
            <a:r>
              <a:rPr lang="es-ES" sz="1400">
                <a:solidFill>
                  <a:srgbClr val="376092"/>
                </a:solidFill>
                <a:latin typeface="Arial Narrow"/>
              </a:rPr>
              <a:t>→</a:t>
            </a:r>
            <a:r>
              <a:rPr lang="es-CO" sz="1400"/>
              <a:t>  premio o castigo dependiendo del éxito/fracaso de una acción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07EEB16-BF9F-30EE-6E20-A3EF286FF7E8}"/>
              </a:ext>
            </a:extLst>
          </p:cNvPr>
          <p:cNvSpPr txBox="1"/>
          <p:nvPr/>
        </p:nvSpPr>
        <p:spPr>
          <a:xfrm>
            <a:off x="9405257" y="500120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8E154C4-C839-A8EA-9C07-094A6CBE72A7}"/>
              </a:ext>
            </a:extLst>
          </p:cNvPr>
          <p:cNvSpPr txBox="1">
            <a:spLocks noChangeArrowheads="1"/>
          </p:cNvSpPr>
          <p:nvPr/>
        </p:nvSpPr>
        <p:spPr>
          <a:xfrm>
            <a:off x="6478466" y="2023396"/>
            <a:ext cx="2703969" cy="9528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MODELO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</a:rPr>
              <a:t>Solución “Política”</a:t>
            </a:r>
          </a:p>
        </p:txBody>
      </p:sp>
      <p:grpSp>
        <p:nvGrpSpPr>
          <p:cNvPr id="11" name="Group 52">
            <a:extLst>
              <a:ext uri="{FF2B5EF4-FFF2-40B4-BE49-F238E27FC236}">
                <a16:creationId xmlns:a16="http://schemas.microsoft.com/office/drawing/2014/main" id="{1BA82867-A7BA-8EAC-3647-C62F3D759A56}"/>
              </a:ext>
            </a:extLst>
          </p:cNvPr>
          <p:cNvGrpSpPr>
            <a:grpSpLocks/>
          </p:cNvGrpSpPr>
          <p:nvPr/>
        </p:nvGrpSpPr>
        <p:grpSpPr bwMode="auto">
          <a:xfrm>
            <a:off x="296253" y="1835352"/>
            <a:ext cx="5257800" cy="3200400"/>
            <a:chOff x="929" y="1116"/>
            <a:chExt cx="3606" cy="2450"/>
          </a:xfrm>
        </p:grpSpPr>
        <p:sp>
          <p:nvSpPr>
            <p:cNvPr id="24" name="Rectangle 53">
              <a:extLst>
                <a:ext uri="{FF2B5EF4-FFF2-40B4-BE49-F238E27FC236}">
                  <a16:creationId xmlns:a16="http://schemas.microsoft.com/office/drawing/2014/main" id="{81937507-21BC-7326-93DD-037ED4715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1116"/>
              <a:ext cx="3606" cy="2381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s-ES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5" name="Line 54">
              <a:extLst>
                <a:ext uri="{FF2B5EF4-FFF2-40B4-BE49-F238E27FC236}">
                  <a16:creationId xmlns:a16="http://schemas.microsoft.com/office/drawing/2014/main" id="{80D65401-638F-D183-4F54-F5494822F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" y="1162"/>
              <a:ext cx="0" cy="240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Line 55">
              <a:extLst>
                <a:ext uri="{FF2B5EF4-FFF2-40B4-BE49-F238E27FC236}">
                  <a16:creationId xmlns:a16="http://schemas.microsoft.com/office/drawing/2014/main" id="{B7CC1181-789C-AF8E-9250-D3267BA403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0" y="1139"/>
              <a:ext cx="0" cy="240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Line 56">
              <a:extLst>
                <a:ext uri="{FF2B5EF4-FFF2-40B4-BE49-F238E27FC236}">
                  <a16:creationId xmlns:a16="http://schemas.microsoft.com/office/drawing/2014/main" id="{967B3DF5-E4BA-C18D-7BCA-FF7F5614F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9" y="2296"/>
              <a:ext cx="360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8" name="Text Box 57">
              <a:extLst>
                <a:ext uri="{FF2B5EF4-FFF2-40B4-BE49-F238E27FC236}">
                  <a16:creationId xmlns:a16="http://schemas.microsoft.com/office/drawing/2014/main" id="{E62CEB40-908E-AD64-5B9B-942C5113F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1594"/>
              <a:ext cx="704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400">
                  <a:solidFill>
                    <a:srgbClr val="FFFF00"/>
                  </a:solidFill>
                  <a:latin typeface="Lucida Console" pitchFamily="49" charset="0"/>
                </a:rPr>
                <a:t>Meta</a:t>
              </a:r>
              <a:endParaRPr lang="es-ES" sz="1400">
                <a:solidFill>
                  <a:srgbClr val="FFFF00"/>
                </a:solidFill>
                <a:latin typeface="Lucida Console" pitchFamily="49" charset="0"/>
              </a:endParaRPr>
            </a:p>
          </p:txBody>
        </p:sp>
        <p:sp>
          <p:nvSpPr>
            <p:cNvPr id="29" name="Line 58">
              <a:extLst>
                <a:ext uri="{FF2B5EF4-FFF2-40B4-BE49-F238E27FC236}">
                  <a16:creationId xmlns:a16="http://schemas.microsoft.com/office/drawing/2014/main" id="{0665A1A7-317D-9685-CE79-069F842F4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7" y="1797"/>
              <a:ext cx="6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Line 59">
              <a:extLst>
                <a:ext uri="{FF2B5EF4-FFF2-40B4-BE49-F238E27FC236}">
                  <a16:creationId xmlns:a16="http://schemas.microsoft.com/office/drawing/2014/main" id="{92D537AA-14DE-FFDD-76C4-27D2F652EB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819"/>
              <a:ext cx="6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Line 60">
              <a:extLst>
                <a:ext uri="{FF2B5EF4-FFF2-40B4-BE49-F238E27FC236}">
                  <a16:creationId xmlns:a16="http://schemas.microsoft.com/office/drawing/2014/main" id="{2FECB527-B2EF-7032-95F5-E36036B66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931"/>
              <a:ext cx="6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2" name="Line 61">
              <a:extLst>
                <a:ext uri="{FF2B5EF4-FFF2-40B4-BE49-F238E27FC236}">
                  <a16:creationId xmlns:a16="http://schemas.microsoft.com/office/drawing/2014/main" id="{01672D90-E026-40CE-EE4A-9B6CDD8C4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2931"/>
              <a:ext cx="61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Line 62">
              <a:extLst>
                <a:ext uri="{FF2B5EF4-FFF2-40B4-BE49-F238E27FC236}">
                  <a16:creationId xmlns:a16="http://schemas.microsoft.com/office/drawing/2014/main" id="{24110A0B-9917-7F31-D0C4-482E2A616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2069"/>
              <a:ext cx="0" cy="47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Line 63">
              <a:extLst>
                <a:ext uri="{FF2B5EF4-FFF2-40B4-BE49-F238E27FC236}">
                  <a16:creationId xmlns:a16="http://schemas.microsoft.com/office/drawing/2014/main" id="{3C0182C3-D0A5-5C0C-F5D2-34638B09A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7" y="1956"/>
              <a:ext cx="56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Line 64">
              <a:extLst>
                <a:ext uri="{FF2B5EF4-FFF2-40B4-BE49-F238E27FC236}">
                  <a16:creationId xmlns:a16="http://schemas.microsoft.com/office/drawing/2014/main" id="{14EA5008-7A81-370C-D4D1-18A2EF3696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57" y="3158"/>
              <a:ext cx="56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6" name="Line 65">
              <a:extLst>
                <a:ext uri="{FF2B5EF4-FFF2-40B4-BE49-F238E27FC236}">
                  <a16:creationId xmlns:a16="http://schemas.microsoft.com/office/drawing/2014/main" id="{A991DD87-E75A-9179-1121-246BBB1D46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00" y="3158"/>
              <a:ext cx="56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Line 66">
              <a:extLst>
                <a:ext uri="{FF2B5EF4-FFF2-40B4-BE49-F238E27FC236}">
                  <a16:creationId xmlns:a16="http://schemas.microsoft.com/office/drawing/2014/main" id="{251792AB-A1D0-DA22-42F7-14B1D308A5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9" y="2137"/>
              <a:ext cx="0" cy="45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Line 67">
              <a:extLst>
                <a:ext uri="{FF2B5EF4-FFF2-40B4-BE49-F238E27FC236}">
                  <a16:creationId xmlns:a16="http://schemas.microsoft.com/office/drawing/2014/main" id="{534505EE-220E-DB22-27C9-9786A63F6B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6" y="2137"/>
              <a:ext cx="0" cy="43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9" name="Text Box 68">
              <a:extLst>
                <a:ext uri="{FF2B5EF4-FFF2-40B4-BE49-F238E27FC236}">
                  <a16:creationId xmlns:a16="http://schemas.microsoft.com/office/drawing/2014/main" id="{0CAA2FB4-5310-2FF0-5915-93E296E82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2273"/>
              <a:ext cx="40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400">
                  <a:solidFill>
                    <a:schemeClr val="bg1"/>
                  </a:solidFill>
                  <a:latin typeface="Times New Roman" pitchFamily="18" charset="0"/>
                </a:rPr>
                <a:t>100</a:t>
              </a:r>
              <a:endParaRPr lang="es-ES" sz="1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0" name="Text Box 69">
              <a:extLst>
                <a:ext uri="{FF2B5EF4-FFF2-40B4-BE49-F238E27FC236}">
                  <a16:creationId xmlns:a16="http://schemas.microsoft.com/office/drawing/2014/main" id="{7137A0FC-5B8A-46B3-4D5E-6ABC85A3C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1526"/>
              <a:ext cx="40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400">
                  <a:solidFill>
                    <a:schemeClr val="bg1"/>
                  </a:solidFill>
                  <a:latin typeface="Times New Roman" pitchFamily="18" charset="0"/>
                </a:rPr>
                <a:t>100</a:t>
              </a:r>
              <a:endParaRPr lang="es-ES" sz="1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1" name="Text Box 70">
              <a:extLst>
                <a:ext uri="{FF2B5EF4-FFF2-40B4-BE49-F238E27FC236}">
                  <a16:creationId xmlns:a16="http://schemas.microsoft.com/office/drawing/2014/main" id="{269FDB21-11FA-F684-9997-E886D2EDDA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1956"/>
              <a:ext cx="40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400">
                  <a:solidFill>
                    <a:schemeClr val="bg1"/>
                  </a:solidFill>
                  <a:latin typeface="Times New Roman" pitchFamily="18" charset="0"/>
                </a:rPr>
                <a:t>81</a:t>
              </a:r>
              <a:endParaRPr lang="es-ES" sz="1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2" name="Text Box 71">
              <a:extLst>
                <a:ext uri="{FF2B5EF4-FFF2-40B4-BE49-F238E27FC236}">
                  <a16:creationId xmlns:a16="http://schemas.microsoft.com/office/drawing/2014/main" id="{14166E7F-1A0E-B6B0-0CBD-C5BE91DDF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1207"/>
              <a:ext cx="249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400">
                  <a:solidFill>
                    <a:schemeClr val="bg1"/>
                  </a:solidFill>
                  <a:latin typeface="Times New Roman" pitchFamily="18" charset="0"/>
                </a:rPr>
                <a:t>0</a:t>
              </a:r>
              <a:endParaRPr lang="es-ES" sz="1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3" name="Text Box 72">
              <a:extLst>
                <a:ext uri="{FF2B5EF4-FFF2-40B4-BE49-F238E27FC236}">
                  <a16:creationId xmlns:a16="http://schemas.microsoft.com/office/drawing/2014/main" id="{568E3184-782A-CDB2-ADCF-E5FAA4161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3" y="1547"/>
              <a:ext cx="40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400">
                  <a:solidFill>
                    <a:schemeClr val="bg1"/>
                  </a:solidFill>
                  <a:latin typeface="Times New Roman" pitchFamily="18" charset="0"/>
                </a:rPr>
                <a:t>90</a:t>
              </a:r>
              <a:endParaRPr lang="es-ES" sz="1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0" name="Text Box 73">
              <a:extLst>
                <a:ext uri="{FF2B5EF4-FFF2-40B4-BE49-F238E27FC236}">
                  <a16:creationId xmlns:a16="http://schemas.microsoft.com/office/drawing/2014/main" id="{8A9EA2A3-63AE-1310-87AD-FBC0C38C61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2" y="2273"/>
              <a:ext cx="317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400">
                  <a:solidFill>
                    <a:schemeClr val="bg1"/>
                  </a:solidFill>
                  <a:latin typeface="Times New Roman" pitchFamily="18" charset="0"/>
                </a:rPr>
                <a:t>81</a:t>
              </a:r>
              <a:endParaRPr lang="es-ES" sz="1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1" name="Line 74">
              <a:extLst>
                <a:ext uri="{FF2B5EF4-FFF2-40B4-BE49-F238E27FC236}">
                  <a16:creationId xmlns:a16="http://schemas.microsoft.com/office/drawing/2014/main" id="{2326B294-C333-6236-3A8D-0848D17435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7" y="2183"/>
              <a:ext cx="0" cy="45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2" name="Line 75">
              <a:extLst>
                <a:ext uri="{FF2B5EF4-FFF2-40B4-BE49-F238E27FC236}">
                  <a16:creationId xmlns:a16="http://schemas.microsoft.com/office/drawing/2014/main" id="{80014322-F77F-4AFB-E821-3A695AF3CA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4" y="2183"/>
              <a:ext cx="0" cy="43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3" name="Text Box 76">
              <a:extLst>
                <a:ext uri="{FF2B5EF4-FFF2-40B4-BE49-F238E27FC236}">
                  <a16:creationId xmlns:a16="http://schemas.microsoft.com/office/drawing/2014/main" id="{9AA0A3B9-14BE-CAA4-AB94-C53C83C8A0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2273"/>
              <a:ext cx="40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400">
                  <a:solidFill>
                    <a:schemeClr val="bg1"/>
                  </a:solidFill>
                  <a:latin typeface="Times New Roman" pitchFamily="18" charset="0"/>
                </a:rPr>
                <a:t>72</a:t>
              </a:r>
              <a:endParaRPr lang="es-ES" sz="1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4" name="Text Box 77">
              <a:extLst>
                <a:ext uri="{FF2B5EF4-FFF2-40B4-BE49-F238E27FC236}">
                  <a16:creationId xmlns:a16="http://schemas.microsoft.com/office/drawing/2014/main" id="{90424954-B0B4-5276-7326-F44EE622E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2659"/>
              <a:ext cx="341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400">
                  <a:solidFill>
                    <a:schemeClr val="bg1"/>
                  </a:solidFill>
                  <a:latin typeface="Times New Roman" pitchFamily="18" charset="0"/>
                </a:rPr>
                <a:t>81</a:t>
              </a:r>
              <a:endParaRPr lang="es-ES" sz="1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5" name="Text Box 78">
              <a:extLst>
                <a:ext uri="{FF2B5EF4-FFF2-40B4-BE49-F238E27FC236}">
                  <a16:creationId xmlns:a16="http://schemas.microsoft.com/office/drawing/2014/main" id="{955E6996-46DB-728F-223F-142ED2CA9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3" y="3135"/>
              <a:ext cx="40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400">
                  <a:solidFill>
                    <a:schemeClr val="bg1"/>
                  </a:solidFill>
                  <a:latin typeface="Times New Roman" pitchFamily="18" charset="0"/>
                </a:rPr>
                <a:t>81</a:t>
              </a:r>
              <a:endParaRPr lang="es-ES" sz="1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6" name="Text Box 79">
              <a:extLst>
                <a:ext uri="{FF2B5EF4-FFF2-40B4-BE49-F238E27FC236}">
                  <a16:creationId xmlns:a16="http://schemas.microsoft.com/office/drawing/2014/main" id="{1B918597-8EC9-8732-6FA9-BBE1256B8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7" y="2319"/>
              <a:ext cx="40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400">
                  <a:solidFill>
                    <a:schemeClr val="bg1"/>
                  </a:solidFill>
                  <a:latin typeface="Times New Roman" pitchFamily="18" charset="0"/>
                </a:rPr>
                <a:t>90</a:t>
              </a:r>
              <a:endParaRPr lang="es-ES" sz="1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7" name="Text Box 80">
              <a:extLst>
                <a:ext uri="{FF2B5EF4-FFF2-40B4-BE49-F238E27FC236}">
                  <a16:creationId xmlns:a16="http://schemas.microsoft.com/office/drawing/2014/main" id="{3B8EA817-0F47-4A40-CC7D-128AC4173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3181"/>
              <a:ext cx="40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400">
                  <a:solidFill>
                    <a:schemeClr val="bg1"/>
                  </a:solidFill>
                  <a:latin typeface="Times New Roman" pitchFamily="18" charset="0"/>
                </a:rPr>
                <a:t>72</a:t>
              </a:r>
              <a:endParaRPr lang="es-ES" sz="1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58" name="Text Box 81">
              <a:extLst>
                <a:ext uri="{FF2B5EF4-FFF2-40B4-BE49-F238E27FC236}">
                  <a16:creationId xmlns:a16="http://schemas.microsoft.com/office/drawing/2014/main" id="{783C581B-A591-15AE-7D78-E030BEF71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7" y="2296"/>
              <a:ext cx="294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" sz="1400">
                  <a:solidFill>
                    <a:schemeClr val="bg1"/>
                  </a:solidFill>
                  <a:latin typeface="Times New Roman" pitchFamily="18" charset="0"/>
                </a:rPr>
                <a:t>81</a:t>
              </a:r>
            </a:p>
          </p:txBody>
        </p:sp>
        <p:sp>
          <p:nvSpPr>
            <p:cNvPr id="59" name="Text Box 82">
              <a:extLst>
                <a:ext uri="{FF2B5EF4-FFF2-40B4-BE49-F238E27FC236}">
                  <a16:creationId xmlns:a16="http://schemas.microsoft.com/office/drawing/2014/main" id="{C7933C4A-9D6F-6224-2C85-6927F6753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" y="2659"/>
              <a:ext cx="407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s-ES_tradnl" sz="1400">
                  <a:solidFill>
                    <a:schemeClr val="bg1"/>
                  </a:solidFill>
                  <a:latin typeface="Times New Roman" pitchFamily="18" charset="0"/>
                </a:rPr>
                <a:t>90</a:t>
              </a:r>
              <a:endParaRPr lang="es-ES" sz="140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sp>
        <p:nvSpPr>
          <p:cNvPr id="60" name="Rectangle 5">
            <a:extLst>
              <a:ext uri="{FF2B5EF4-FFF2-40B4-BE49-F238E27FC236}">
                <a16:creationId xmlns:a16="http://schemas.microsoft.com/office/drawing/2014/main" id="{72DF98E7-4BD2-A0AB-EC55-A7EFA3A7E739}"/>
              </a:ext>
            </a:extLst>
          </p:cNvPr>
          <p:cNvSpPr txBox="1">
            <a:spLocks noChangeArrowheads="1"/>
          </p:cNvSpPr>
          <p:nvPr/>
        </p:nvSpPr>
        <p:spPr>
          <a:xfrm>
            <a:off x="6478468" y="2889169"/>
            <a:ext cx="2703968" cy="961777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400" b="1">
                <a:solidFill>
                  <a:srgbClr val="0070C0"/>
                </a:solidFill>
              </a:rPr>
              <a:t>Q-</a:t>
            </a:r>
            <a:r>
              <a:rPr lang="es-ES" sz="1400" b="1" err="1">
                <a:solidFill>
                  <a:srgbClr val="0070C0"/>
                </a:solidFill>
              </a:rPr>
              <a:t>Learning</a:t>
            </a:r>
            <a:r>
              <a:rPr lang="es-ES" sz="1400" b="1">
                <a:solidFill>
                  <a:srgbClr val="0070C0"/>
                </a:solidFill>
              </a:rPr>
              <a:t> - Explotación</a:t>
            </a:r>
          </a:p>
          <a:p>
            <a:pPr marL="0" indent="0" algn="ctr">
              <a:buNone/>
            </a:pPr>
            <a:r>
              <a:rPr lang="es-ES" sz="1400">
                <a:solidFill>
                  <a:srgbClr val="7030A0"/>
                </a:solidFill>
              </a:rPr>
              <a:t>Qué Acción es Mejor?</a:t>
            </a:r>
          </a:p>
          <a:p>
            <a:pPr marL="0" indent="0" algn="ctr">
              <a:buNone/>
            </a:pPr>
            <a:r>
              <a:rPr lang="es-ES" sz="1400">
                <a:solidFill>
                  <a:schemeClr val="accent1">
                    <a:lumMod val="75000"/>
                  </a:schemeClr>
                </a:solidFill>
              </a:rPr>
              <a:t>Acción con Mejor Q</a:t>
            </a:r>
            <a:endParaRPr lang="es-CO" sz="14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367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E9E8DF06-3007-9A8B-C68A-4F1E3831A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277FD389-0D00-94AE-AE30-F92775AAA6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Métodos</a:t>
            </a:r>
            <a:r>
              <a:rPr lang="en"/>
              <a:t> de </a:t>
            </a:r>
            <a:r>
              <a:rPr lang="en" err="1"/>
              <a:t>Ensamble</a:t>
            </a:r>
            <a:endParaRPr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323034A-100E-DEB1-C7C3-A64F1B26E938}"/>
              </a:ext>
            </a:extLst>
          </p:cNvPr>
          <p:cNvSpPr txBox="1"/>
          <p:nvPr/>
        </p:nvSpPr>
        <p:spPr>
          <a:xfrm>
            <a:off x="9405257" y="500120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8AA180F-1D5B-2A66-496A-85B6F9833C85}"/>
              </a:ext>
            </a:extLst>
          </p:cNvPr>
          <p:cNvSpPr txBox="1">
            <a:spLocks noChangeArrowheads="1"/>
          </p:cNvSpPr>
          <p:nvPr/>
        </p:nvSpPr>
        <p:spPr>
          <a:xfrm>
            <a:off x="6118448" y="1172619"/>
            <a:ext cx="2541493" cy="1399131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 b="1">
                <a:solidFill>
                  <a:srgbClr val="C00000"/>
                </a:solidFill>
              </a:rPr>
              <a:t>PREGUNTA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0070C0"/>
                </a:solidFill>
              </a:rPr>
              <a:t>Cómo Obtener un Clasificador más </a:t>
            </a:r>
            <a:r>
              <a:rPr lang="es-CO" sz="1400">
                <a:solidFill>
                  <a:srgbClr val="7030A0"/>
                </a:solidFill>
              </a:rPr>
              <a:t>ROBUSTO</a:t>
            </a:r>
            <a:r>
              <a:rPr lang="es-CO" sz="1400">
                <a:solidFill>
                  <a:srgbClr val="0070C0"/>
                </a:solidFill>
              </a:rPr>
              <a:t>?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242E3C5-E1D0-A783-8E06-FBC31168CC62}"/>
              </a:ext>
            </a:extLst>
          </p:cNvPr>
          <p:cNvSpPr txBox="1">
            <a:spLocks noChangeArrowheads="1"/>
          </p:cNvSpPr>
          <p:nvPr/>
        </p:nvSpPr>
        <p:spPr>
          <a:xfrm>
            <a:off x="6118448" y="2568490"/>
            <a:ext cx="2541493" cy="13404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1400">
                <a:solidFill>
                  <a:srgbClr val="00B050"/>
                </a:solidFill>
              </a:rPr>
              <a:t>Combinando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00B050"/>
                </a:solidFill>
              </a:rPr>
              <a:t>Varios Simples !!</a:t>
            </a:r>
          </a:p>
          <a:p>
            <a:pPr marL="0" indent="0" algn="ctr">
              <a:buNone/>
            </a:pPr>
            <a:r>
              <a:rPr lang="es-CO" sz="1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de Ensamble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4B8126-18DB-A490-57F7-F80293EDAF48}"/>
              </a:ext>
            </a:extLst>
          </p:cNvPr>
          <p:cNvPicPr/>
          <p:nvPr/>
        </p:nvPicPr>
        <p:blipFill rotWithShape="1">
          <a:blip r:embed="rId3"/>
          <a:srcRect b="5316"/>
          <a:stretch/>
        </p:blipFill>
        <p:spPr>
          <a:xfrm>
            <a:off x="536415" y="772400"/>
            <a:ext cx="5341871" cy="417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6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7FDADD68-E2D8-7FDE-F487-59C2619BA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>
            <a:extLst>
              <a:ext uri="{FF2B5EF4-FFF2-40B4-BE49-F238E27FC236}">
                <a16:creationId xmlns:a16="http://schemas.microsoft.com/office/drawing/2014/main" id="{F81889C6-02C8-0296-43D0-CE4F43500F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253" y="1996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Métodos</a:t>
            </a:r>
            <a:r>
              <a:rPr lang="en"/>
              <a:t> de </a:t>
            </a:r>
            <a:r>
              <a:rPr lang="en" err="1"/>
              <a:t>Ensamble</a:t>
            </a:r>
            <a:endParaRPr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53C91C1-9548-B648-CDC2-4F3A5399ACF0}"/>
              </a:ext>
            </a:extLst>
          </p:cNvPr>
          <p:cNvSpPr txBox="1"/>
          <p:nvPr/>
        </p:nvSpPr>
        <p:spPr>
          <a:xfrm>
            <a:off x="9405257" y="500120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A585CBD-6B93-2526-454A-BEDC83EAA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84809"/>
            <a:ext cx="7772400" cy="364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794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>
          <a:extLst>
            <a:ext uri="{FF2B5EF4-FFF2-40B4-BE49-F238E27FC236}">
              <a16:creationId xmlns:a16="http://schemas.microsoft.com/office/drawing/2014/main" id="{4BD1C78D-14AB-56A2-C242-E078B6451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>
            <a:extLst>
              <a:ext uri="{FF2B5EF4-FFF2-40B4-BE49-F238E27FC236}">
                <a16:creationId xmlns:a16="http://schemas.microsoft.com/office/drawing/2014/main" id="{8E80BC03-1D2C-6649-481B-A0B5FAF053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 </a:t>
            </a:r>
            <a:r>
              <a:rPr lang="en" err="1"/>
              <a:t>complementario</a:t>
            </a:r>
            <a:endParaRPr/>
          </a:p>
        </p:txBody>
      </p:sp>
      <p:sp>
        <p:nvSpPr>
          <p:cNvPr id="526" name="Google Shape;526;p38">
            <a:extLst>
              <a:ext uri="{FF2B5EF4-FFF2-40B4-BE49-F238E27FC236}">
                <a16:creationId xmlns:a16="http://schemas.microsoft.com/office/drawing/2014/main" id="{50B566C2-7B29-E24E-24BE-3ADFA48404E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85457" y="1017725"/>
            <a:ext cx="8725073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– Videos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ES" altLang="es-CO" sz="1000" b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b="0" err="1">
                <a:solidFill>
                  <a:schemeClr val="accent1">
                    <a:lumMod val="50000"/>
                  </a:schemeClr>
                </a:solidFill>
              </a:rPr>
              <a:t>StatQuest</a:t>
            </a:r>
            <a:r>
              <a:rPr kumimoji="0" lang="es-ES" altLang="es-CO" b="0">
                <a:solidFill>
                  <a:schemeClr val="accent1">
                    <a:lumMod val="50000"/>
                  </a:schemeClr>
                </a:solidFill>
              </a:rPr>
              <a:t>: Regresión Logística </a:t>
            </a:r>
            <a:r>
              <a:rPr kumimoji="0" lang="en-US" altLang="es-CO" b="0">
                <a:solidFill>
                  <a:schemeClr val="accent1">
                    <a:lumMod val="50000"/>
                  </a:schemeClr>
                </a:solidFill>
              </a:rPr>
              <a:t>| </a:t>
            </a:r>
            <a:r>
              <a:rPr kumimoji="0" lang="en-US" altLang="es-CO" b="0" err="1">
                <a:solidFill>
                  <a:schemeClr val="accent1">
                    <a:lumMod val="50000"/>
                  </a:schemeClr>
                </a:solidFill>
              </a:rPr>
              <a:t>StatQuest</a:t>
            </a:r>
            <a:r>
              <a:rPr kumimoji="0" lang="en-US" altLang="es-CO" b="0">
                <a:solidFill>
                  <a:schemeClr val="accent1">
                    <a:lumMod val="50000"/>
                  </a:schemeClr>
                </a:solidFill>
              </a:rPr>
              <a:t> with Josh Starmer</a:t>
            </a:r>
            <a:r>
              <a:rPr kumimoji="0" lang="es-MX" altLang="es-CO" b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lvl="1" indent="-342900"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MX" altLang="es-CO" b="0">
                <a:solidFill>
                  <a:schemeClr val="accent1">
                    <a:lumMod val="50000"/>
                  </a:schemeClr>
                </a:solidFill>
                <a:hlinkClick r:id="rId3"/>
              </a:rPr>
              <a:t>https://www.youtube.com/watch?v=yIYKR4sgzI8</a:t>
            </a:r>
            <a:r>
              <a:rPr kumimoji="0" lang="es-MX" altLang="es-CO" b="0">
                <a:solidFill>
                  <a:schemeClr val="accent1">
                    <a:lumMod val="50000"/>
                  </a:schemeClr>
                </a:solidFill>
              </a:rPr>
              <a:t>    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n-US" altLang="es-CO" sz="1000" b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n-US" altLang="es-CO" b="0">
                <a:solidFill>
                  <a:schemeClr val="accent1">
                    <a:lumMod val="50000"/>
                  </a:schemeClr>
                </a:solidFill>
              </a:rPr>
              <a:t>Building your first Neural Network</a:t>
            </a:r>
            <a:r>
              <a:rPr kumimoji="0" lang="es-ES" altLang="es-CO" b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kumimoji="0" lang="en-US" altLang="es-CO" b="0">
                <a:solidFill>
                  <a:schemeClr val="accent1">
                    <a:lumMod val="50000"/>
                  </a:schemeClr>
                </a:solidFill>
              </a:rPr>
              <a:t>| </a:t>
            </a:r>
            <a:r>
              <a:rPr kumimoji="0" lang="en-US" altLang="es-CO" b="0" err="1">
                <a:solidFill>
                  <a:schemeClr val="accent1">
                    <a:lumMod val="50000"/>
                  </a:schemeClr>
                </a:solidFill>
              </a:rPr>
              <a:t>CodeEmporium</a:t>
            </a:r>
            <a:r>
              <a:rPr kumimoji="0" lang="es-MX" altLang="es-CO" b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lvl="1" indent="-342900"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MX" altLang="es-CO" b="0">
                <a:solidFill>
                  <a:schemeClr val="accent1">
                    <a:lumMod val="50000"/>
                  </a:schemeClr>
                </a:solidFill>
                <a:hlinkClick r:id="rId4"/>
              </a:rPr>
              <a:t>https://www.youtube.com/watch?v=DDSMOjlGkh8</a:t>
            </a:r>
            <a:r>
              <a:rPr kumimoji="0" lang="es-MX" altLang="es-CO" b="0">
                <a:solidFill>
                  <a:schemeClr val="accent1">
                    <a:lumMod val="50000"/>
                  </a:schemeClr>
                </a:solidFill>
              </a:rPr>
              <a:t>    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ES" altLang="es-CO" sz="1000" b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n-US" altLang="es-CO" b="0">
                <a:solidFill>
                  <a:schemeClr val="accent1">
                    <a:lumMod val="50000"/>
                  </a:schemeClr>
                </a:solidFill>
              </a:rPr>
              <a:t>How Large Language Models Work</a:t>
            </a:r>
            <a:r>
              <a:rPr kumimoji="0" lang="es-ES" altLang="es-CO" b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kumimoji="0" lang="en-US" altLang="es-CO" b="0">
                <a:solidFill>
                  <a:schemeClr val="accent1">
                    <a:lumMod val="50000"/>
                  </a:schemeClr>
                </a:solidFill>
              </a:rPr>
              <a:t>| IBM Technology</a:t>
            </a:r>
            <a:r>
              <a:rPr kumimoji="0" lang="es-MX" altLang="es-CO" b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lvl="1" indent="-342900"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MX" altLang="es-CO" b="0">
                <a:solidFill>
                  <a:schemeClr val="accent1">
                    <a:lumMod val="50000"/>
                  </a:schemeClr>
                </a:solidFill>
                <a:hlinkClick r:id="rId5"/>
              </a:rPr>
              <a:t>https://www.youtube.com/watch?v=5sLYAQS9sWQ</a:t>
            </a:r>
            <a:r>
              <a:rPr kumimoji="0" lang="es-MX" altLang="es-CO" b="0">
                <a:solidFill>
                  <a:schemeClr val="accent1">
                    <a:lumMod val="50000"/>
                  </a:schemeClr>
                </a:solidFill>
              </a:rPr>
              <a:t>   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ES" altLang="es-CO" sz="1000" b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n-US" altLang="es-CO" b="0">
                <a:solidFill>
                  <a:schemeClr val="accent1">
                    <a:lumMod val="50000"/>
                  </a:schemeClr>
                </a:solidFill>
              </a:rPr>
              <a:t>All Learning Algorithms Explained in 14 Minutes</a:t>
            </a:r>
            <a:r>
              <a:rPr kumimoji="0" lang="es-ES" altLang="es-CO" b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kumimoji="0" lang="en-US" altLang="es-CO" b="0">
                <a:solidFill>
                  <a:schemeClr val="accent1">
                    <a:lumMod val="50000"/>
                  </a:schemeClr>
                </a:solidFill>
              </a:rPr>
              <a:t>| CN Cinema Guest</a:t>
            </a:r>
            <a:r>
              <a:rPr kumimoji="0" lang="es-MX" altLang="es-CO" b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lvl="1" indent="-342900"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MX" altLang="es-CO" b="0">
                <a:solidFill>
                  <a:schemeClr val="accent1">
                    <a:lumMod val="50000"/>
                  </a:schemeClr>
                </a:solidFill>
                <a:hlinkClick r:id="rId6"/>
              </a:rPr>
              <a:t>https://www.youtube.com/watch?v=BT6Aw6Q75Yg</a:t>
            </a:r>
            <a:r>
              <a:rPr kumimoji="0" lang="es-MX" altLang="es-CO" b="0">
                <a:solidFill>
                  <a:schemeClr val="accent1">
                    <a:lumMod val="50000"/>
                  </a:schemeClr>
                </a:solidFill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325882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>
          <a:extLst>
            <a:ext uri="{FF2B5EF4-FFF2-40B4-BE49-F238E27FC236}">
              <a16:creationId xmlns:a16="http://schemas.microsoft.com/office/drawing/2014/main" id="{47AF7CDE-8037-C208-FCC1-78B66E334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>
            <a:extLst>
              <a:ext uri="{FF2B5EF4-FFF2-40B4-BE49-F238E27FC236}">
                <a16:creationId xmlns:a16="http://schemas.microsoft.com/office/drawing/2014/main" id="{4D9D276C-907A-2471-4143-19C0CD3735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Exposiciones</a:t>
            </a:r>
            <a:endParaRPr/>
          </a:p>
        </p:txBody>
      </p:sp>
      <p:sp>
        <p:nvSpPr>
          <p:cNvPr id="526" name="Google Shape;526;p38">
            <a:extLst>
              <a:ext uri="{FF2B5EF4-FFF2-40B4-BE49-F238E27FC236}">
                <a16:creationId xmlns:a16="http://schemas.microsoft.com/office/drawing/2014/main" id="{29D7F305-F186-9903-E722-515115C31CC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97424" y="1017725"/>
            <a:ext cx="7568077" cy="3680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sz="2000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Técnicas ML-IC</a:t>
            </a: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+mj-lt"/>
              <a:buAutoNum type="arabicPeriod"/>
            </a:pP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Redes Neuronales – Perceptrón + MLP – grupo 3</a:t>
            </a:r>
            <a:endParaRPr lang="es-CO" altLang="es-CO" b="0" dirty="0">
              <a:solidFill>
                <a:schemeClr val="accent1">
                  <a:lumMod val="50000"/>
                </a:schemeClr>
              </a:solidFill>
            </a:endParaRPr>
          </a:p>
          <a:p>
            <a:pPr indent="-457200">
              <a:spcBef>
                <a:spcPct val="20000"/>
              </a:spcBef>
              <a:buClr>
                <a:schemeClr val="hlink"/>
              </a:buClr>
              <a:buSzPct val="55000"/>
              <a:buFont typeface="+mj-lt"/>
              <a:buAutoNum type="arabicPeriod"/>
            </a:pPr>
            <a:r>
              <a:rPr kumimoji="0" lang="es-CO" altLang="es-CO" b="0" dirty="0" err="1">
                <a:solidFill>
                  <a:schemeClr val="accent1">
                    <a:lumMod val="50000"/>
                  </a:schemeClr>
                </a:solidFill>
              </a:rPr>
              <a:t>Support</a:t>
            </a: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 Vector Machines – Base + </a:t>
            </a:r>
            <a:r>
              <a:rPr kumimoji="0" lang="es-CO" altLang="es-CO" b="0" dirty="0" err="1">
                <a:solidFill>
                  <a:schemeClr val="accent1">
                    <a:lumMod val="50000"/>
                  </a:schemeClr>
                </a:solidFill>
              </a:rPr>
              <a:t>Kernel</a:t>
            </a: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 – grupo 5</a:t>
            </a:r>
            <a:endParaRPr lang="es-CO" altLang="es-CO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+mj-lt"/>
              <a:buAutoNum type="arabicPeriod"/>
            </a:pP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Árboles de Decisión – ID3 + </a:t>
            </a:r>
            <a:r>
              <a:rPr kumimoji="0" lang="es-CO" altLang="es-CO" b="0">
                <a:solidFill>
                  <a:schemeClr val="accent1">
                    <a:lumMod val="50000"/>
                  </a:schemeClr>
                </a:solidFill>
              </a:rPr>
              <a:t>C4.5 – grupo 2</a:t>
            </a:r>
            <a:endParaRPr lang="es-CO" altLang="es-CO" b="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+mj-lt"/>
              <a:buAutoNum type="arabicPeriod"/>
            </a:pPr>
            <a:endParaRPr kumimoji="0" lang="es-CO" altLang="es-CO" sz="600" b="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+mj-lt"/>
              <a:buAutoNum type="arabicPeriod"/>
            </a:pP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Regresiones – Lasso + Ridge + Logística – grupo 4</a:t>
            </a:r>
            <a:endParaRPr lang="es-CO" altLang="es-CO" b="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+mj-lt"/>
              <a:buAutoNum type="arabicPeriod"/>
            </a:pPr>
            <a:r>
              <a:rPr kumimoji="0" lang="es-CO" altLang="es-CO" b="0" dirty="0" err="1">
                <a:solidFill>
                  <a:schemeClr val="accent1">
                    <a:lumMod val="50000"/>
                  </a:schemeClr>
                </a:solidFill>
              </a:rPr>
              <a:t>Clustering</a:t>
            </a: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 – K-</a:t>
            </a:r>
            <a:r>
              <a:rPr kumimoji="0" lang="es-CO" altLang="es-CO" b="0" dirty="0" err="1">
                <a:solidFill>
                  <a:schemeClr val="accent1">
                    <a:lumMod val="50000"/>
                  </a:schemeClr>
                </a:solidFill>
              </a:rPr>
              <a:t>Means</a:t>
            </a: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 + </a:t>
            </a:r>
            <a:r>
              <a:rPr kumimoji="0" lang="es-CO" altLang="es-CO" b="0" dirty="0" err="1">
                <a:solidFill>
                  <a:schemeClr val="accent1">
                    <a:lumMod val="50000"/>
                  </a:schemeClr>
                </a:solidFill>
              </a:rPr>
              <a:t>DBScan</a:t>
            </a: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 – grupo 1</a:t>
            </a:r>
            <a:endParaRPr lang="es-CO" altLang="es-CO" b="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+mj-lt"/>
              <a:buAutoNum type="arabicPeriod"/>
            </a:pPr>
            <a:endParaRPr kumimoji="0" lang="es-CO" altLang="es-CO" sz="600" b="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+mj-lt"/>
              <a:buAutoNum type="arabicPeriod"/>
            </a:pP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Aprendizaje por Refuerzo – </a:t>
            </a:r>
            <a:r>
              <a:rPr kumimoji="0" lang="es-CO" altLang="es-CO" b="0" dirty="0" err="1">
                <a:solidFill>
                  <a:schemeClr val="accent1">
                    <a:lumMod val="50000"/>
                  </a:schemeClr>
                </a:solidFill>
              </a:rPr>
              <a:t>Qlearning</a:t>
            </a: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 – </a:t>
            </a:r>
            <a:endParaRPr lang="es-CO" altLang="es-CO" b="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+mj-lt"/>
              <a:buAutoNum type="arabicPeriod"/>
            </a:pP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Aprendizaje </a:t>
            </a:r>
            <a:r>
              <a:rPr kumimoji="0" lang="es-CO" altLang="es-CO" b="0" dirty="0" err="1">
                <a:solidFill>
                  <a:schemeClr val="accent1">
                    <a:lumMod val="50000"/>
                  </a:schemeClr>
                </a:solidFill>
              </a:rPr>
              <a:t>Lazy</a:t>
            </a: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 – General + KNN – </a:t>
            </a:r>
            <a:endParaRPr lang="es-CO" altLang="es-CO" b="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+mj-lt"/>
              <a:buAutoNum type="arabicPeriod"/>
            </a:pP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Métodos de Ensamble – General + </a:t>
            </a:r>
            <a:r>
              <a:rPr kumimoji="0" lang="es-CO" altLang="es-CO" b="0" dirty="0" err="1">
                <a:solidFill>
                  <a:schemeClr val="accent1">
                    <a:lumMod val="50000"/>
                  </a:schemeClr>
                </a:solidFill>
              </a:rPr>
              <a:t>Random</a:t>
            </a: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 Forest – grupo 6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+mj-lt"/>
              <a:buAutoNum type="arabicPeriod"/>
            </a:pPr>
            <a:endParaRPr kumimoji="0" lang="es-CO" altLang="es-CO" sz="600" b="0" dirty="0">
              <a:solidFill>
                <a:schemeClr val="accent1">
                  <a:lumMod val="50000"/>
                </a:schemeClr>
              </a:solidFill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+mj-lt"/>
              <a:buAutoNum type="arabicPeriod"/>
            </a:pP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Algoritmos Evolutivos – Algoritmo Genético Base + Aplicación en IA – </a:t>
            </a:r>
            <a:endParaRPr kumimoji="0" lang="es-CO" altLang="es-CO" b="0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34144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7"/>
          <p:cNvSpPr txBox="1">
            <a:spLocks noGrp="1"/>
          </p:cNvSpPr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Gracias!</a:t>
            </a:r>
            <a:endParaRPr/>
          </a:p>
        </p:txBody>
      </p:sp>
      <p:grpSp>
        <p:nvGrpSpPr>
          <p:cNvPr id="826" name="Google Shape;826;p47"/>
          <p:cNvGrpSpPr/>
          <p:nvPr/>
        </p:nvGrpSpPr>
        <p:grpSpPr>
          <a:xfrm>
            <a:off x="5577299" y="769535"/>
            <a:ext cx="3338639" cy="3282989"/>
            <a:chOff x="5577299" y="769535"/>
            <a:chExt cx="3338639" cy="3282989"/>
          </a:xfrm>
        </p:grpSpPr>
        <p:grpSp>
          <p:nvGrpSpPr>
            <p:cNvPr id="827" name="Google Shape;827;p47"/>
            <p:cNvGrpSpPr/>
            <p:nvPr/>
          </p:nvGrpSpPr>
          <p:grpSpPr>
            <a:xfrm>
              <a:off x="5577299" y="1652817"/>
              <a:ext cx="3338639" cy="2399708"/>
              <a:chOff x="5577299" y="1652817"/>
              <a:chExt cx="3338639" cy="2399708"/>
            </a:xfrm>
          </p:grpSpPr>
          <p:sp>
            <p:nvSpPr>
              <p:cNvPr id="828" name="Google Shape;828;p47"/>
              <p:cNvSpPr/>
              <p:nvPr/>
            </p:nvSpPr>
            <p:spPr>
              <a:xfrm>
                <a:off x="5577299" y="3926350"/>
                <a:ext cx="3338639" cy="126175"/>
              </a:xfrm>
              <a:custGeom>
                <a:avLst/>
                <a:gdLst/>
                <a:ahLst/>
                <a:cxnLst/>
                <a:rect l="l" t="t" r="r" b="b"/>
                <a:pathLst>
                  <a:path w="48848" h="1987" extrusionOk="0">
                    <a:moveTo>
                      <a:pt x="48848" y="996"/>
                    </a:moveTo>
                    <a:cubicBezTo>
                      <a:pt x="48848" y="1543"/>
                      <a:pt x="37914" y="1986"/>
                      <a:pt x="24424" y="1986"/>
                    </a:cubicBezTo>
                    <a:cubicBezTo>
                      <a:pt x="10935" y="1986"/>
                      <a:pt x="1" y="1543"/>
                      <a:pt x="1" y="996"/>
                    </a:cubicBezTo>
                    <a:cubicBezTo>
                      <a:pt x="1" y="450"/>
                      <a:pt x="10935" y="1"/>
                      <a:pt x="24424" y="1"/>
                    </a:cubicBezTo>
                    <a:cubicBezTo>
                      <a:pt x="37914" y="1"/>
                      <a:pt x="48848" y="450"/>
                      <a:pt x="48848" y="996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6228754" y="2129902"/>
                <a:ext cx="1911687" cy="1257580"/>
              </a:xfrm>
              <a:custGeom>
                <a:avLst/>
                <a:gdLst/>
                <a:ahLst/>
                <a:cxnLst/>
                <a:rect l="l" t="t" r="r" b="b"/>
                <a:pathLst>
                  <a:path w="32885" h="21633" extrusionOk="0">
                    <a:moveTo>
                      <a:pt x="32309" y="21633"/>
                    </a:moveTo>
                    <a:lnTo>
                      <a:pt x="576" y="21633"/>
                    </a:lnTo>
                    <a:cubicBezTo>
                      <a:pt x="260" y="21633"/>
                      <a:pt x="1" y="21374"/>
                      <a:pt x="1" y="21057"/>
                    </a:cubicBezTo>
                    <a:lnTo>
                      <a:pt x="1" y="576"/>
                    </a:lnTo>
                    <a:cubicBezTo>
                      <a:pt x="1" y="259"/>
                      <a:pt x="260" y="0"/>
                      <a:pt x="576" y="0"/>
                    </a:cubicBezTo>
                    <a:lnTo>
                      <a:pt x="32309" y="0"/>
                    </a:lnTo>
                    <a:cubicBezTo>
                      <a:pt x="32625" y="0"/>
                      <a:pt x="32884" y="259"/>
                      <a:pt x="32884" y="576"/>
                    </a:cubicBezTo>
                    <a:lnTo>
                      <a:pt x="32884" y="21057"/>
                    </a:lnTo>
                    <a:cubicBezTo>
                      <a:pt x="32884" y="21374"/>
                      <a:pt x="32625" y="21633"/>
                      <a:pt x="32309" y="21633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47"/>
              <p:cNvSpPr/>
              <p:nvPr/>
            </p:nvSpPr>
            <p:spPr>
              <a:xfrm>
                <a:off x="6233463" y="2134553"/>
                <a:ext cx="1901921" cy="1247930"/>
              </a:xfrm>
              <a:custGeom>
                <a:avLst/>
                <a:gdLst/>
                <a:ahLst/>
                <a:cxnLst/>
                <a:rect l="l" t="t" r="r" b="b"/>
                <a:pathLst>
                  <a:path w="32717" h="21467" extrusionOk="0">
                    <a:moveTo>
                      <a:pt x="1" y="20937"/>
                    </a:moveTo>
                    <a:lnTo>
                      <a:pt x="1" y="525"/>
                    </a:lnTo>
                    <a:cubicBezTo>
                      <a:pt x="1" y="237"/>
                      <a:pt x="236" y="1"/>
                      <a:pt x="524" y="1"/>
                    </a:cubicBezTo>
                    <a:lnTo>
                      <a:pt x="32187" y="1"/>
                    </a:lnTo>
                    <a:cubicBezTo>
                      <a:pt x="32475" y="1"/>
                      <a:pt x="32717" y="237"/>
                      <a:pt x="32717" y="525"/>
                    </a:cubicBezTo>
                    <a:lnTo>
                      <a:pt x="32717" y="20937"/>
                    </a:lnTo>
                    <a:cubicBezTo>
                      <a:pt x="32717" y="21225"/>
                      <a:pt x="32475" y="21466"/>
                      <a:pt x="32187" y="21466"/>
                    </a:cubicBezTo>
                    <a:lnTo>
                      <a:pt x="524" y="21466"/>
                    </a:lnTo>
                    <a:cubicBezTo>
                      <a:pt x="231" y="21466"/>
                      <a:pt x="1" y="21225"/>
                      <a:pt x="1" y="209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6339203" y="2238608"/>
                <a:ext cx="1689796" cy="1052547"/>
              </a:xfrm>
              <a:custGeom>
                <a:avLst/>
                <a:gdLst/>
                <a:ahLst/>
                <a:cxnLst/>
                <a:rect l="l" t="t" r="r" b="b"/>
                <a:pathLst>
                  <a:path w="29068" h="18106" extrusionOk="0">
                    <a:moveTo>
                      <a:pt x="0" y="1"/>
                    </a:moveTo>
                    <a:lnTo>
                      <a:pt x="29068" y="1"/>
                    </a:lnTo>
                    <a:lnTo>
                      <a:pt x="29068" y="18105"/>
                    </a:lnTo>
                    <a:lnTo>
                      <a:pt x="0" y="1810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5966524" y="3910297"/>
                <a:ext cx="2435868" cy="92721"/>
              </a:xfrm>
              <a:custGeom>
                <a:avLst/>
                <a:gdLst/>
                <a:ahLst/>
                <a:cxnLst/>
                <a:rect l="l" t="t" r="r" b="b"/>
                <a:pathLst>
                  <a:path w="41902" h="1595" extrusionOk="0">
                    <a:moveTo>
                      <a:pt x="40888" y="1595"/>
                    </a:moveTo>
                    <a:lnTo>
                      <a:pt x="1007" y="1595"/>
                    </a:lnTo>
                    <a:cubicBezTo>
                      <a:pt x="581" y="1595"/>
                      <a:pt x="173" y="1169"/>
                      <a:pt x="92" y="634"/>
                    </a:cubicBezTo>
                    <a:lnTo>
                      <a:pt x="0" y="0"/>
                    </a:lnTo>
                    <a:lnTo>
                      <a:pt x="41901" y="0"/>
                    </a:lnTo>
                    <a:lnTo>
                      <a:pt x="41809" y="634"/>
                    </a:lnTo>
                    <a:cubicBezTo>
                      <a:pt x="41723" y="1169"/>
                      <a:pt x="41314" y="1595"/>
                      <a:pt x="40888" y="15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5956467" y="3385718"/>
                <a:ext cx="2455575" cy="537377"/>
              </a:xfrm>
              <a:custGeom>
                <a:avLst/>
                <a:gdLst/>
                <a:ahLst/>
                <a:cxnLst/>
                <a:rect l="l" t="t" r="r" b="b"/>
                <a:pathLst>
                  <a:path w="42241" h="9244" extrusionOk="0">
                    <a:moveTo>
                      <a:pt x="41487" y="9243"/>
                    </a:moveTo>
                    <a:lnTo>
                      <a:pt x="754" y="9243"/>
                    </a:lnTo>
                    <a:cubicBezTo>
                      <a:pt x="231" y="9243"/>
                      <a:pt x="1" y="9076"/>
                      <a:pt x="288" y="8581"/>
                    </a:cubicBezTo>
                    <a:lnTo>
                      <a:pt x="4489" y="317"/>
                    </a:lnTo>
                    <a:cubicBezTo>
                      <a:pt x="4604" y="116"/>
                      <a:pt x="4783" y="1"/>
                      <a:pt x="4984" y="1"/>
                    </a:cubicBezTo>
                    <a:lnTo>
                      <a:pt x="37263" y="1"/>
                    </a:lnTo>
                    <a:cubicBezTo>
                      <a:pt x="37464" y="1"/>
                      <a:pt x="37643" y="116"/>
                      <a:pt x="37758" y="317"/>
                    </a:cubicBezTo>
                    <a:lnTo>
                      <a:pt x="41959" y="8576"/>
                    </a:lnTo>
                    <a:cubicBezTo>
                      <a:pt x="42241" y="9076"/>
                      <a:pt x="42011" y="9243"/>
                      <a:pt x="41487" y="92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6169228" y="3416876"/>
                <a:ext cx="2030045" cy="256946"/>
              </a:xfrm>
              <a:custGeom>
                <a:avLst/>
                <a:gdLst/>
                <a:ahLst/>
                <a:cxnLst/>
                <a:rect l="l" t="t" r="r" b="b"/>
                <a:pathLst>
                  <a:path w="34921" h="4420" extrusionOk="0">
                    <a:moveTo>
                      <a:pt x="34432" y="4420"/>
                    </a:moveTo>
                    <a:lnTo>
                      <a:pt x="490" y="4420"/>
                    </a:lnTo>
                    <a:cubicBezTo>
                      <a:pt x="196" y="4420"/>
                      <a:pt x="1" y="4328"/>
                      <a:pt x="58" y="4218"/>
                    </a:cubicBezTo>
                    <a:lnTo>
                      <a:pt x="2032" y="161"/>
                    </a:lnTo>
                    <a:cubicBezTo>
                      <a:pt x="2072" y="75"/>
                      <a:pt x="2320" y="0"/>
                      <a:pt x="2579" y="0"/>
                    </a:cubicBezTo>
                    <a:lnTo>
                      <a:pt x="32366" y="0"/>
                    </a:lnTo>
                    <a:cubicBezTo>
                      <a:pt x="32625" y="0"/>
                      <a:pt x="32866" y="75"/>
                      <a:pt x="32912" y="161"/>
                    </a:cubicBezTo>
                    <a:lnTo>
                      <a:pt x="34881" y="4218"/>
                    </a:lnTo>
                    <a:cubicBezTo>
                      <a:pt x="34921" y="4328"/>
                      <a:pt x="34725" y="4420"/>
                      <a:pt x="34432" y="44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35" name="Google Shape;835;p47"/>
              <p:cNvGrpSpPr/>
              <p:nvPr/>
            </p:nvGrpSpPr>
            <p:grpSpPr>
              <a:xfrm>
                <a:off x="6239159" y="3429258"/>
                <a:ext cx="1890236" cy="221485"/>
                <a:chOff x="6239159" y="3429258"/>
                <a:chExt cx="1890236" cy="221485"/>
              </a:xfrm>
            </p:grpSpPr>
            <p:sp>
              <p:nvSpPr>
                <p:cNvPr id="836" name="Google Shape;836;p47"/>
                <p:cNvSpPr/>
                <p:nvPr/>
              </p:nvSpPr>
              <p:spPr>
                <a:xfrm>
                  <a:off x="6239508" y="3431932"/>
                  <a:ext cx="1888841" cy="218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92" h="3764" extrusionOk="0">
                      <a:moveTo>
                        <a:pt x="2860" y="248"/>
                      </a:moveTo>
                      <a:lnTo>
                        <a:pt x="1801" y="248"/>
                      </a:lnTo>
                      <a:cubicBezTo>
                        <a:pt x="1681" y="248"/>
                        <a:pt x="1600" y="213"/>
                        <a:pt x="1611" y="173"/>
                      </a:cubicBezTo>
                      <a:lnTo>
                        <a:pt x="1658" y="81"/>
                      </a:lnTo>
                      <a:cubicBezTo>
                        <a:pt x="1681" y="40"/>
                        <a:pt x="1784" y="12"/>
                        <a:pt x="1911" y="12"/>
                      </a:cubicBezTo>
                      <a:lnTo>
                        <a:pt x="2958" y="12"/>
                      </a:lnTo>
                      <a:cubicBezTo>
                        <a:pt x="3079" y="12"/>
                        <a:pt x="3160" y="46"/>
                        <a:pt x="3148" y="81"/>
                      </a:cubicBezTo>
                      <a:lnTo>
                        <a:pt x="3102" y="173"/>
                      </a:lnTo>
                      <a:cubicBezTo>
                        <a:pt x="3085" y="213"/>
                        <a:pt x="2981" y="248"/>
                        <a:pt x="2860" y="248"/>
                      </a:cubicBezTo>
                      <a:close/>
                      <a:moveTo>
                        <a:pt x="5087" y="0"/>
                      </a:moveTo>
                      <a:lnTo>
                        <a:pt x="4040" y="0"/>
                      </a:lnTo>
                      <a:cubicBezTo>
                        <a:pt x="3913" y="0"/>
                        <a:pt x="3810" y="40"/>
                        <a:pt x="3793" y="75"/>
                      </a:cubicBezTo>
                      <a:lnTo>
                        <a:pt x="3758" y="167"/>
                      </a:lnTo>
                      <a:cubicBezTo>
                        <a:pt x="3741" y="213"/>
                        <a:pt x="3827" y="242"/>
                        <a:pt x="3942" y="242"/>
                      </a:cubicBezTo>
                      <a:lnTo>
                        <a:pt x="5001" y="242"/>
                      </a:lnTo>
                      <a:cubicBezTo>
                        <a:pt x="5122" y="242"/>
                        <a:pt x="5231" y="202"/>
                        <a:pt x="5243" y="167"/>
                      </a:cubicBezTo>
                      <a:lnTo>
                        <a:pt x="5283" y="75"/>
                      </a:lnTo>
                      <a:cubicBezTo>
                        <a:pt x="5289" y="29"/>
                        <a:pt x="5202" y="0"/>
                        <a:pt x="5087" y="0"/>
                      </a:cubicBezTo>
                      <a:close/>
                      <a:moveTo>
                        <a:pt x="7211" y="0"/>
                      </a:moveTo>
                      <a:lnTo>
                        <a:pt x="6169" y="0"/>
                      </a:lnTo>
                      <a:cubicBezTo>
                        <a:pt x="6043" y="0"/>
                        <a:pt x="5945" y="40"/>
                        <a:pt x="5928" y="75"/>
                      </a:cubicBezTo>
                      <a:lnTo>
                        <a:pt x="5899" y="167"/>
                      </a:lnTo>
                      <a:cubicBezTo>
                        <a:pt x="5887" y="213"/>
                        <a:pt x="5974" y="242"/>
                        <a:pt x="6094" y="242"/>
                      </a:cubicBezTo>
                      <a:lnTo>
                        <a:pt x="7153" y="242"/>
                      </a:lnTo>
                      <a:cubicBezTo>
                        <a:pt x="7274" y="242"/>
                        <a:pt x="7372" y="202"/>
                        <a:pt x="7389" y="167"/>
                      </a:cubicBezTo>
                      <a:lnTo>
                        <a:pt x="7418" y="75"/>
                      </a:lnTo>
                      <a:cubicBezTo>
                        <a:pt x="7418" y="29"/>
                        <a:pt x="7332" y="0"/>
                        <a:pt x="7211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8" y="40"/>
                        <a:pt x="8051" y="75"/>
                      </a:cubicBezTo>
                      <a:lnTo>
                        <a:pt x="8028" y="167"/>
                      </a:lnTo>
                      <a:cubicBezTo>
                        <a:pt x="8022" y="213"/>
                        <a:pt x="8109" y="242"/>
                        <a:pt x="8230" y="242"/>
                      </a:cubicBezTo>
                      <a:lnTo>
                        <a:pt x="9288" y="242"/>
                      </a:lnTo>
                      <a:cubicBezTo>
                        <a:pt x="9409" y="242"/>
                        <a:pt x="9513" y="202"/>
                        <a:pt x="9519" y="167"/>
                      </a:cubicBezTo>
                      <a:lnTo>
                        <a:pt x="9542" y="75"/>
                      </a:lnTo>
                      <a:cubicBezTo>
                        <a:pt x="9547" y="29"/>
                        <a:pt x="9455" y="0"/>
                        <a:pt x="9340" y="0"/>
                      </a:cubicBezTo>
                      <a:close/>
                      <a:moveTo>
                        <a:pt x="11464" y="0"/>
                      </a:moveTo>
                      <a:lnTo>
                        <a:pt x="10411" y="0"/>
                      </a:lnTo>
                      <a:cubicBezTo>
                        <a:pt x="10290" y="0"/>
                        <a:pt x="10186" y="40"/>
                        <a:pt x="10180" y="75"/>
                      </a:cubicBezTo>
                      <a:lnTo>
                        <a:pt x="10157" y="167"/>
                      </a:lnTo>
                      <a:cubicBezTo>
                        <a:pt x="10152" y="213"/>
                        <a:pt x="10244" y="242"/>
                        <a:pt x="10359" y="242"/>
                      </a:cubicBezTo>
                      <a:lnTo>
                        <a:pt x="11418" y="242"/>
                      </a:lnTo>
                      <a:cubicBezTo>
                        <a:pt x="11539" y="242"/>
                        <a:pt x="11642" y="202"/>
                        <a:pt x="11648" y="167"/>
                      </a:cubicBezTo>
                      <a:lnTo>
                        <a:pt x="11659" y="75"/>
                      </a:lnTo>
                      <a:cubicBezTo>
                        <a:pt x="11677" y="29"/>
                        <a:pt x="11585" y="0"/>
                        <a:pt x="11464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5" y="40"/>
                        <a:pt x="12315" y="75"/>
                      </a:cubicBezTo>
                      <a:lnTo>
                        <a:pt x="12304" y="167"/>
                      </a:lnTo>
                      <a:cubicBezTo>
                        <a:pt x="12298" y="213"/>
                        <a:pt x="12390" y="242"/>
                        <a:pt x="12511" y="242"/>
                      </a:cubicBezTo>
                      <a:lnTo>
                        <a:pt x="13570" y="242"/>
                      </a:lnTo>
                      <a:cubicBezTo>
                        <a:pt x="13691" y="242"/>
                        <a:pt x="13794" y="202"/>
                        <a:pt x="13794" y="167"/>
                      </a:cubicBezTo>
                      <a:lnTo>
                        <a:pt x="13800" y="75"/>
                      </a:lnTo>
                      <a:cubicBezTo>
                        <a:pt x="13800" y="29"/>
                        <a:pt x="13708" y="0"/>
                        <a:pt x="13587" y="0"/>
                      </a:cubicBezTo>
                      <a:close/>
                      <a:moveTo>
                        <a:pt x="15711" y="0"/>
                      </a:moveTo>
                      <a:lnTo>
                        <a:pt x="14663" y="0"/>
                      </a:lnTo>
                      <a:cubicBezTo>
                        <a:pt x="14543" y="0"/>
                        <a:pt x="14445" y="40"/>
                        <a:pt x="14439" y="75"/>
                      </a:cubicBezTo>
                      <a:lnTo>
                        <a:pt x="14433" y="167"/>
                      </a:lnTo>
                      <a:cubicBezTo>
                        <a:pt x="14433" y="213"/>
                        <a:pt x="14525" y="242"/>
                        <a:pt x="14646" y="242"/>
                      </a:cubicBezTo>
                      <a:lnTo>
                        <a:pt x="15705" y="242"/>
                      </a:lnTo>
                      <a:cubicBezTo>
                        <a:pt x="15826" y="242"/>
                        <a:pt x="15924" y="202"/>
                        <a:pt x="15924" y="167"/>
                      </a:cubicBezTo>
                      <a:lnTo>
                        <a:pt x="15924" y="75"/>
                      </a:lnTo>
                      <a:cubicBezTo>
                        <a:pt x="15929" y="29"/>
                        <a:pt x="15837" y="0"/>
                        <a:pt x="15711" y="0"/>
                      </a:cubicBezTo>
                      <a:close/>
                      <a:moveTo>
                        <a:pt x="17834" y="0"/>
                      </a:moveTo>
                      <a:lnTo>
                        <a:pt x="16787" y="0"/>
                      </a:lnTo>
                      <a:cubicBezTo>
                        <a:pt x="16660" y="0"/>
                        <a:pt x="16568" y="40"/>
                        <a:pt x="16568" y="75"/>
                      </a:cubicBezTo>
                      <a:lnTo>
                        <a:pt x="16568" y="167"/>
                      </a:lnTo>
                      <a:cubicBezTo>
                        <a:pt x="16568" y="213"/>
                        <a:pt x="16672" y="242"/>
                        <a:pt x="16787" y="242"/>
                      </a:cubicBezTo>
                      <a:lnTo>
                        <a:pt x="17840" y="242"/>
                      </a:lnTo>
                      <a:cubicBezTo>
                        <a:pt x="17961" y="242"/>
                        <a:pt x="18059" y="202"/>
                        <a:pt x="18059" y="167"/>
                      </a:cubicBezTo>
                      <a:lnTo>
                        <a:pt x="18047" y="75"/>
                      </a:lnTo>
                      <a:cubicBezTo>
                        <a:pt x="18059" y="29"/>
                        <a:pt x="17955" y="0"/>
                        <a:pt x="17834" y="0"/>
                      </a:cubicBezTo>
                      <a:close/>
                      <a:moveTo>
                        <a:pt x="19964" y="0"/>
                      </a:moveTo>
                      <a:lnTo>
                        <a:pt x="18916" y="0"/>
                      </a:lnTo>
                      <a:cubicBezTo>
                        <a:pt x="18790" y="0"/>
                        <a:pt x="18698" y="40"/>
                        <a:pt x="18703" y="75"/>
                      </a:cubicBezTo>
                      <a:lnTo>
                        <a:pt x="18715" y="167"/>
                      </a:lnTo>
                      <a:cubicBezTo>
                        <a:pt x="18715" y="213"/>
                        <a:pt x="18813" y="242"/>
                        <a:pt x="18933" y="242"/>
                      </a:cubicBezTo>
                      <a:lnTo>
                        <a:pt x="19992" y="242"/>
                      </a:lnTo>
                      <a:cubicBezTo>
                        <a:pt x="20113" y="242"/>
                        <a:pt x="20211" y="202"/>
                        <a:pt x="20200" y="167"/>
                      </a:cubicBezTo>
                      <a:lnTo>
                        <a:pt x="20188" y="75"/>
                      </a:lnTo>
                      <a:cubicBezTo>
                        <a:pt x="20182" y="29"/>
                        <a:pt x="20079" y="0"/>
                        <a:pt x="19964" y="0"/>
                      </a:cubicBezTo>
                      <a:close/>
                      <a:moveTo>
                        <a:pt x="22087" y="0"/>
                      </a:moveTo>
                      <a:lnTo>
                        <a:pt x="21034" y="0"/>
                      </a:lnTo>
                      <a:cubicBezTo>
                        <a:pt x="20913" y="0"/>
                        <a:pt x="20827" y="40"/>
                        <a:pt x="20827" y="75"/>
                      </a:cubicBezTo>
                      <a:lnTo>
                        <a:pt x="20844" y="167"/>
                      </a:lnTo>
                      <a:cubicBezTo>
                        <a:pt x="20850" y="213"/>
                        <a:pt x="20948" y="242"/>
                        <a:pt x="21074" y="242"/>
                      </a:cubicBezTo>
                      <a:lnTo>
                        <a:pt x="22127" y="242"/>
                      </a:lnTo>
                      <a:cubicBezTo>
                        <a:pt x="22248" y="242"/>
                        <a:pt x="22340" y="202"/>
                        <a:pt x="22329" y="167"/>
                      </a:cubicBezTo>
                      <a:lnTo>
                        <a:pt x="22306" y="75"/>
                      </a:lnTo>
                      <a:cubicBezTo>
                        <a:pt x="22312" y="29"/>
                        <a:pt x="22208" y="0"/>
                        <a:pt x="22087" y="0"/>
                      </a:cubicBezTo>
                      <a:close/>
                      <a:moveTo>
                        <a:pt x="24216" y="0"/>
                      </a:moveTo>
                      <a:lnTo>
                        <a:pt x="23163" y="0"/>
                      </a:lnTo>
                      <a:cubicBezTo>
                        <a:pt x="23042" y="0"/>
                        <a:pt x="22956" y="40"/>
                        <a:pt x="22962" y="75"/>
                      </a:cubicBezTo>
                      <a:lnTo>
                        <a:pt x="22985" y="167"/>
                      </a:lnTo>
                      <a:cubicBezTo>
                        <a:pt x="22991" y="213"/>
                        <a:pt x="23100" y="242"/>
                        <a:pt x="23215" y="242"/>
                      </a:cubicBezTo>
                      <a:lnTo>
                        <a:pt x="24274" y="242"/>
                      </a:lnTo>
                      <a:cubicBezTo>
                        <a:pt x="24395" y="242"/>
                        <a:pt x="24481" y="202"/>
                        <a:pt x="24475" y="167"/>
                      </a:cubicBezTo>
                      <a:lnTo>
                        <a:pt x="24452" y="75"/>
                      </a:lnTo>
                      <a:cubicBezTo>
                        <a:pt x="24441" y="29"/>
                        <a:pt x="24332" y="0"/>
                        <a:pt x="24216" y="0"/>
                      </a:cubicBezTo>
                      <a:close/>
                      <a:moveTo>
                        <a:pt x="26340" y="0"/>
                      </a:moveTo>
                      <a:lnTo>
                        <a:pt x="25287" y="0"/>
                      </a:lnTo>
                      <a:cubicBezTo>
                        <a:pt x="25166" y="0"/>
                        <a:pt x="25080" y="40"/>
                        <a:pt x="25091" y="75"/>
                      </a:cubicBezTo>
                      <a:lnTo>
                        <a:pt x="25120" y="167"/>
                      </a:lnTo>
                      <a:cubicBezTo>
                        <a:pt x="25137" y="213"/>
                        <a:pt x="25235" y="242"/>
                        <a:pt x="25362" y="242"/>
                      </a:cubicBezTo>
                      <a:lnTo>
                        <a:pt x="26415" y="242"/>
                      </a:lnTo>
                      <a:cubicBezTo>
                        <a:pt x="26541" y="242"/>
                        <a:pt x="26628" y="202"/>
                        <a:pt x="26610" y="167"/>
                      </a:cubicBezTo>
                      <a:lnTo>
                        <a:pt x="26582" y="75"/>
                      </a:lnTo>
                      <a:cubicBezTo>
                        <a:pt x="26570" y="29"/>
                        <a:pt x="26461" y="0"/>
                        <a:pt x="26340" y="0"/>
                      </a:cubicBezTo>
                      <a:close/>
                      <a:moveTo>
                        <a:pt x="28469" y="0"/>
                      </a:moveTo>
                      <a:lnTo>
                        <a:pt x="27416" y="0"/>
                      </a:lnTo>
                      <a:cubicBezTo>
                        <a:pt x="27295" y="0"/>
                        <a:pt x="27215" y="40"/>
                        <a:pt x="27220" y="75"/>
                      </a:cubicBezTo>
                      <a:lnTo>
                        <a:pt x="27261" y="167"/>
                      </a:lnTo>
                      <a:cubicBezTo>
                        <a:pt x="27272" y="213"/>
                        <a:pt x="27382" y="242"/>
                        <a:pt x="27502" y="242"/>
                      </a:cubicBezTo>
                      <a:lnTo>
                        <a:pt x="28561" y="242"/>
                      </a:lnTo>
                      <a:cubicBezTo>
                        <a:pt x="28682" y="242"/>
                        <a:pt x="28763" y="202"/>
                        <a:pt x="28745" y="167"/>
                      </a:cubicBezTo>
                      <a:lnTo>
                        <a:pt x="28711" y="75"/>
                      </a:lnTo>
                      <a:cubicBezTo>
                        <a:pt x="28688" y="29"/>
                        <a:pt x="28584" y="0"/>
                        <a:pt x="28469" y="0"/>
                      </a:cubicBezTo>
                      <a:close/>
                      <a:moveTo>
                        <a:pt x="30587" y="0"/>
                      </a:moveTo>
                      <a:lnTo>
                        <a:pt x="29540" y="0"/>
                      </a:lnTo>
                      <a:cubicBezTo>
                        <a:pt x="29419" y="0"/>
                        <a:pt x="29338" y="40"/>
                        <a:pt x="29350" y="75"/>
                      </a:cubicBezTo>
                      <a:lnTo>
                        <a:pt x="29396" y="167"/>
                      </a:lnTo>
                      <a:cubicBezTo>
                        <a:pt x="29407" y="213"/>
                        <a:pt x="29522" y="242"/>
                        <a:pt x="29637" y="242"/>
                      </a:cubicBezTo>
                      <a:lnTo>
                        <a:pt x="30696" y="242"/>
                      </a:lnTo>
                      <a:cubicBezTo>
                        <a:pt x="30817" y="242"/>
                        <a:pt x="30898" y="202"/>
                        <a:pt x="30886" y="167"/>
                      </a:cubicBezTo>
                      <a:lnTo>
                        <a:pt x="30840" y="75"/>
                      </a:lnTo>
                      <a:cubicBezTo>
                        <a:pt x="30817" y="29"/>
                        <a:pt x="30714" y="0"/>
                        <a:pt x="30587" y="0"/>
                      </a:cubicBezTo>
                      <a:close/>
                      <a:moveTo>
                        <a:pt x="2751" y="391"/>
                      </a:moveTo>
                      <a:lnTo>
                        <a:pt x="1744" y="391"/>
                      </a:lnTo>
                      <a:cubicBezTo>
                        <a:pt x="1623" y="391"/>
                        <a:pt x="1514" y="426"/>
                        <a:pt x="1491" y="460"/>
                      </a:cubicBezTo>
                      <a:lnTo>
                        <a:pt x="1335" y="817"/>
                      </a:lnTo>
                      <a:cubicBezTo>
                        <a:pt x="1312" y="858"/>
                        <a:pt x="1399" y="892"/>
                        <a:pt x="1519" y="892"/>
                      </a:cubicBezTo>
                      <a:lnTo>
                        <a:pt x="2550" y="892"/>
                      </a:lnTo>
                      <a:cubicBezTo>
                        <a:pt x="2670" y="892"/>
                        <a:pt x="2785" y="858"/>
                        <a:pt x="2803" y="817"/>
                      </a:cubicBezTo>
                      <a:lnTo>
                        <a:pt x="2947" y="460"/>
                      </a:lnTo>
                      <a:cubicBezTo>
                        <a:pt x="2952" y="420"/>
                        <a:pt x="2872" y="391"/>
                        <a:pt x="2751" y="391"/>
                      </a:cubicBezTo>
                      <a:close/>
                      <a:moveTo>
                        <a:pt x="4828" y="391"/>
                      </a:moveTo>
                      <a:lnTo>
                        <a:pt x="3821" y="391"/>
                      </a:lnTo>
                      <a:cubicBezTo>
                        <a:pt x="3700" y="391"/>
                        <a:pt x="3591" y="426"/>
                        <a:pt x="3580" y="460"/>
                      </a:cubicBezTo>
                      <a:lnTo>
                        <a:pt x="3442" y="817"/>
                      </a:lnTo>
                      <a:cubicBezTo>
                        <a:pt x="3424" y="858"/>
                        <a:pt x="3511" y="892"/>
                        <a:pt x="3631" y="892"/>
                      </a:cubicBezTo>
                      <a:lnTo>
                        <a:pt x="4662" y="892"/>
                      </a:lnTo>
                      <a:cubicBezTo>
                        <a:pt x="4782" y="892"/>
                        <a:pt x="4892" y="858"/>
                        <a:pt x="4915" y="817"/>
                      </a:cubicBezTo>
                      <a:lnTo>
                        <a:pt x="5036" y="460"/>
                      </a:lnTo>
                      <a:cubicBezTo>
                        <a:pt x="5036" y="420"/>
                        <a:pt x="4949" y="391"/>
                        <a:pt x="4828" y="391"/>
                      </a:cubicBezTo>
                      <a:close/>
                      <a:moveTo>
                        <a:pt x="6906" y="391"/>
                      </a:moveTo>
                      <a:lnTo>
                        <a:pt x="5899" y="391"/>
                      </a:lnTo>
                      <a:cubicBezTo>
                        <a:pt x="5778" y="391"/>
                        <a:pt x="5669" y="426"/>
                        <a:pt x="5657" y="460"/>
                      </a:cubicBezTo>
                      <a:lnTo>
                        <a:pt x="5542" y="817"/>
                      </a:lnTo>
                      <a:cubicBezTo>
                        <a:pt x="5525" y="858"/>
                        <a:pt x="5611" y="892"/>
                        <a:pt x="5738" y="892"/>
                      </a:cubicBezTo>
                      <a:lnTo>
                        <a:pt x="6762" y="892"/>
                      </a:lnTo>
                      <a:cubicBezTo>
                        <a:pt x="6889" y="892"/>
                        <a:pt x="6992" y="858"/>
                        <a:pt x="7009" y="817"/>
                      </a:cubicBezTo>
                      <a:lnTo>
                        <a:pt x="7107" y="460"/>
                      </a:lnTo>
                      <a:cubicBezTo>
                        <a:pt x="7113" y="420"/>
                        <a:pt x="7021" y="391"/>
                        <a:pt x="6906" y="391"/>
                      </a:cubicBezTo>
                      <a:close/>
                      <a:moveTo>
                        <a:pt x="8978" y="391"/>
                      </a:moveTo>
                      <a:lnTo>
                        <a:pt x="7971" y="391"/>
                      </a:lnTo>
                      <a:cubicBezTo>
                        <a:pt x="7850" y="391"/>
                        <a:pt x="7740" y="426"/>
                        <a:pt x="7735" y="460"/>
                      </a:cubicBezTo>
                      <a:lnTo>
                        <a:pt x="7643" y="817"/>
                      </a:lnTo>
                      <a:cubicBezTo>
                        <a:pt x="7625" y="858"/>
                        <a:pt x="7717" y="892"/>
                        <a:pt x="7844" y="892"/>
                      </a:cubicBezTo>
                      <a:lnTo>
                        <a:pt x="8874" y="892"/>
                      </a:lnTo>
                      <a:cubicBezTo>
                        <a:pt x="8995" y="892"/>
                        <a:pt x="9098" y="858"/>
                        <a:pt x="9110" y="817"/>
                      </a:cubicBezTo>
                      <a:lnTo>
                        <a:pt x="9191" y="460"/>
                      </a:lnTo>
                      <a:cubicBezTo>
                        <a:pt x="9196" y="420"/>
                        <a:pt x="9104" y="391"/>
                        <a:pt x="8978" y="391"/>
                      </a:cubicBezTo>
                      <a:close/>
                      <a:moveTo>
                        <a:pt x="11061" y="391"/>
                      </a:moveTo>
                      <a:lnTo>
                        <a:pt x="10054" y="391"/>
                      </a:lnTo>
                      <a:cubicBezTo>
                        <a:pt x="9927" y="391"/>
                        <a:pt x="9829" y="426"/>
                        <a:pt x="9824" y="460"/>
                      </a:cubicBezTo>
                      <a:lnTo>
                        <a:pt x="9749" y="817"/>
                      </a:lnTo>
                      <a:cubicBezTo>
                        <a:pt x="9743" y="858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6" y="858"/>
                        <a:pt x="11216" y="817"/>
                      </a:cubicBezTo>
                      <a:lnTo>
                        <a:pt x="11274" y="460"/>
                      </a:lnTo>
                      <a:cubicBezTo>
                        <a:pt x="11274" y="420"/>
                        <a:pt x="11182" y="391"/>
                        <a:pt x="11061" y="391"/>
                      </a:cubicBezTo>
                      <a:close/>
                      <a:moveTo>
                        <a:pt x="13138" y="391"/>
                      </a:moveTo>
                      <a:lnTo>
                        <a:pt x="12131" y="391"/>
                      </a:lnTo>
                      <a:cubicBezTo>
                        <a:pt x="12010" y="391"/>
                        <a:pt x="11907" y="426"/>
                        <a:pt x="11901" y="460"/>
                      </a:cubicBezTo>
                      <a:lnTo>
                        <a:pt x="11849" y="817"/>
                      </a:lnTo>
                      <a:cubicBezTo>
                        <a:pt x="11844" y="858"/>
                        <a:pt x="11936" y="892"/>
                        <a:pt x="12056" y="892"/>
                      </a:cubicBezTo>
                      <a:lnTo>
                        <a:pt x="13087" y="892"/>
                      </a:lnTo>
                      <a:cubicBezTo>
                        <a:pt x="13207" y="892"/>
                        <a:pt x="13311" y="858"/>
                        <a:pt x="13317" y="817"/>
                      </a:cubicBezTo>
                      <a:lnTo>
                        <a:pt x="13346" y="460"/>
                      </a:lnTo>
                      <a:cubicBezTo>
                        <a:pt x="13351" y="420"/>
                        <a:pt x="13259" y="391"/>
                        <a:pt x="13138" y="391"/>
                      </a:cubicBezTo>
                      <a:close/>
                      <a:moveTo>
                        <a:pt x="15216" y="391"/>
                      </a:moveTo>
                      <a:lnTo>
                        <a:pt x="14209" y="391"/>
                      </a:lnTo>
                      <a:cubicBezTo>
                        <a:pt x="14088" y="391"/>
                        <a:pt x="13984" y="426"/>
                        <a:pt x="13984" y="460"/>
                      </a:cubicBezTo>
                      <a:lnTo>
                        <a:pt x="13967" y="817"/>
                      </a:lnTo>
                      <a:cubicBezTo>
                        <a:pt x="13967" y="858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35" y="858"/>
                        <a:pt x="15435" y="817"/>
                      </a:cubicBezTo>
                      <a:lnTo>
                        <a:pt x="15440" y="460"/>
                      </a:lnTo>
                      <a:cubicBezTo>
                        <a:pt x="15435" y="420"/>
                        <a:pt x="15337" y="391"/>
                        <a:pt x="15216" y="391"/>
                      </a:cubicBezTo>
                      <a:close/>
                      <a:moveTo>
                        <a:pt x="17293" y="391"/>
                      </a:moveTo>
                      <a:lnTo>
                        <a:pt x="16286" y="391"/>
                      </a:lnTo>
                      <a:cubicBezTo>
                        <a:pt x="16165" y="391"/>
                        <a:pt x="16073" y="426"/>
                        <a:pt x="16073" y="460"/>
                      </a:cubicBezTo>
                      <a:lnTo>
                        <a:pt x="16073" y="817"/>
                      </a:lnTo>
                      <a:cubicBezTo>
                        <a:pt x="16073" y="858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8"/>
                        <a:pt x="17541" y="817"/>
                      </a:cubicBezTo>
                      <a:lnTo>
                        <a:pt x="17524" y="460"/>
                      </a:lnTo>
                      <a:cubicBezTo>
                        <a:pt x="17512" y="420"/>
                        <a:pt x="17408" y="391"/>
                        <a:pt x="17293" y="391"/>
                      </a:cubicBezTo>
                      <a:close/>
                      <a:moveTo>
                        <a:pt x="19377" y="391"/>
                      </a:moveTo>
                      <a:lnTo>
                        <a:pt x="18370" y="391"/>
                      </a:lnTo>
                      <a:cubicBezTo>
                        <a:pt x="18243" y="391"/>
                        <a:pt x="18151" y="426"/>
                        <a:pt x="18151" y="460"/>
                      </a:cubicBezTo>
                      <a:lnTo>
                        <a:pt x="18174" y="817"/>
                      </a:lnTo>
                      <a:cubicBezTo>
                        <a:pt x="18174" y="858"/>
                        <a:pt x="18272" y="892"/>
                        <a:pt x="18398" y="892"/>
                      </a:cubicBezTo>
                      <a:lnTo>
                        <a:pt x="19423" y="892"/>
                      </a:lnTo>
                      <a:cubicBezTo>
                        <a:pt x="19549" y="892"/>
                        <a:pt x="19641" y="858"/>
                        <a:pt x="19641" y="817"/>
                      </a:cubicBezTo>
                      <a:lnTo>
                        <a:pt x="19607" y="460"/>
                      </a:lnTo>
                      <a:cubicBezTo>
                        <a:pt x="19590" y="420"/>
                        <a:pt x="19492" y="391"/>
                        <a:pt x="19377" y="391"/>
                      </a:cubicBezTo>
                      <a:close/>
                      <a:moveTo>
                        <a:pt x="21448" y="391"/>
                      </a:moveTo>
                      <a:lnTo>
                        <a:pt x="20441" y="391"/>
                      </a:lnTo>
                      <a:cubicBezTo>
                        <a:pt x="20315" y="391"/>
                        <a:pt x="20223" y="426"/>
                        <a:pt x="20228" y="460"/>
                      </a:cubicBezTo>
                      <a:lnTo>
                        <a:pt x="20274" y="817"/>
                      </a:lnTo>
                      <a:cubicBezTo>
                        <a:pt x="20280" y="858"/>
                        <a:pt x="20384" y="892"/>
                        <a:pt x="20505" y="892"/>
                      </a:cubicBezTo>
                      <a:lnTo>
                        <a:pt x="21535" y="892"/>
                      </a:lnTo>
                      <a:cubicBezTo>
                        <a:pt x="21656" y="892"/>
                        <a:pt x="21748" y="858"/>
                        <a:pt x="21742" y="817"/>
                      </a:cubicBezTo>
                      <a:lnTo>
                        <a:pt x="21684" y="460"/>
                      </a:lnTo>
                      <a:cubicBezTo>
                        <a:pt x="21679" y="420"/>
                        <a:pt x="21569" y="391"/>
                        <a:pt x="21448" y="391"/>
                      </a:cubicBezTo>
                      <a:close/>
                      <a:moveTo>
                        <a:pt x="23526" y="391"/>
                      </a:moveTo>
                      <a:lnTo>
                        <a:pt x="22519" y="391"/>
                      </a:lnTo>
                      <a:cubicBezTo>
                        <a:pt x="22398" y="391"/>
                        <a:pt x="22312" y="426"/>
                        <a:pt x="22317" y="460"/>
                      </a:cubicBezTo>
                      <a:lnTo>
                        <a:pt x="22381" y="817"/>
                      </a:lnTo>
                      <a:cubicBezTo>
                        <a:pt x="22386" y="858"/>
                        <a:pt x="22496" y="892"/>
                        <a:pt x="22617" y="892"/>
                      </a:cubicBezTo>
                      <a:lnTo>
                        <a:pt x="23647" y="892"/>
                      </a:lnTo>
                      <a:cubicBezTo>
                        <a:pt x="23768" y="892"/>
                        <a:pt x="23865" y="858"/>
                        <a:pt x="23848" y="817"/>
                      </a:cubicBezTo>
                      <a:lnTo>
                        <a:pt x="23768" y="460"/>
                      </a:lnTo>
                      <a:cubicBezTo>
                        <a:pt x="23756" y="420"/>
                        <a:pt x="23647" y="391"/>
                        <a:pt x="23526" y="391"/>
                      </a:cubicBezTo>
                      <a:close/>
                      <a:moveTo>
                        <a:pt x="25603" y="391"/>
                      </a:moveTo>
                      <a:lnTo>
                        <a:pt x="24596" y="391"/>
                      </a:lnTo>
                      <a:cubicBezTo>
                        <a:pt x="24475" y="391"/>
                        <a:pt x="24389" y="426"/>
                        <a:pt x="24395" y="460"/>
                      </a:cubicBezTo>
                      <a:lnTo>
                        <a:pt x="24481" y="817"/>
                      </a:lnTo>
                      <a:cubicBezTo>
                        <a:pt x="24487" y="858"/>
                        <a:pt x="24596" y="892"/>
                        <a:pt x="24723" y="892"/>
                      </a:cubicBezTo>
                      <a:lnTo>
                        <a:pt x="25753" y="892"/>
                      </a:lnTo>
                      <a:cubicBezTo>
                        <a:pt x="25874" y="892"/>
                        <a:pt x="25966" y="858"/>
                        <a:pt x="25954" y="817"/>
                      </a:cubicBezTo>
                      <a:lnTo>
                        <a:pt x="25857" y="460"/>
                      </a:lnTo>
                      <a:cubicBezTo>
                        <a:pt x="25834" y="420"/>
                        <a:pt x="25724" y="391"/>
                        <a:pt x="25603" y="391"/>
                      </a:cubicBezTo>
                      <a:close/>
                      <a:moveTo>
                        <a:pt x="27681" y="391"/>
                      </a:moveTo>
                      <a:lnTo>
                        <a:pt x="26674" y="391"/>
                      </a:lnTo>
                      <a:cubicBezTo>
                        <a:pt x="26553" y="391"/>
                        <a:pt x="26467" y="426"/>
                        <a:pt x="26484" y="460"/>
                      </a:cubicBezTo>
                      <a:lnTo>
                        <a:pt x="26587" y="817"/>
                      </a:lnTo>
                      <a:cubicBezTo>
                        <a:pt x="26605" y="858"/>
                        <a:pt x="26714" y="892"/>
                        <a:pt x="26835" y="892"/>
                      </a:cubicBezTo>
                      <a:lnTo>
                        <a:pt x="27865" y="892"/>
                      </a:lnTo>
                      <a:cubicBezTo>
                        <a:pt x="27986" y="892"/>
                        <a:pt x="28072" y="858"/>
                        <a:pt x="28055" y="817"/>
                      </a:cubicBezTo>
                      <a:lnTo>
                        <a:pt x="27928" y="460"/>
                      </a:lnTo>
                      <a:cubicBezTo>
                        <a:pt x="27911" y="420"/>
                        <a:pt x="27807" y="391"/>
                        <a:pt x="27681" y="391"/>
                      </a:cubicBezTo>
                      <a:close/>
                      <a:moveTo>
                        <a:pt x="30760" y="391"/>
                      </a:moveTo>
                      <a:lnTo>
                        <a:pt x="28745" y="391"/>
                      </a:lnTo>
                      <a:cubicBezTo>
                        <a:pt x="28625" y="391"/>
                        <a:pt x="28538" y="426"/>
                        <a:pt x="28561" y="460"/>
                      </a:cubicBezTo>
                      <a:lnTo>
                        <a:pt x="28699" y="817"/>
                      </a:lnTo>
                      <a:cubicBezTo>
                        <a:pt x="28711" y="858"/>
                        <a:pt x="28826" y="892"/>
                        <a:pt x="28947" y="892"/>
                      </a:cubicBezTo>
                      <a:lnTo>
                        <a:pt x="30990" y="892"/>
                      </a:lnTo>
                      <a:cubicBezTo>
                        <a:pt x="31116" y="892"/>
                        <a:pt x="31203" y="858"/>
                        <a:pt x="31180" y="817"/>
                      </a:cubicBezTo>
                      <a:lnTo>
                        <a:pt x="31019" y="460"/>
                      </a:lnTo>
                      <a:cubicBezTo>
                        <a:pt x="31001" y="420"/>
                        <a:pt x="30886" y="391"/>
                        <a:pt x="30760" y="391"/>
                      </a:cubicBezTo>
                      <a:close/>
                      <a:moveTo>
                        <a:pt x="30242" y="1565"/>
                      </a:moveTo>
                      <a:lnTo>
                        <a:pt x="31295" y="1565"/>
                      </a:lnTo>
                      <a:cubicBezTo>
                        <a:pt x="31416" y="1565"/>
                        <a:pt x="31502" y="1525"/>
                        <a:pt x="31479" y="1485"/>
                      </a:cubicBezTo>
                      <a:lnTo>
                        <a:pt x="31312" y="1117"/>
                      </a:lnTo>
                      <a:cubicBezTo>
                        <a:pt x="31295" y="1070"/>
                        <a:pt x="31180" y="1036"/>
                        <a:pt x="31053" y="1036"/>
                      </a:cubicBezTo>
                      <a:lnTo>
                        <a:pt x="30029" y="1036"/>
                      </a:lnTo>
                      <a:cubicBezTo>
                        <a:pt x="29902" y="1036"/>
                        <a:pt x="29816" y="1070"/>
                        <a:pt x="29833" y="1117"/>
                      </a:cubicBezTo>
                      <a:lnTo>
                        <a:pt x="29983" y="1485"/>
                      </a:lnTo>
                      <a:cubicBezTo>
                        <a:pt x="30006" y="1525"/>
                        <a:pt x="30121" y="1565"/>
                        <a:pt x="30242" y="1565"/>
                      </a:cubicBezTo>
                      <a:close/>
                      <a:moveTo>
                        <a:pt x="28095" y="1565"/>
                      </a:moveTo>
                      <a:lnTo>
                        <a:pt x="29143" y="1565"/>
                      </a:lnTo>
                      <a:cubicBezTo>
                        <a:pt x="29263" y="1565"/>
                        <a:pt x="29361" y="1525"/>
                        <a:pt x="29338" y="1485"/>
                      </a:cubicBezTo>
                      <a:lnTo>
                        <a:pt x="29194" y="1117"/>
                      </a:lnTo>
                      <a:cubicBezTo>
                        <a:pt x="29177" y="1070"/>
                        <a:pt x="29062" y="1036"/>
                        <a:pt x="28941" y="1036"/>
                      </a:cubicBezTo>
                      <a:lnTo>
                        <a:pt x="27911" y="1036"/>
                      </a:lnTo>
                      <a:cubicBezTo>
                        <a:pt x="27790" y="1036"/>
                        <a:pt x="27704" y="1070"/>
                        <a:pt x="27721" y="1117"/>
                      </a:cubicBezTo>
                      <a:lnTo>
                        <a:pt x="27848" y="1485"/>
                      </a:lnTo>
                      <a:cubicBezTo>
                        <a:pt x="27853" y="1525"/>
                        <a:pt x="27963" y="1565"/>
                        <a:pt x="28095" y="1565"/>
                      </a:cubicBezTo>
                      <a:close/>
                      <a:moveTo>
                        <a:pt x="25937" y="1565"/>
                      </a:moveTo>
                      <a:lnTo>
                        <a:pt x="26984" y="1565"/>
                      </a:lnTo>
                      <a:cubicBezTo>
                        <a:pt x="27105" y="1565"/>
                        <a:pt x="27203" y="1525"/>
                        <a:pt x="27186" y="1485"/>
                      </a:cubicBezTo>
                      <a:lnTo>
                        <a:pt x="27065" y="1117"/>
                      </a:lnTo>
                      <a:cubicBezTo>
                        <a:pt x="27048" y="1070"/>
                        <a:pt x="26944" y="1036"/>
                        <a:pt x="26812" y="1036"/>
                      </a:cubicBezTo>
                      <a:lnTo>
                        <a:pt x="25782" y="1036"/>
                      </a:lnTo>
                      <a:cubicBezTo>
                        <a:pt x="25661" y="1036"/>
                        <a:pt x="25569" y="1070"/>
                        <a:pt x="25580" y="1117"/>
                      </a:cubicBezTo>
                      <a:lnTo>
                        <a:pt x="25684" y="1485"/>
                      </a:lnTo>
                      <a:cubicBezTo>
                        <a:pt x="25707" y="1525"/>
                        <a:pt x="25810" y="1565"/>
                        <a:pt x="25937" y="1565"/>
                      </a:cubicBezTo>
                      <a:close/>
                      <a:moveTo>
                        <a:pt x="23785" y="1565"/>
                      </a:moveTo>
                      <a:lnTo>
                        <a:pt x="24832" y="1565"/>
                      </a:lnTo>
                      <a:cubicBezTo>
                        <a:pt x="24959" y="1565"/>
                        <a:pt x="25051" y="1525"/>
                        <a:pt x="25045" y="1485"/>
                      </a:cubicBezTo>
                      <a:lnTo>
                        <a:pt x="24947" y="1117"/>
                      </a:lnTo>
                      <a:cubicBezTo>
                        <a:pt x="24936" y="1070"/>
                        <a:pt x="24826" y="1036"/>
                        <a:pt x="24706" y="1036"/>
                      </a:cubicBezTo>
                      <a:lnTo>
                        <a:pt x="23675" y="1036"/>
                      </a:lnTo>
                      <a:cubicBezTo>
                        <a:pt x="23555" y="1036"/>
                        <a:pt x="23457" y="1070"/>
                        <a:pt x="23468" y="1117"/>
                      </a:cubicBezTo>
                      <a:lnTo>
                        <a:pt x="23543" y="1485"/>
                      </a:lnTo>
                      <a:cubicBezTo>
                        <a:pt x="23555" y="1525"/>
                        <a:pt x="23664" y="1565"/>
                        <a:pt x="23785" y="1565"/>
                      </a:cubicBezTo>
                      <a:close/>
                      <a:moveTo>
                        <a:pt x="21632" y="1565"/>
                      </a:moveTo>
                      <a:lnTo>
                        <a:pt x="22686" y="1565"/>
                      </a:lnTo>
                      <a:cubicBezTo>
                        <a:pt x="22806" y="1565"/>
                        <a:pt x="22899" y="1525"/>
                        <a:pt x="22893" y="1485"/>
                      </a:cubicBezTo>
                      <a:lnTo>
                        <a:pt x="22818" y="1117"/>
                      </a:lnTo>
                      <a:cubicBezTo>
                        <a:pt x="22812" y="1070"/>
                        <a:pt x="22703" y="1036"/>
                        <a:pt x="22582" y="1036"/>
                      </a:cubicBezTo>
                      <a:lnTo>
                        <a:pt x="21552" y="1036"/>
                      </a:lnTo>
                      <a:cubicBezTo>
                        <a:pt x="21431" y="1036"/>
                        <a:pt x="21339" y="1070"/>
                        <a:pt x="21345" y="1117"/>
                      </a:cubicBezTo>
                      <a:lnTo>
                        <a:pt x="21402" y="1485"/>
                      </a:lnTo>
                      <a:cubicBezTo>
                        <a:pt x="21397" y="1525"/>
                        <a:pt x="21506" y="1565"/>
                        <a:pt x="21632" y="1565"/>
                      </a:cubicBezTo>
                      <a:close/>
                      <a:moveTo>
                        <a:pt x="19474" y="1565"/>
                      </a:moveTo>
                      <a:lnTo>
                        <a:pt x="20528" y="1565"/>
                      </a:lnTo>
                      <a:cubicBezTo>
                        <a:pt x="20648" y="1565"/>
                        <a:pt x="20746" y="1525"/>
                        <a:pt x="20740" y="1485"/>
                      </a:cubicBezTo>
                      <a:lnTo>
                        <a:pt x="20689" y="1117"/>
                      </a:lnTo>
                      <a:cubicBezTo>
                        <a:pt x="20683" y="1070"/>
                        <a:pt x="20585" y="1036"/>
                        <a:pt x="20459" y="1036"/>
                      </a:cubicBezTo>
                      <a:lnTo>
                        <a:pt x="19434" y="1036"/>
                      </a:lnTo>
                      <a:cubicBezTo>
                        <a:pt x="19308" y="1036"/>
                        <a:pt x="19210" y="1070"/>
                        <a:pt x="19215" y="1117"/>
                      </a:cubicBezTo>
                      <a:lnTo>
                        <a:pt x="19250" y="1485"/>
                      </a:lnTo>
                      <a:cubicBezTo>
                        <a:pt x="19244" y="1525"/>
                        <a:pt x="19354" y="1565"/>
                        <a:pt x="19474" y="1565"/>
                      </a:cubicBezTo>
                      <a:close/>
                      <a:moveTo>
                        <a:pt x="17322" y="1565"/>
                      </a:moveTo>
                      <a:lnTo>
                        <a:pt x="18375" y="1565"/>
                      </a:lnTo>
                      <a:cubicBezTo>
                        <a:pt x="18496" y="1565"/>
                        <a:pt x="18600" y="1525"/>
                        <a:pt x="18600" y="1485"/>
                      </a:cubicBezTo>
                      <a:lnTo>
                        <a:pt x="18565" y="1117"/>
                      </a:lnTo>
                      <a:cubicBezTo>
                        <a:pt x="18565" y="1070"/>
                        <a:pt x="18462" y="1036"/>
                        <a:pt x="18335" y="1036"/>
                      </a:cubicBezTo>
                      <a:lnTo>
                        <a:pt x="17311" y="1036"/>
                      </a:lnTo>
                      <a:cubicBezTo>
                        <a:pt x="17184" y="1036"/>
                        <a:pt x="17086" y="1070"/>
                        <a:pt x="17086" y="1117"/>
                      </a:cubicBezTo>
                      <a:lnTo>
                        <a:pt x="17092" y="1485"/>
                      </a:lnTo>
                      <a:cubicBezTo>
                        <a:pt x="17092" y="1525"/>
                        <a:pt x="17201" y="1565"/>
                        <a:pt x="17322" y="1565"/>
                      </a:cubicBezTo>
                      <a:close/>
                      <a:moveTo>
                        <a:pt x="15170" y="1565"/>
                      </a:moveTo>
                      <a:lnTo>
                        <a:pt x="16223" y="1565"/>
                      </a:lnTo>
                      <a:cubicBezTo>
                        <a:pt x="16344" y="1565"/>
                        <a:pt x="16447" y="1525"/>
                        <a:pt x="16447" y="1485"/>
                      </a:cubicBezTo>
                      <a:lnTo>
                        <a:pt x="16447" y="1117"/>
                      </a:lnTo>
                      <a:cubicBezTo>
                        <a:pt x="16447" y="1070"/>
                        <a:pt x="16344" y="1036"/>
                        <a:pt x="16223" y="1036"/>
                      </a:cubicBezTo>
                      <a:lnTo>
                        <a:pt x="15193" y="1036"/>
                      </a:lnTo>
                      <a:cubicBezTo>
                        <a:pt x="15072" y="1036"/>
                        <a:pt x="14968" y="1070"/>
                        <a:pt x="14968" y="1117"/>
                      </a:cubicBezTo>
                      <a:lnTo>
                        <a:pt x="14957" y="1485"/>
                      </a:lnTo>
                      <a:cubicBezTo>
                        <a:pt x="14945" y="1525"/>
                        <a:pt x="15043" y="1565"/>
                        <a:pt x="15170" y="1565"/>
                      </a:cubicBezTo>
                      <a:close/>
                      <a:moveTo>
                        <a:pt x="13012" y="1565"/>
                      </a:moveTo>
                      <a:lnTo>
                        <a:pt x="14065" y="1565"/>
                      </a:lnTo>
                      <a:cubicBezTo>
                        <a:pt x="14186" y="1565"/>
                        <a:pt x="14295" y="1525"/>
                        <a:pt x="14295" y="1485"/>
                      </a:cubicBezTo>
                      <a:lnTo>
                        <a:pt x="14318" y="1117"/>
                      </a:lnTo>
                      <a:cubicBezTo>
                        <a:pt x="14318" y="1070"/>
                        <a:pt x="14220" y="1036"/>
                        <a:pt x="14099" y="1036"/>
                      </a:cubicBezTo>
                      <a:lnTo>
                        <a:pt x="13069" y="1036"/>
                      </a:lnTo>
                      <a:cubicBezTo>
                        <a:pt x="12948" y="1036"/>
                        <a:pt x="12851" y="1070"/>
                        <a:pt x="12839" y="1117"/>
                      </a:cubicBezTo>
                      <a:lnTo>
                        <a:pt x="12805" y="1485"/>
                      </a:lnTo>
                      <a:cubicBezTo>
                        <a:pt x="12793" y="1525"/>
                        <a:pt x="12891" y="1565"/>
                        <a:pt x="13012" y="1565"/>
                      </a:cubicBezTo>
                      <a:close/>
                      <a:moveTo>
                        <a:pt x="10865" y="1565"/>
                      </a:moveTo>
                      <a:lnTo>
                        <a:pt x="11913" y="1565"/>
                      </a:lnTo>
                      <a:cubicBezTo>
                        <a:pt x="12039" y="1565"/>
                        <a:pt x="12143" y="1525"/>
                        <a:pt x="12154" y="1485"/>
                      </a:cubicBezTo>
                      <a:lnTo>
                        <a:pt x="12195" y="1117"/>
                      </a:lnTo>
                      <a:cubicBezTo>
                        <a:pt x="12200" y="1070"/>
                        <a:pt x="12103" y="1036"/>
                        <a:pt x="11982" y="1036"/>
                      </a:cubicBezTo>
                      <a:lnTo>
                        <a:pt x="10952" y="1036"/>
                      </a:lnTo>
                      <a:cubicBezTo>
                        <a:pt x="10831" y="1036"/>
                        <a:pt x="10721" y="1070"/>
                        <a:pt x="10710" y="1117"/>
                      </a:cubicBezTo>
                      <a:lnTo>
                        <a:pt x="10647" y="1485"/>
                      </a:lnTo>
                      <a:cubicBezTo>
                        <a:pt x="10641" y="1525"/>
                        <a:pt x="10744" y="1565"/>
                        <a:pt x="10865" y="1565"/>
                      </a:cubicBezTo>
                      <a:close/>
                      <a:moveTo>
                        <a:pt x="8713" y="1565"/>
                      </a:moveTo>
                      <a:lnTo>
                        <a:pt x="9766" y="1565"/>
                      </a:lnTo>
                      <a:cubicBezTo>
                        <a:pt x="9887" y="1565"/>
                        <a:pt x="9990" y="1525"/>
                        <a:pt x="10008" y="1485"/>
                      </a:cubicBezTo>
                      <a:lnTo>
                        <a:pt x="10083" y="1117"/>
                      </a:lnTo>
                      <a:cubicBezTo>
                        <a:pt x="10088" y="1070"/>
                        <a:pt x="9996" y="1036"/>
                        <a:pt x="9870" y="1036"/>
                      </a:cubicBezTo>
                      <a:lnTo>
                        <a:pt x="8828" y="1036"/>
                      </a:lnTo>
                      <a:cubicBezTo>
                        <a:pt x="8707" y="1036"/>
                        <a:pt x="8598" y="1070"/>
                        <a:pt x="8592" y="1117"/>
                      </a:cubicBezTo>
                      <a:lnTo>
                        <a:pt x="8506" y="1485"/>
                      </a:lnTo>
                      <a:cubicBezTo>
                        <a:pt x="8488" y="1525"/>
                        <a:pt x="8586" y="1565"/>
                        <a:pt x="8713" y="1565"/>
                      </a:cubicBezTo>
                      <a:close/>
                      <a:moveTo>
                        <a:pt x="6555" y="1565"/>
                      </a:moveTo>
                      <a:lnTo>
                        <a:pt x="7608" y="1565"/>
                      </a:lnTo>
                      <a:cubicBezTo>
                        <a:pt x="7729" y="1565"/>
                        <a:pt x="7844" y="1525"/>
                        <a:pt x="7850" y="1485"/>
                      </a:cubicBezTo>
                      <a:lnTo>
                        <a:pt x="7942" y="1117"/>
                      </a:lnTo>
                      <a:cubicBezTo>
                        <a:pt x="7959" y="1070"/>
                        <a:pt x="7867" y="1036"/>
                        <a:pt x="7740" y="1036"/>
                      </a:cubicBezTo>
                      <a:lnTo>
                        <a:pt x="6716" y="1036"/>
                      </a:lnTo>
                      <a:cubicBezTo>
                        <a:pt x="6589" y="1036"/>
                        <a:pt x="6486" y="1070"/>
                        <a:pt x="6469" y="1117"/>
                      </a:cubicBezTo>
                      <a:lnTo>
                        <a:pt x="6359" y="1485"/>
                      </a:lnTo>
                      <a:cubicBezTo>
                        <a:pt x="6342" y="1525"/>
                        <a:pt x="6434" y="1565"/>
                        <a:pt x="6555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25"/>
                        <a:pt x="5709" y="1485"/>
                      </a:cubicBezTo>
                      <a:lnTo>
                        <a:pt x="5818" y="1117"/>
                      </a:lnTo>
                      <a:cubicBezTo>
                        <a:pt x="5836" y="1070"/>
                        <a:pt x="5749" y="1036"/>
                        <a:pt x="5617" y="1036"/>
                      </a:cubicBezTo>
                      <a:lnTo>
                        <a:pt x="4592" y="1036"/>
                      </a:lnTo>
                      <a:cubicBezTo>
                        <a:pt x="4466" y="1036"/>
                        <a:pt x="4351" y="1070"/>
                        <a:pt x="4339" y="1117"/>
                      </a:cubicBezTo>
                      <a:lnTo>
                        <a:pt x="4207" y="1485"/>
                      </a:lnTo>
                      <a:cubicBezTo>
                        <a:pt x="4190" y="1525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8" y="1565"/>
                        <a:pt x="3534" y="1525"/>
                        <a:pt x="3557" y="1485"/>
                      </a:cubicBezTo>
                      <a:lnTo>
                        <a:pt x="3695" y="1117"/>
                      </a:lnTo>
                      <a:cubicBezTo>
                        <a:pt x="3706" y="1070"/>
                        <a:pt x="3620" y="1036"/>
                        <a:pt x="3499" y="1036"/>
                      </a:cubicBezTo>
                      <a:lnTo>
                        <a:pt x="1439" y="1036"/>
                      </a:lnTo>
                      <a:cubicBezTo>
                        <a:pt x="1318" y="1036"/>
                        <a:pt x="1203" y="1070"/>
                        <a:pt x="1180" y="1117"/>
                      </a:cubicBezTo>
                      <a:lnTo>
                        <a:pt x="1019" y="1485"/>
                      </a:lnTo>
                      <a:cubicBezTo>
                        <a:pt x="1001" y="1525"/>
                        <a:pt x="1088" y="1565"/>
                        <a:pt x="1209" y="1565"/>
                      </a:cubicBezTo>
                      <a:close/>
                      <a:moveTo>
                        <a:pt x="26720" y="2268"/>
                      </a:moveTo>
                      <a:lnTo>
                        <a:pt x="27790" y="2268"/>
                      </a:lnTo>
                      <a:cubicBezTo>
                        <a:pt x="27923" y="2268"/>
                        <a:pt x="28009" y="2233"/>
                        <a:pt x="27992" y="2181"/>
                      </a:cubicBezTo>
                      <a:lnTo>
                        <a:pt x="27865" y="1801"/>
                      </a:lnTo>
                      <a:cubicBezTo>
                        <a:pt x="27848" y="1755"/>
                        <a:pt x="27733" y="1721"/>
                        <a:pt x="27612" y="1721"/>
                      </a:cubicBezTo>
                      <a:lnTo>
                        <a:pt x="26559" y="1721"/>
                      </a:lnTo>
                      <a:cubicBezTo>
                        <a:pt x="26438" y="1721"/>
                        <a:pt x="26346" y="1755"/>
                        <a:pt x="26357" y="1801"/>
                      </a:cubicBezTo>
                      <a:lnTo>
                        <a:pt x="26472" y="2181"/>
                      </a:lnTo>
                      <a:cubicBezTo>
                        <a:pt x="26472" y="2233"/>
                        <a:pt x="26587" y="2268"/>
                        <a:pt x="26720" y="2268"/>
                      </a:cubicBezTo>
                      <a:close/>
                      <a:moveTo>
                        <a:pt x="24516" y="2268"/>
                      </a:moveTo>
                      <a:lnTo>
                        <a:pt x="25592" y="2268"/>
                      </a:lnTo>
                      <a:cubicBezTo>
                        <a:pt x="25718" y="2268"/>
                        <a:pt x="25810" y="2233"/>
                        <a:pt x="25799" y="2181"/>
                      </a:cubicBezTo>
                      <a:lnTo>
                        <a:pt x="25690" y="1801"/>
                      </a:lnTo>
                      <a:cubicBezTo>
                        <a:pt x="25678" y="1755"/>
                        <a:pt x="25569" y="1721"/>
                        <a:pt x="25436" y="1721"/>
                      </a:cubicBezTo>
                      <a:lnTo>
                        <a:pt x="24389" y="1721"/>
                      </a:lnTo>
                      <a:cubicBezTo>
                        <a:pt x="24268" y="1721"/>
                        <a:pt x="24170" y="1755"/>
                        <a:pt x="24182" y="1801"/>
                      </a:cubicBezTo>
                      <a:lnTo>
                        <a:pt x="24268" y="2181"/>
                      </a:lnTo>
                      <a:cubicBezTo>
                        <a:pt x="24280" y="2233"/>
                        <a:pt x="24389" y="2268"/>
                        <a:pt x="24516" y="2268"/>
                      </a:cubicBezTo>
                      <a:close/>
                      <a:moveTo>
                        <a:pt x="22317" y="2268"/>
                      </a:moveTo>
                      <a:lnTo>
                        <a:pt x="23388" y="2268"/>
                      </a:lnTo>
                      <a:cubicBezTo>
                        <a:pt x="23520" y="2268"/>
                        <a:pt x="23612" y="2233"/>
                        <a:pt x="23606" y="2181"/>
                      </a:cubicBezTo>
                      <a:lnTo>
                        <a:pt x="23526" y="1801"/>
                      </a:lnTo>
                      <a:cubicBezTo>
                        <a:pt x="23520" y="1755"/>
                        <a:pt x="23405" y="1721"/>
                        <a:pt x="23278" y="1721"/>
                      </a:cubicBezTo>
                      <a:lnTo>
                        <a:pt x="22231" y="1721"/>
                      </a:lnTo>
                      <a:cubicBezTo>
                        <a:pt x="22110" y="1721"/>
                        <a:pt x="22007" y="1755"/>
                        <a:pt x="22012" y="1801"/>
                      </a:cubicBezTo>
                      <a:lnTo>
                        <a:pt x="22081" y="2181"/>
                      </a:lnTo>
                      <a:cubicBezTo>
                        <a:pt x="22081" y="2233"/>
                        <a:pt x="22185" y="2268"/>
                        <a:pt x="22317" y="2268"/>
                      </a:cubicBezTo>
                      <a:close/>
                      <a:moveTo>
                        <a:pt x="20113" y="2268"/>
                      </a:moveTo>
                      <a:lnTo>
                        <a:pt x="21189" y="2268"/>
                      </a:lnTo>
                      <a:cubicBezTo>
                        <a:pt x="21316" y="2268"/>
                        <a:pt x="21408" y="2233"/>
                        <a:pt x="21402" y="2181"/>
                      </a:cubicBezTo>
                      <a:lnTo>
                        <a:pt x="21345" y="1801"/>
                      </a:lnTo>
                      <a:cubicBezTo>
                        <a:pt x="21339" y="1755"/>
                        <a:pt x="21230" y="1721"/>
                        <a:pt x="21109" y="1721"/>
                      </a:cubicBezTo>
                      <a:lnTo>
                        <a:pt x="20056" y="1721"/>
                      </a:lnTo>
                      <a:cubicBezTo>
                        <a:pt x="19935" y="1721"/>
                        <a:pt x="19837" y="1755"/>
                        <a:pt x="19843" y="1801"/>
                      </a:cubicBezTo>
                      <a:lnTo>
                        <a:pt x="19883" y="2181"/>
                      </a:lnTo>
                      <a:cubicBezTo>
                        <a:pt x="19883" y="2233"/>
                        <a:pt x="19992" y="2268"/>
                        <a:pt x="20113" y="2268"/>
                      </a:cubicBezTo>
                      <a:close/>
                      <a:moveTo>
                        <a:pt x="17915" y="2268"/>
                      </a:moveTo>
                      <a:lnTo>
                        <a:pt x="18985" y="2268"/>
                      </a:lnTo>
                      <a:cubicBezTo>
                        <a:pt x="19118" y="2268"/>
                        <a:pt x="19215" y="2233"/>
                        <a:pt x="19210" y="2181"/>
                      </a:cubicBezTo>
                      <a:lnTo>
                        <a:pt x="19175" y="1801"/>
                      </a:lnTo>
                      <a:cubicBezTo>
                        <a:pt x="19164" y="1755"/>
                        <a:pt x="19066" y="1721"/>
                        <a:pt x="18933" y="1721"/>
                      </a:cubicBezTo>
                      <a:lnTo>
                        <a:pt x="17892" y="1721"/>
                      </a:lnTo>
                      <a:cubicBezTo>
                        <a:pt x="17771" y="1721"/>
                        <a:pt x="17667" y="1755"/>
                        <a:pt x="17667" y="1801"/>
                      </a:cubicBezTo>
                      <a:lnTo>
                        <a:pt x="17685" y="2181"/>
                      </a:lnTo>
                      <a:cubicBezTo>
                        <a:pt x="17685" y="2233"/>
                        <a:pt x="17794" y="2268"/>
                        <a:pt x="17915" y="2268"/>
                      </a:cubicBezTo>
                      <a:close/>
                      <a:moveTo>
                        <a:pt x="15722" y="2268"/>
                      </a:moveTo>
                      <a:lnTo>
                        <a:pt x="16793" y="2268"/>
                      </a:lnTo>
                      <a:cubicBezTo>
                        <a:pt x="16919" y="2268"/>
                        <a:pt x="17023" y="2233"/>
                        <a:pt x="17023" y="2181"/>
                      </a:cubicBezTo>
                      <a:lnTo>
                        <a:pt x="17017" y="1801"/>
                      </a:lnTo>
                      <a:cubicBezTo>
                        <a:pt x="17017" y="1755"/>
                        <a:pt x="16914" y="1721"/>
                        <a:pt x="16787" y="1721"/>
                      </a:cubicBezTo>
                      <a:lnTo>
                        <a:pt x="15734" y="1721"/>
                      </a:lnTo>
                      <a:cubicBezTo>
                        <a:pt x="15613" y="1721"/>
                        <a:pt x="15504" y="1755"/>
                        <a:pt x="15504" y="1801"/>
                      </a:cubicBezTo>
                      <a:lnTo>
                        <a:pt x="15498" y="2181"/>
                      </a:lnTo>
                      <a:cubicBezTo>
                        <a:pt x="15492" y="2233"/>
                        <a:pt x="15590" y="2268"/>
                        <a:pt x="15722" y="2268"/>
                      </a:cubicBezTo>
                      <a:close/>
                      <a:moveTo>
                        <a:pt x="13518" y="2268"/>
                      </a:moveTo>
                      <a:lnTo>
                        <a:pt x="14589" y="2268"/>
                      </a:lnTo>
                      <a:cubicBezTo>
                        <a:pt x="14721" y="2268"/>
                        <a:pt x="14819" y="2233"/>
                        <a:pt x="14830" y="2181"/>
                      </a:cubicBezTo>
                      <a:lnTo>
                        <a:pt x="14842" y="1801"/>
                      </a:lnTo>
                      <a:cubicBezTo>
                        <a:pt x="14842" y="1755"/>
                        <a:pt x="14738" y="1721"/>
                        <a:pt x="14617" y="1721"/>
                      </a:cubicBezTo>
                      <a:lnTo>
                        <a:pt x="13570" y="1721"/>
                      </a:lnTo>
                      <a:cubicBezTo>
                        <a:pt x="13449" y="1721"/>
                        <a:pt x="13340" y="1755"/>
                        <a:pt x="13334" y="1801"/>
                      </a:cubicBezTo>
                      <a:lnTo>
                        <a:pt x="13294" y="2181"/>
                      </a:lnTo>
                      <a:cubicBezTo>
                        <a:pt x="13288" y="2233"/>
                        <a:pt x="13392" y="2268"/>
                        <a:pt x="13518" y="2268"/>
                      </a:cubicBezTo>
                      <a:close/>
                      <a:moveTo>
                        <a:pt x="11320" y="2268"/>
                      </a:moveTo>
                      <a:lnTo>
                        <a:pt x="12390" y="2268"/>
                      </a:lnTo>
                      <a:cubicBezTo>
                        <a:pt x="12517" y="2268"/>
                        <a:pt x="12626" y="2233"/>
                        <a:pt x="12626" y="2181"/>
                      </a:cubicBezTo>
                      <a:lnTo>
                        <a:pt x="12672" y="1801"/>
                      </a:lnTo>
                      <a:cubicBezTo>
                        <a:pt x="12678" y="1755"/>
                        <a:pt x="12574" y="1721"/>
                        <a:pt x="12454" y="1721"/>
                      </a:cubicBezTo>
                      <a:lnTo>
                        <a:pt x="11406" y="1721"/>
                      </a:lnTo>
                      <a:cubicBezTo>
                        <a:pt x="11280" y="1721"/>
                        <a:pt x="11176" y="1755"/>
                        <a:pt x="11164" y="1801"/>
                      </a:cubicBezTo>
                      <a:lnTo>
                        <a:pt x="11107" y="2181"/>
                      </a:lnTo>
                      <a:cubicBezTo>
                        <a:pt x="11090" y="2233"/>
                        <a:pt x="11187" y="2268"/>
                        <a:pt x="11320" y="2268"/>
                      </a:cubicBezTo>
                      <a:close/>
                      <a:moveTo>
                        <a:pt x="9116" y="2268"/>
                      </a:moveTo>
                      <a:lnTo>
                        <a:pt x="10186" y="2268"/>
                      </a:lnTo>
                      <a:cubicBezTo>
                        <a:pt x="10319" y="2268"/>
                        <a:pt x="10428" y="2233"/>
                        <a:pt x="10434" y="2181"/>
                      </a:cubicBezTo>
                      <a:lnTo>
                        <a:pt x="10497" y="1801"/>
                      </a:lnTo>
                      <a:cubicBezTo>
                        <a:pt x="10503" y="1755"/>
                        <a:pt x="10411" y="1721"/>
                        <a:pt x="10284" y="1721"/>
                      </a:cubicBezTo>
                      <a:lnTo>
                        <a:pt x="9231" y="1721"/>
                      </a:lnTo>
                      <a:cubicBezTo>
                        <a:pt x="9110" y="1721"/>
                        <a:pt x="8995" y="1755"/>
                        <a:pt x="8989" y="1801"/>
                      </a:cubicBezTo>
                      <a:lnTo>
                        <a:pt x="8909" y="2181"/>
                      </a:lnTo>
                      <a:cubicBezTo>
                        <a:pt x="8891" y="2233"/>
                        <a:pt x="8983" y="2268"/>
                        <a:pt x="9116" y="2268"/>
                      </a:cubicBezTo>
                      <a:close/>
                      <a:moveTo>
                        <a:pt x="6917" y="2268"/>
                      </a:moveTo>
                      <a:lnTo>
                        <a:pt x="7988" y="2268"/>
                      </a:lnTo>
                      <a:cubicBezTo>
                        <a:pt x="8114" y="2268"/>
                        <a:pt x="8224" y="2233"/>
                        <a:pt x="8241" y="2181"/>
                      </a:cubicBezTo>
                      <a:lnTo>
                        <a:pt x="8327" y="1801"/>
                      </a:lnTo>
                      <a:cubicBezTo>
                        <a:pt x="8333" y="1755"/>
                        <a:pt x="8247" y="1721"/>
                        <a:pt x="8114" y="1721"/>
                      </a:cubicBezTo>
                      <a:lnTo>
                        <a:pt x="7067" y="1721"/>
                      </a:lnTo>
                      <a:cubicBezTo>
                        <a:pt x="6946" y="1721"/>
                        <a:pt x="6825" y="1755"/>
                        <a:pt x="6814" y="1801"/>
                      </a:cubicBezTo>
                      <a:lnTo>
                        <a:pt x="6704" y="2181"/>
                      </a:lnTo>
                      <a:cubicBezTo>
                        <a:pt x="6693" y="2233"/>
                        <a:pt x="6785" y="2268"/>
                        <a:pt x="6917" y="2268"/>
                      </a:cubicBezTo>
                      <a:close/>
                      <a:moveTo>
                        <a:pt x="4713" y="2268"/>
                      </a:moveTo>
                      <a:lnTo>
                        <a:pt x="5784" y="2268"/>
                      </a:lnTo>
                      <a:cubicBezTo>
                        <a:pt x="5916" y="2268"/>
                        <a:pt x="6031" y="2233"/>
                        <a:pt x="6043" y="2181"/>
                      </a:cubicBezTo>
                      <a:lnTo>
                        <a:pt x="6158" y="1801"/>
                      </a:lnTo>
                      <a:cubicBezTo>
                        <a:pt x="6175" y="1755"/>
                        <a:pt x="6083" y="1721"/>
                        <a:pt x="5956" y="1721"/>
                      </a:cubicBezTo>
                      <a:lnTo>
                        <a:pt x="4909" y="1721"/>
                      </a:lnTo>
                      <a:cubicBezTo>
                        <a:pt x="4788" y="1721"/>
                        <a:pt x="4667" y="1755"/>
                        <a:pt x="4656" y="1801"/>
                      </a:cubicBezTo>
                      <a:lnTo>
                        <a:pt x="4523" y="2181"/>
                      </a:lnTo>
                      <a:cubicBezTo>
                        <a:pt x="4500" y="2233"/>
                        <a:pt x="4587" y="2268"/>
                        <a:pt x="4713" y="2268"/>
                      </a:cubicBezTo>
                      <a:close/>
                      <a:moveTo>
                        <a:pt x="892" y="2268"/>
                      </a:moveTo>
                      <a:lnTo>
                        <a:pt x="3585" y="2268"/>
                      </a:lnTo>
                      <a:cubicBezTo>
                        <a:pt x="3712" y="2268"/>
                        <a:pt x="3827" y="2233"/>
                        <a:pt x="3844" y="2181"/>
                      </a:cubicBezTo>
                      <a:lnTo>
                        <a:pt x="3982" y="1801"/>
                      </a:lnTo>
                      <a:cubicBezTo>
                        <a:pt x="3994" y="1755"/>
                        <a:pt x="3908" y="1721"/>
                        <a:pt x="3787" y="1721"/>
                      </a:cubicBezTo>
                      <a:lnTo>
                        <a:pt x="1140" y="1721"/>
                      </a:lnTo>
                      <a:cubicBezTo>
                        <a:pt x="1019" y="1721"/>
                        <a:pt x="892" y="1755"/>
                        <a:pt x="875" y="1801"/>
                      </a:cubicBezTo>
                      <a:lnTo>
                        <a:pt x="702" y="2181"/>
                      </a:lnTo>
                      <a:cubicBezTo>
                        <a:pt x="679" y="2233"/>
                        <a:pt x="766" y="2268"/>
                        <a:pt x="892" y="2268"/>
                      </a:cubicBezTo>
                      <a:close/>
                      <a:moveTo>
                        <a:pt x="28918" y="2268"/>
                      </a:moveTo>
                      <a:lnTo>
                        <a:pt x="31611" y="2268"/>
                      </a:lnTo>
                      <a:cubicBezTo>
                        <a:pt x="31738" y="2268"/>
                        <a:pt x="31824" y="2233"/>
                        <a:pt x="31807" y="2181"/>
                      </a:cubicBezTo>
                      <a:lnTo>
                        <a:pt x="31634" y="1801"/>
                      </a:lnTo>
                      <a:cubicBezTo>
                        <a:pt x="31611" y="1755"/>
                        <a:pt x="31496" y="1721"/>
                        <a:pt x="31364" y="1721"/>
                      </a:cubicBezTo>
                      <a:lnTo>
                        <a:pt x="28717" y="1721"/>
                      </a:lnTo>
                      <a:cubicBezTo>
                        <a:pt x="28596" y="1721"/>
                        <a:pt x="28504" y="1755"/>
                        <a:pt x="28527" y="1801"/>
                      </a:cubicBezTo>
                      <a:lnTo>
                        <a:pt x="28659" y="2181"/>
                      </a:lnTo>
                      <a:cubicBezTo>
                        <a:pt x="28676" y="2233"/>
                        <a:pt x="28791" y="2268"/>
                        <a:pt x="28918" y="2268"/>
                      </a:cubicBezTo>
                      <a:close/>
                      <a:moveTo>
                        <a:pt x="25828" y="3004"/>
                      </a:moveTo>
                      <a:lnTo>
                        <a:pt x="26921" y="3004"/>
                      </a:lnTo>
                      <a:cubicBezTo>
                        <a:pt x="27048" y="3004"/>
                        <a:pt x="27146" y="2964"/>
                        <a:pt x="27128" y="2918"/>
                      </a:cubicBezTo>
                      <a:lnTo>
                        <a:pt x="27008" y="2521"/>
                      </a:lnTo>
                      <a:cubicBezTo>
                        <a:pt x="26990" y="2469"/>
                        <a:pt x="26875" y="2434"/>
                        <a:pt x="26749" y="2434"/>
                      </a:cubicBezTo>
                      <a:lnTo>
                        <a:pt x="25678" y="2434"/>
                      </a:lnTo>
                      <a:cubicBezTo>
                        <a:pt x="25546" y="2434"/>
                        <a:pt x="25454" y="2469"/>
                        <a:pt x="25465" y="2521"/>
                      </a:cubicBezTo>
                      <a:lnTo>
                        <a:pt x="25575" y="2918"/>
                      </a:lnTo>
                      <a:cubicBezTo>
                        <a:pt x="25580" y="2958"/>
                        <a:pt x="25695" y="3004"/>
                        <a:pt x="25828" y="3004"/>
                      </a:cubicBezTo>
                      <a:close/>
                      <a:moveTo>
                        <a:pt x="23583" y="3004"/>
                      </a:moveTo>
                      <a:lnTo>
                        <a:pt x="24677" y="3004"/>
                      </a:lnTo>
                      <a:cubicBezTo>
                        <a:pt x="24803" y="3004"/>
                        <a:pt x="24895" y="2964"/>
                        <a:pt x="24890" y="2918"/>
                      </a:cubicBezTo>
                      <a:lnTo>
                        <a:pt x="24792" y="2521"/>
                      </a:lnTo>
                      <a:cubicBezTo>
                        <a:pt x="24775" y="2469"/>
                        <a:pt x="24671" y="2434"/>
                        <a:pt x="24539" y="2434"/>
                      </a:cubicBezTo>
                      <a:lnTo>
                        <a:pt x="23468" y="2434"/>
                      </a:lnTo>
                      <a:cubicBezTo>
                        <a:pt x="23336" y="2434"/>
                        <a:pt x="23244" y="2469"/>
                        <a:pt x="23250" y="2521"/>
                      </a:cubicBezTo>
                      <a:lnTo>
                        <a:pt x="23330" y="2918"/>
                      </a:lnTo>
                      <a:cubicBezTo>
                        <a:pt x="23336" y="2958"/>
                        <a:pt x="23451" y="3004"/>
                        <a:pt x="23583" y="3004"/>
                      </a:cubicBezTo>
                      <a:close/>
                      <a:moveTo>
                        <a:pt x="21333" y="3004"/>
                      </a:moveTo>
                      <a:lnTo>
                        <a:pt x="22427" y="3004"/>
                      </a:lnTo>
                      <a:cubicBezTo>
                        <a:pt x="22553" y="3004"/>
                        <a:pt x="22657" y="2964"/>
                        <a:pt x="22645" y="2918"/>
                      </a:cubicBezTo>
                      <a:lnTo>
                        <a:pt x="22576" y="2521"/>
                      </a:lnTo>
                      <a:cubicBezTo>
                        <a:pt x="22571" y="2469"/>
                        <a:pt x="22455" y="2434"/>
                        <a:pt x="22329" y="2434"/>
                      </a:cubicBezTo>
                      <a:lnTo>
                        <a:pt x="21258" y="2434"/>
                      </a:lnTo>
                      <a:cubicBezTo>
                        <a:pt x="21126" y="2434"/>
                        <a:pt x="21028" y="2469"/>
                        <a:pt x="21034" y="2521"/>
                      </a:cubicBezTo>
                      <a:lnTo>
                        <a:pt x="21092" y="2918"/>
                      </a:lnTo>
                      <a:cubicBezTo>
                        <a:pt x="21086" y="2958"/>
                        <a:pt x="21201" y="3004"/>
                        <a:pt x="21333" y="3004"/>
                      </a:cubicBezTo>
                      <a:close/>
                      <a:moveTo>
                        <a:pt x="19077" y="3004"/>
                      </a:moveTo>
                      <a:lnTo>
                        <a:pt x="20171" y="3004"/>
                      </a:lnTo>
                      <a:cubicBezTo>
                        <a:pt x="20303" y="3004"/>
                        <a:pt x="20401" y="2964"/>
                        <a:pt x="20395" y="2918"/>
                      </a:cubicBezTo>
                      <a:lnTo>
                        <a:pt x="20343" y="2521"/>
                      </a:lnTo>
                      <a:cubicBezTo>
                        <a:pt x="20338" y="2469"/>
                        <a:pt x="20228" y="2434"/>
                        <a:pt x="20102" y="2434"/>
                      </a:cubicBezTo>
                      <a:lnTo>
                        <a:pt x="19031" y="2434"/>
                      </a:lnTo>
                      <a:cubicBezTo>
                        <a:pt x="18899" y="2434"/>
                        <a:pt x="18801" y="2469"/>
                        <a:pt x="18807" y="2521"/>
                      </a:cubicBezTo>
                      <a:lnTo>
                        <a:pt x="18836" y="2918"/>
                      </a:lnTo>
                      <a:cubicBezTo>
                        <a:pt x="18841" y="2958"/>
                        <a:pt x="18951" y="3004"/>
                        <a:pt x="19077" y="3004"/>
                      </a:cubicBezTo>
                      <a:close/>
                      <a:moveTo>
                        <a:pt x="16827" y="3004"/>
                      </a:moveTo>
                      <a:lnTo>
                        <a:pt x="17921" y="3004"/>
                      </a:lnTo>
                      <a:cubicBezTo>
                        <a:pt x="18047" y="3004"/>
                        <a:pt x="18157" y="2964"/>
                        <a:pt x="18151" y="2918"/>
                      </a:cubicBezTo>
                      <a:lnTo>
                        <a:pt x="18128" y="2521"/>
                      </a:lnTo>
                      <a:cubicBezTo>
                        <a:pt x="18128" y="2469"/>
                        <a:pt x="18018" y="2434"/>
                        <a:pt x="17892" y="2434"/>
                      </a:cubicBezTo>
                      <a:lnTo>
                        <a:pt x="16821" y="2434"/>
                      </a:lnTo>
                      <a:cubicBezTo>
                        <a:pt x="16689" y="2434"/>
                        <a:pt x="16591" y="2469"/>
                        <a:pt x="16591" y="2521"/>
                      </a:cubicBezTo>
                      <a:lnTo>
                        <a:pt x="16597" y="2918"/>
                      </a:lnTo>
                      <a:cubicBezTo>
                        <a:pt x="16591" y="2958"/>
                        <a:pt x="16701" y="3004"/>
                        <a:pt x="16827" y="3004"/>
                      </a:cubicBezTo>
                      <a:close/>
                      <a:moveTo>
                        <a:pt x="14583" y="3004"/>
                      </a:moveTo>
                      <a:lnTo>
                        <a:pt x="15676" y="3004"/>
                      </a:lnTo>
                      <a:cubicBezTo>
                        <a:pt x="15809" y="3004"/>
                        <a:pt x="15912" y="2964"/>
                        <a:pt x="15912" y="2918"/>
                      </a:cubicBezTo>
                      <a:lnTo>
                        <a:pt x="15924" y="2521"/>
                      </a:lnTo>
                      <a:cubicBezTo>
                        <a:pt x="15924" y="2469"/>
                        <a:pt x="15820" y="2434"/>
                        <a:pt x="15694" y="2434"/>
                      </a:cubicBezTo>
                      <a:lnTo>
                        <a:pt x="14617" y="2434"/>
                      </a:lnTo>
                      <a:cubicBezTo>
                        <a:pt x="14491" y="2434"/>
                        <a:pt x="14381" y="2469"/>
                        <a:pt x="14381" y="2521"/>
                      </a:cubicBezTo>
                      <a:lnTo>
                        <a:pt x="14358" y="2918"/>
                      </a:lnTo>
                      <a:cubicBezTo>
                        <a:pt x="14347" y="2958"/>
                        <a:pt x="14445" y="3004"/>
                        <a:pt x="14583" y="3004"/>
                      </a:cubicBezTo>
                      <a:close/>
                      <a:moveTo>
                        <a:pt x="12333" y="3004"/>
                      </a:moveTo>
                      <a:lnTo>
                        <a:pt x="13426" y="3004"/>
                      </a:lnTo>
                      <a:cubicBezTo>
                        <a:pt x="13553" y="3004"/>
                        <a:pt x="13662" y="2964"/>
                        <a:pt x="13668" y="2918"/>
                      </a:cubicBezTo>
                      <a:lnTo>
                        <a:pt x="13697" y="2521"/>
                      </a:lnTo>
                      <a:cubicBezTo>
                        <a:pt x="13697" y="2469"/>
                        <a:pt x="13599" y="2434"/>
                        <a:pt x="13478" y="2434"/>
                      </a:cubicBezTo>
                      <a:lnTo>
                        <a:pt x="12402" y="2434"/>
                      </a:lnTo>
                      <a:cubicBezTo>
                        <a:pt x="12275" y="2434"/>
                        <a:pt x="12166" y="2469"/>
                        <a:pt x="12160" y="2521"/>
                      </a:cubicBezTo>
                      <a:lnTo>
                        <a:pt x="12108" y="2918"/>
                      </a:lnTo>
                      <a:cubicBezTo>
                        <a:pt x="12103" y="2958"/>
                        <a:pt x="12200" y="3004"/>
                        <a:pt x="12333" y="3004"/>
                      </a:cubicBezTo>
                      <a:close/>
                      <a:moveTo>
                        <a:pt x="10083" y="3004"/>
                      </a:moveTo>
                      <a:lnTo>
                        <a:pt x="11176" y="3004"/>
                      </a:lnTo>
                      <a:cubicBezTo>
                        <a:pt x="11303" y="3004"/>
                        <a:pt x="11418" y="2964"/>
                        <a:pt x="11418" y="2918"/>
                      </a:cubicBezTo>
                      <a:lnTo>
                        <a:pt x="11475" y="2521"/>
                      </a:lnTo>
                      <a:cubicBezTo>
                        <a:pt x="11481" y="2469"/>
                        <a:pt x="11383" y="2434"/>
                        <a:pt x="11251" y="2434"/>
                      </a:cubicBezTo>
                      <a:lnTo>
                        <a:pt x="10180" y="2434"/>
                      </a:lnTo>
                      <a:cubicBezTo>
                        <a:pt x="10054" y="2434"/>
                        <a:pt x="9944" y="2469"/>
                        <a:pt x="9939" y="2521"/>
                      </a:cubicBezTo>
                      <a:lnTo>
                        <a:pt x="9864" y="2918"/>
                      </a:lnTo>
                      <a:cubicBezTo>
                        <a:pt x="9847" y="2958"/>
                        <a:pt x="9950" y="3004"/>
                        <a:pt x="10083" y="3004"/>
                      </a:cubicBezTo>
                      <a:close/>
                      <a:moveTo>
                        <a:pt x="7827" y="3004"/>
                      </a:moveTo>
                      <a:lnTo>
                        <a:pt x="8920" y="3004"/>
                      </a:lnTo>
                      <a:cubicBezTo>
                        <a:pt x="9052" y="3004"/>
                        <a:pt x="9168" y="2964"/>
                        <a:pt x="9173" y="2918"/>
                      </a:cubicBezTo>
                      <a:lnTo>
                        <a:pt x="9254" y="2521"/>
                      </a:lnTo>
                      <a:cubicBezTo>
                        <a:pt x="9260" y="2469"/>
                        <a:pt x="9168" y="2434"/>
                        <a:pt x="9035" y="2434"/>
                      </a:cubicBezTo>
                      <a:lnTo>
                        <a:pt x="7965" y="2434"/>
                      </a:lnTo>
                      <a:cubicBezTo>
                        <a:pt x="7832" y="2434"/>
                        <a:pt x="7723" y="2469"/>
                        <a:pt x="7712" y="2521"/>
                      </a:cubicBezTo>
                      <a:lnTo>
                        <a:pt x="7614" y="2918"/>
                      </a:lnTo>
                      <a:cubicBezTo>
                        <a:pt x="7608" y="2958"/>
                        <a:pt x="7700" y="3004"/>
                        <a:pt x="7827" y="3004"/>
                      </a:cubicBezTo>
                      <a:close/>
                      <a:moveTo>
                        <a:pt x="5577" y="3004"/>
                      </a:moveTo>
                      <a:lnTo>
                        <a:pt x="6670" y="3004"/>
                      </a:lnTo>
                      <a:cubicBezTo>
                        <a:pt x="6802" y="3004"/>
                        <a:pt x="6917" y="2964"/>
                        <a:pt x="6929" y="2918"/>
                      </a:cubicBezTo>
                      <a:lnTo>
                        <a:pt x="7038" y="2521"/>
                      </a:lnTo>
                      <a:cubicBezTo>
                        <a:pt x="7050" y="2469"/>
                        <a:pt x="6958" y="2434"/>
                        <a:pt x="6825" y="2434"/>
                      </a:cubicBezTo>
                      <a:lnTo>
                        <a:pt x="5755" y="2434"/>
                      </a:lnTo>
                      <a:cubicBezTo>
                        <a:pt x="5628" y="2434"/>
                        <a:pt x="5513" y="2469"/>
                        <a:pt x="5496" y="2521"/>
                      </a:cubicBezTo>
                      <a:lnTo>
                        <a:pt x="5375" y="2918"/>
                      </a:lnTo>
                      <a:cubicBezTo>
                        <a:pt x="5352" y="2958"/>
                        <a:pt x="5450" y="3004"/>
                        <a:pt x="5577" y="3004"/>
                      </a:cubicBezTo>
                      <a:close/>
                      <a:moveTo>
                        <a:pt x="570" y="3004"/>
                      </a:moveTo>
                      <a:lnTo>
                        <a:pt x="4426" y="3004"/>
                      </a:lnTo>
                      <a:cubicBezTo>
                        <a:pt x="4558" y="3004"/>
                        <a:pt x="4679" y="2964"/>
                        <a:pt x="4690" y="2918"/>
                      </a:cubicBezTo>
                      <a:lnTo>
                        <a:pt x="4823" y="2521"/>
                      </a:lnTo>
                      <a:cubicBezTo>
                        <a:pt x="4834" y="2469"/>
                        <a:pt x="4742" y="2434"/>
                        <a:pt x="4621" y="2434"/>
                      </a:cubicBezTo>
                      <a:lnTo>
                        <a:pt x="829" y="2434"/>
                      </a:lnTo>
                      <a:cubicBezTo>
                        <a:pt x="696" y="2434"/>
                        <a:pt x="576" y="2469"/>
                        <a:pt x="553" y="2521"/>
                      </a:cubicBezTo>
                      <a:lnTo>
                        <a:pt x="374" y="2918"/>
                      </a:lnTo>
                      <a:cubicBezTo>
                        <a:pt x="345" y="2958"/>
                        <a:pt x="432" y="3004"/>
                        <a:pt x="570" y="3004"/>
                      </a:cubicBezTo>
                      <a:close/>
                      <a:moveTo>
                        <a:pt x="28078" y="3004"/>
                      </a:moveTo>
                      <a:lnTo>
                        <a:pt x="31934" y="3004"/>
                      </a:lnTo>
                      <a:cubicBezTo>
                        <a:pt x="32066" y="3004"/>
                        <a:pt x="32152" y="2964"/>
                        <a:pt x="32129" y="2918"/>
                      </a:cubicBezTo>
                      <a:lnTo>
                        <a:pt x="31945" y="2521"/>
                      </a:lnTo>
                      <a:cubicBezTo>
                        <a:pt x="31928" y="2469"/>
                        <a:pt x="31801" y="2434"/>
                        <a:pt x="31675" y="2434"/>
                      </a:cubicBezTo>
                      <a:lnTo>
                        <a:pt x="27882" y="2434"/>
                      </a:lnTo>
                      <a:cubicBezTo>
                        <a:pt x="27756" y="2434"/>
                        <a:pt x="27664" y="2469"/>
                        <a:pt x="27681" y="2521"/>
                      </a:cubicBezTo>
                      <a:lnTo>
                        <a:pt x="27813" y="2918"/>
                      </a:lnTo>
                      <a:cubicBezTo>
                        <a:pt x="27836" y="2958"/>
                        <a:pt x="27951" y="3004"/>
                        <a:pt x="28078" y="3004"/>
                      </a:cubicBezTo>
                      <a:close/>
                      <a:moveTo>
                        <a:pt x="26570" y="3764"/>
                      </a:moveTo>
                      <a:lnTo>
                        <a:pt x="27733" y="3764"/>
                      </a:lnTo>
                      <a:cubicBezTo>
                        <a:pt x="27871" y="3764"/>
                        <a:pt x="27963" y="3723"/>
                        <a:pt x="27940" y="3672"/>
                      </a:cubicBezTo>
                      <a:lnTo>
                        <a:pt x="27905" y="3551"/>
                      </a:lnTo>
                      <a:cubicBezTo>
                        <a:pt x="27894" y="3499"/>
                        <a:pt x="27767" y="3453"/>
                        <a:pt x="27641" y="3453"/>
                      </a:cubicBezTo>
                      <a:lnTo>
                        <a:pt x="26484" y="3453"/>
                      </a:lnTo>
                      <a:cubicBezTo>
                        <a:pt x="26351" y="3453"/>
                        <a:pt x="26254" y="3499"/>
                        <a:pt x="26265" y="3551"/>
                      </a:cubicBezTo>
                      <a:lnTo>
                        <a:pt x="26300" y="3672"/>
                      </a:lnTo>
                      <a:cubicBezTo>
                        <a:pt x="26311" y="3723"/>
                        <a:pt x="26432" y="3764"/>
                        <a:pt x="26570" y="3764"/>
                      </a:cubicBezTo>
                      <a:close/>
                      <a:moveTo>
                        <a:pt x="28832" y="3764"/>
                      </a:moveTo>
                      <a:lnTo>
                        <a:pt x="30000" y="3764"/>
                      </a:lnTo>
                      <a:cubicBezTo>
                        <a:pt x="30138" y="3764"/>
                        <a:pt x="30219" y="3723"/>
                        <a:pt x="30207" y="3672"/>
                      </a:cubicBezTo>
                      <a:lnTo>
                        <a:pt x="30040" y="3252"/>
                      </a:lnTo>
                      <a:cubicBezTo>
                        <a:pt x="30017" y="3206"/>
                        <a:pt x="29896" y="3165"/>
                        <a:pt x="29770" y="3165"/>
                      </a:cubicBezTo>
                      <a:lnTo>
                        <a:pt x="28619" y="3165"/>
                      </a:lnTo>
                      <a:cubicBezTo>
                        <a:pt x="28486" y="3165"/>
                        <a:pt x="28394" y="3206"/>
                        <a:pt x="28406" y="3252"/>
                      </a:cubicBezTo>
                      <a:lnTo>
                        <a:pt x="28550" y="3672"/>
                      </a:lnTo>
                      <a:cubicBezTo>
                        <a:pt x="28584" y="3723"/>
                        <a:pt x="28705" y="3764"/>
                        <a:pt x="28832" y="3764"/>
                      </a:cubicBezTo>
                      <a:close/>
                      <a:moveTo>
                        <a:pt x="31105" y="3764"/>
                      </a:moveTo>
                      <a:lnTo>
                        <a:pt x="32273" y="3764"/>
                      </a:lnTo>
                      <a:cubicBezTo>
                        <a:pt x="32411" y="3764"/>
                        <a:pt x="32492" y="3723"/>
                        <a:pt x="32475" y="3672"/>
                      </a:cubicBezTo>
                      <a:lnTo>
                        <a:pt x="32417" y="3551"/>
                      </a:lnTo>
                      <a:cubicBezTo>
                        <a:pt x="32394" y="3499"/>
                        <a:pt x="32267" y="3453"/>
                        <a:pt x="32135" y="3453"/>
                      </a:cubicBezTo>
                      <a:lnTo>
                        <a:pt x="30984" y="3453"/>
                      </a:lnTo>
                      <a:cubicBezTo>
                        <a:pt x="30857" y="3453"/>
                        <a:pt x="30760" y="3499"/>
                        <a:pt x="30783" y="3551"/>
                      </a:cubicBezTo>
                      <a:lnTo>
                        <a:pt x="30834" y="3672"/>
                      </a:lnTo>
                      <a:cubicBezTo>
                        <a:pt x="30857" y="3723"/>
                        <a:pt x="30978" y="3764"/>
                        <a:pt x="31105" y="3764"/>
                      </a:cubicBezTo>
                      <a:close/>
                      <a:moveTo>
                        <a:pt x="24268" y="3764"/>
                      </a:moveTo>
                      <a:lnTo>
                        <a:pt x="25379" y="3764"/>
                      </a:lnTo>
                      <a:cubicBezTo>
                        <a:pt x="25517" y="3764"/>
                        <a:pt x="25609" y="3723"/>
                        <a:pt x="25598" y="3672"/>
                      </a:cubicBezTo>
                      <a:lnTo>
                        <a:pt x="25488" y="3252"/>
                      </a:lnTo>
                      <a:cubicBezTo>
                        <a:pt x="25477" y="3206"/>
                        <a:pt x="25362" y="3165"/>
                        <a:pt x="25229" y="3165"/>
                      </a:cubicBezTo>
                      <a:lnTo>
                        <a:pt x="24130" y="3165"/>
                      </a:lnTo>
                      <a:cubicBezTo>
                        <a:pt x="23998" y="3165"/>
                        <a:pt x="23900" y="3206"/>
                        <a:pt x="23911" y="3252"/>
                      </a:cubicBezTo>
                      <a:lnTo>
                        <a:pt x="24009" y="3672"/>
                      </a:lnTo>
                      <a:cubicBezTo>
                        <a:pt x="24015" y="3723"/>
                        <a:pt x="24130" y="3764"/>
                        <a:pt x="24268" y="3764"/>
                      </a:cubicBezTo>
                      <a:close/>
                      <a:moveTo>
                        <a:pt x="9801" y="3252"/>
                      </a:moveTo>
                      <a:lnTo>
                        <a:pt x="9720" y="3672"/>
                      </a:lnTo>
                      <a:cubicBezTo>
                        <a:pt x="9714" y="3723"/>
                        <a:pt x="9812" y="3764"/>
                        <a:pt x="9944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9" y="3718"/>
                        <a:pt x="20487" y="3672"/>
                      </a:cubicBezTo>
                      <a:lnTo>
                        <a:pt x="20441" y="3252"/>
                      </a:lnTo>
                      <a:cubicBezTo>
                        <a:pt x="20430" y="3206"/>
                        <a:pt x="20326" y="3165"/>
                        <a:pt x="20194" y="3165"/>
                      </a:cubicBezTo>
                      <a:lnTo>
                        <a:pt x="10054" y="3165"/>
                      </a:lnTo>
                      <a:cubicBezTo>
                        <a:pt x="9921" y="3165"/>
                        <a:pt x="9806" y="3211"/>
                        <a:pt x="9801" y="3252"/>
                      </a:cubicBezTo>
                      <a:close/>
                      <a:moveTo>
                        <a:pt x="7125" y="3764"/>
                      </a:moveTo>
                      <a:lnTo>
                        <a:pt x="8765" y="3764"/>
                      </a:lnTo>
                      <a:cubicBezTo>
                        <a:pt x="8903" y="3764"/>
                        <a:pt x="9018" y="3723"/>
                        <a:pt x="9024" y="3672"/>
                      </a:cubicBezTo>
                      <a:lnTo>
                        <a:pt x="9110" y="3252"/>
                      </a:lnTo>
                      <a:cubicBezTo>
                        <a:pt x="9116" y="3206"/>
                        <a:pt x="9024" y="3165"/>
                        <a:pt x="8891" y="3165"/>
                      </a:cubicBezTo>
                      <a:lnTo>
                        <a:pt x="7280" y="3165"/>
                      </a:lnTo>
                      <a:cubicBezTo>
                        <a:pt x="7153" y="3165"/>
                        <a:pt x="7038" y="3206"/>
                        <a:pt x="7021" y="3252"/>
                      </a:cubicBezTo>
                      <a:lnTo>
                        <a:pt x="6917" y="3672"/>
                      </a:lnTo>
                      <a:cubicBezTo>
                        <a:pt x="6894" y="3723"/>
                        <a:pt x="6986" y="3764"/>
                        <a:pt x="7125" y="3764"/>
                      </a:cubicBezTo>
                      <a:close/>
                      <a:moveTo>
                        <a:pt x="4823" y="3764"/>
                      </a:moveTo>
                      <a:lnTo>
                        <a:pt x="5939" y="3764"/>
                      </a:lnTo>
                      <a:cubicBezTo>
                        <a:pt x="6071" y="3764"/>
                        <a:pt x="6187" y="3723"/>
                        <a:pt x="6204" y="3672"/>
                      </a:cubicBezTo>
                      <a:lnTo>
                        <a:pt x="6319" y="3252"/>
                      </a:lnTo>
                      <a:cubicBezTo>
                        <a:pt x="6330" y="3206"/>
                        <a:pt x="6238" y="3165"/>
                        <a:pt x="6106" y="3165"/>
                      </a:cubicBezTo>
                      <a:lnTo>
                        <a:pt x="5018" y="3165"/>
                      </a:lnTo>
                      <a:cubicBezTo>
                        <a:pt x="4886" y="3165"/>
                        <a:pt x="4765" y="3206"/>
                        <a:pt x="4748" y="3252"/>
                      </a:cubicBezTo>
                      <a:lnTo>
                        <a:pt x="4615" y="3672"/>
                      </a:lnTo>
                      <a:cubicBezTo>
                        <a:pt x="4592" y="3723"/>
                        <a:pt x="4690" y="3764"/>
                        <a:pt x="4823" y="3764"/>
                      </a:cubicBezTo>
                      <a:close/>
                      <a:moveTo>
                        <a:pt x="21437" y="3764"/>
                      </a:moveTo>
                      <a:lnTo>
                        <a:pt x="23077" y="3764"/>
                      </a:lnTo>
                      <a:cubicBezTo>
                        <a:pt x="23215" y="3764"/>
                        <a:pt x="23307" y="3723"/>
                        <a:pt x="23301" y="3672"/>
                      </a:cubicBezTo>
                      <a:lnTo>
                        <a:pt x="23221" y="3252"/>
                      </a:lnTo>
                      <a:cubicBezTo>
                        <a:pt x="23215" y="3206"/>
                        <a:pt x="23100" y="3165"/>
                        <a:pt x="22973" y="3165"/>
                      </a:cubicBezTo>
                      <a:lnTo>
                        <a:pt x="21362" y="3165"/>
                      </a:lnTo>
                      <a:cubicBezTo>
                        <a:pt x="21230" y="3165"/>
                        <a:pt x="21132" y="3206"/>
                        <a:pt x="21138" y="3252"/>
                      </a:cubicBezTo>
                      <a:lnTo>
                        <a:pt x="21195" y="3672"/>
                      </a:lnTo>
                      <a:cubicBezTo>
                        <a:pt x="21195" y="3723"/>
                        <a:pt x="21310" y="3764"/>
                        <a:pt x="21437" y="3764"/>
                      </a:cubicBezTo>
                      <a:close/>
                      <a:moveTo>
                        <a:pt x="2521" y="3764"/>
                      </a:moveTo>
                      <a:lnTo>
                        <a:pt x="3637" y="3764"/>
                      </a:lnTo>
                      <a:cubicBezTo>
                        <a:pt x="3770" y="3764"/>
                        <a:pt x="3885" y="3723"/>
                        <a:pt x="3908" y="3672"/>
                      </a:cubicBezTo>
                      <a:lnTo>
                        <a:pt x="4052" y="3252"/>
                      </a:lnTo>
                      <a:cubicBezTo>
                        <a:pt x="4069" y="3206"/>
                        <a:pt x="3982" y="3165"/>
                        <a:pt x="3844" y="3165"/>
                      </a:cubicBezTo>
                      <a:lnTo>
                        <a:pt x="2745" y="3165"/>
                      </a:lnTo>
                      <a:cubicBezTo>
                        <a:pt x="2613" y="3165"/>
                        <a:pt x="2492" y="3206"/>
                        <a:pt x="2469" y="3252"/>
                      </a:cubicBezTo>
                      <a:lnTo>
                        <a:pt x="2302" y="3672"/>
                      </a:lnTo>
                      <a:cubicBezTo>
                        <a:pt x="2296" y="3723"/>
                        <a:pt x="2388" y="3764"/>
                        <a:pt x="2521" y="3764"/>
                      </a:cubicBezTo>
                      <a:close/>
                      <a:moveTo>
                        <a:pt x="225" y="3764"/>
                      </a:moveTo>
                      <a:lnTo>
                        <a:pt x="1341" y="3764"/>
                      </a:lnTo>
                      <a:cubicBezTo>
                        <a:pt x="1479" y="3764"/>
                        <a:pt x="1600" y="3723"/>
                        <a:pt x="1623" y="3672"/>
                      </a:cubicBezTo>
                      <a:lnTo>
                        <a:pt x="1796" y="3252"/>
                      </a:lnTo>
                      <a:cubicBezTo>
                        <a:pt x="1813" y="3206"/>
                        <a:pt x="1721" y="3165"/>
                        <a:pt x="1594" y="3165"/>
                      </a:cubicBezTo>
                      <a:lnTo>
                        <a:pt x="489" y="3165"/>
                      </a:lnTo>
                      <a:cubicBezTo>
                        <a:pt x="363" y="3165"/>
                        <a:pt x="242" y="3206"/>
                        <a:pt x="207" y="3252"/>
                      </a:cubicBezTo>
                      <a:lnTo>
                        <a:pt x="23" y="3672"/>
                      </a:lnTo>
                      <a:cubicBezTo>
                        <a:pt x="0" y="3723"/>
                        <a:pt x="86" y="3764"/>
                        <a:pt x="225" y="37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7" name="Google Shape;837;p47"/>
                <p:cNvSpPr/>
                <p:nvPr/>
              </p:nvSpPr>
              <p:spPr>
                <a:xfrm>
                  <a:off x="6239159" y="3429258"/>
                  <a:ext cx="1890236" cy="219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16" h="3770" extrusionOk="0">
                      <a:moveTo>
                        <a:pt x="2866" y="242"/>
                      </a:moveTo>
                      <a:lnTo>
                        <a:pt x="1807" y="242"/>
                      </a:lnTo>
                      <a:cubicBezTo>
                        <a:pt x="1687" y="242"/>
                        <a:pt x="1606" y="207"/>
                        <a:pt x="1617" y="173"/>
                      </a:cubicBezTo>
                      <a:lnTo>
                        <a:pt x="1664" y="75"/>
                      </a:lnTo>
                      <a:cubicBezTo>
                        <a:pt x="1687" y="35"/>
                        <a:pt x="1790" y="6"/>
                        <a:pt x="1917" y="6"/>
                      </a:cubicBezTo>
                      <a:lnTo>
                        <a:pt x="2964" y="6"/>
                      </a:lnTo>
                      <a:cubicBezTo>
                        <a:pt x="3085" y="6"/>
                        <a:pt x="3166" y="40"/>
                        <a:pt x="3154" y="75"/>
                      </a:cubicBezTo>
                      <a:lnTo>
                        <a:pt x="3108" y="173"/>
                      </a:lnTo>
                      <a:cubicBezTo>
                        <a:pt x="3091" y="213"/>
                        <a:pt x="2981" y="242"/>
                        <a:pt x="2866" y="242"/>
                      </a:cubicBezTo>
                      <a:close/>
                      <a:moveTo>
                        <a:pt x="5088" y="0"/>
                      </a:moveTo>
                      <a:lnTo>
                        <a:pt x="4034" y="0"/>
                      </a:lnTo>
                      <a:cubicBezTo>
                        <a:pt x="3914" y="0"/>
                        <a:pt x="3804" y="35"/>
                        <a:pt x="3793" y="69"/>
                      </a:cubicBezTo>
                      <a:lnTo>
                        <a:pt x="3758" y="161"/>
                      </a:lnTo>
                      <a:cubicBezTo>
                        <a:pt x="3741" y="207"/>
                        <a:pt x="3827" y="236"/>
                        <a:pt x="3942" y="236"/>
                      </a:cubicBezTo>
                      <a:lnTo>
                        <a:pt x="5001" y="236"/>
                      </a:lnTo>
                      <a:cubicBezTo>
                        <a:pt x="5122" y="236"/>
                        <a:pt x="5231" y="201"/>
                        <a:pt x="5243" y="161"/>
                      </a:cubicBezTo>
                      <a:lnTo>
                        <a:pt x="5283" y="69"/>
                      </a:lnTo>
                      <a:cubicBezTo>
                        <a:pt x="5295" y="35"/>
                        <a:pt x="5208" y="0"/>
                        <a:pt x="5088" y="0"/>
                      </a:cubicBezTo>
                      <a:close/>
                      <a:moveTo>
                        <a:pt x="7217" y="0"/>
                      </a:moveTo>
                      <a:lnTo>
                        <a:pt x="6164" y="0"/>
                      </a:lnTo>
                      <a:cubicBezTo>
                        <a:pt x="6043" y="0"/>
                        <a:pt x="5945" y="35"/>
                        <a:pt x="5928" y="69"/>
                      </a:cubicBezTo>
                      <a:lnTo>
                        <a:pt x="5899" y="161"/>
                      </a:lnTo>
                      <a:cubicBezTo>
                        <a:pt x="5888" y="207"/>
                        <a:pt x="5968" y="236"/>
                        <a:pt x="6095" y="236"/>
                      </a:cubicBezTo>
                      <a:lnTo>
                        <a:pt x="7148" y="236"/>
                      </a:lnTo>
                      <a:cubicBezTo>
                        <a:pt x="7274" y="236"/>
                        <a:pt x="7378" y="201"/>
                        <a:pt x="7390" y="161"/>
                      </a:cubicBezTo>
                      <a:lnTo>
                        <a:pt x="7418" y="69"/>
                      </a:lnTo>
                      <a:cubicBezTo>
                        <a:pt x="7424" y="35"/>
                        <a:pt x="7332" y="0"/>
                        <a:pt x="7217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3" y="35"/>
                        <a:pt x="8051" y="69"/>
                      </a:cubicBezTo>
                      <a:lnTo>
                        <a:pt x="8028" y="161"/>
                      </a:lnTo>
                      <a:cubicBezTo>
                        <a:pt x="8023" y="207"/>
                        <a:pt x="8109" y="236"/>
                        <a:pt x="8230" y="236"/>
                      </a:cubicBezTo>
                      <a:lnTo>
                        <a:pt x="9289" y="236"/>
                      </a:lnTo>
                      <a:cubicBezTo>
                        <a:pt x="9409" y="236"/>
                        <a:pt x="9507" y="201"/>
                        <a:pt x="9519" y="161"/>
                      </a:cubicBezTo>
                      <a:lnTo>
                        <a:pt x="9536" y="69"/>
                      </a:lnTo>
                      <a:cubicBezTo>
                        <a:pt x="9548" y="35"/>
                        <a:pt x="9461" y="0"/>
                        <a:pt x="9340" y="0"/>
                      </a:cubicBezTo>
                      <a:close/>
                      <a:moveTo>
                        <a:pt x="11470" y="0"/>
                      </a:moveTo>
                      <a:lnTo>
                        <a:pt x="10417" y="0"/>
                      </a:lnTo>
                      <a:cubicBezTo>
                        <a:pt x="10296" y="0"/>
                        <a:pt x="10192" y="35"/>
                        <a:pt x="10186" y="69"/>
                      </a:cubicBezTo>
                      <a:lnTo>
                        <a:pt x="10163" y="161"/>
                      </a:lnTo>
                      <a:cubicBezTo>
                        <a:pt x="10158" y="207"/>
                        <a:pt x="10250" y="236"/>
                        <a:pt x="10365" y="236"/>
                      </a:cubicBezTo>
                      <a:lnTo>
                        <a:pt x="11424" y="236"/>
                      </a:lnTo>
                      <a:cubicBezTo>
                        <a:pt x="11545" y="236"/>
                        <a:pt x="11648" y="201"/>
                        <a:pt x="11654" y="161"/>
                      </a:cubicBezTo>
                      <a:lnTo>
                        <a:pt x="11665" y="69"/>
                      </a:lnTo>
                      <a:cubicBezTo>
                        <a:pt x="11677" y="35"/>
                        <a:pt x="11579" y="0"/>
                        <a:pt x="11470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6" y="35"/>
                        <a:pt x="12316" y="69"/>
                      </a:cubicBezTo>
                      <a:lnTo>
                        <a:pt x="12304" y="161"/>
                      </a:lnTo>
                      <a:cubicBezTo>
                        <a:pt x="12293" y="207"/>
                        <a:pt x="12390" y="236"/>
                        <a:pt x="12511" y="236"/>
                      </a:cubicBezTo>
                      <a:lnTo>
                        <a:pt x="13570" y="236"/>
                      </a:lnTo>
                      <a:cubicBezTo>
                        <a:pt x="13691" y="236"/>
                        <a:pt x="13789" y="201"/>
                        <a:pt x="13789" y="161"/>
                      </a:cubicBezTo>
                      <a:lnTo>
                        <a:pt x="13800" y="69"/>
                      </a:lnTo>
                      <a:cubicBezTo>
                        <a:pt x="13806" y="35"/>
                        <a:pt x="13714" y="0"/>
                        <a:pt x="13587" y="0"/>
                      </a:cubicBezTo>
                      <a:close/>
                      <a:moveTo>
                        <a:pt x="15717" y="0"/>
                      </a:moveTo>
                      <a:lnTo>
                        <a:pt x="14669" y="0"/>
                      </a:lnTo>
                      <a:cubicBezTo>
                        <a:pt x="14549" y="0"/>
                        <a:pt x="14451" y="35"/>
                        <a:pt x="14445" y="69"/>
                      </a:cubicBezTo>
                      <a:lnTo>
                        <a:pt x="14439" y="161"/>
                      </a:lnTo>
                      <a:cubicBezTo>
                        <a:pt x="14439" y="207"/>
                        <a:pt x="14531" y="236"/>
                        <a:pt x="14652" y="236"/>
                      </a:cubicBezTo>
                      <a:lnTo>
                        <a:pt x="15711" y="236"/>
                      </a:lnTo>
                      <a:cubicBezTo>
                        <a:pt x="15832" y="236"/>
                        <a:pt x="15930" y="201"/>
                        <a:pt x="15930" y="161"/>
                      </a:cubicBezTo>
                      <a:lnTo>
                        <a:pt x="15930" y="69"/>
                      </a:lnTo>
                      <a:cubicBezTo>
                        <a:pt x="15935" y="35"/>
                        <a:pt x="15843" y="0"/>
                        <a:pt x="15717" y="0"/>
                      </a:cubicBezTo>
                      <a:close/>
                      <a:moveTo>
                        <a:pt x="17846" y="0"/>
                      </a:moveTo>
                      <a:lnTo>
                        <a:pt x="16799" y="0"/>
                      </a:lnTo>
                      <a:cubicBezTo>
                        <a:pt x="16678" y="0"/>
                        <a:pt x="16580" y="35"/>
                        <a:pt x="16580" y="69"/>
                      </a:cubicBezTo>
                      <a:lnTo>
                        <a:pt x="16580" y="161"/>
                      </a:lnTo>
                      <a:cubicBezTo>
                        <a:pt x="16580" y="207"/>
                        <a:pt x="16684" y="236"/>
                        <a:pt x="16799" y="236"/>
                      </a:cubicBezTo>
                      <a:lnTo>
                        <a:pt x="17858" y="236"/>
                      </a:lnTo>
                      <a:cubicBezTo>
                        <a:pt x="17978" y="236"/>
                        <a:pt x="18071" y="201"/>
                        <a:pt x="18071" y="161"/>
                      </a:cubicBezTo>
                      <a:lnTo>
                        <a:pt x="18065" y="69"/>
                      </a:lnTo>
                      <a:cubicBezTo>
                        <a:pt x="18065" y="35"/>
                        <a:pt x="17961" y="0"/>
                        <a:pt x="17846" y="0"/>
                      </a:cubicBezTo>
                      <a:close/>
                      <a:moveTo>
                        <a:pt x="19970" y="0"/>
                      </a:moveTo>
                      <a:lnTo>
                        <a:pt x="18922" y="0"/>
                      </a:lnTo>
                      <a:cubicBezTo>
                        <a:pt x="18796" y="0"/>
                        <a:pt x="18704" y="35"/>
                        <a:pt x="18709" y="69"/>
                      </a:cubicBezTo>
                      <a:lnTo>
                        <a:pt x="18721" y="161"/>
                      </a:lnTo>
                      <a:cubicBezTo>
                        <a:pt x="18721" y="207"/>
                        <a:pt x="18819" y="236"/>
                        <a:pt x="18939" y="236"/>
                      </a:cubicBezTo>
                      <a:lnTo>
                        <a:pt x="19998" y="236"/>
                      </a:lnTo>
                      <a:cubicBezTo>
                        <a:pt x="20119" y="236"/>
                        <a:pt x="20217" y="201"/>
                        <a:pt x="20206" y="161"/>
                      </a:cubicBezTo>
                      <a:lnTo>
                        <a:pt x="20194" y="69"/>
                      </a:lnTo>
                      <a:cubicBezTo>
                        <a:pt x="20194" y="35"/>
                        <a:pt x="20090" y="0"/>
                        <a:pt x="19970" y="0"/>
                      </a:cubicBezTo>
                      <a:close/>
                      <a:moveTo>
                        <a:pt x="22099" y="0"/>
                      </a:moveTo>
                      <a:lnTo>
                        <a:pt x="21052" y="0"/>
                      </a:lnTo>
                      <a:cubicBezTo>
                        <a:pt x="20925" y="0"/>
                        <a:pt x="20839" y="35"/>
                        <a:pt x="20839" y="69"/>
                      </a:cubicBezTo>
                      <a:lnTo>
                        <a:pt x="20856" y="161"/>
                      </a:lnTo>
                      <a:cubicBezTo>
                        <a:pt x="20862" y="207"/>
                        <a:pt x="20965" y="236"/>
                        <a:pt x="21086" y="236"/>
                      </a:cubicBezTo>
                      <a:lnTo>
                        <a:pt x="22139" y="236"/>
                      </a:lnTo>
                      <a:cubicBezTo>
                        <a:pt x="22266" y="236"/>
                        <a:pt x="22352" y="201"/>
                        <a:pt x="22346" y="161"/>
                      </a:cubicBezTo>
                      <a:lnTo>
                        <a:pt x="22323" y="69"/>
                      </a:lnTo>
                      <a:cubicBezTo>
                        <a:pt x="22323" y="35"/>
                        <a:pt x="22214" y="0"/>
                        <a:pt x="22099" y="0"/>
                      </a:cubicBezTo>
                      <a:close/>
                      <a:moveTo>
                        <a:pt x="24222" y="0"/>
                      </a:moveTo>
                      <a:lnTo>
                        <a:pt x="23169" y="0"/>
                      </a:lnTo>
                      <a:cubicBezTo>
                        <a:pt x="23048" y="0"/>
                        <a:pt x="22962" y="35"/>
                        <a:pt x="22968" y="69"/>
                      </a:cubicBezTo>
                      <a:lnTo>
                        <a:pt x="22991" y="161"/>
                      </a:lnTo>
                      <a:cubicBezTo>
                        <a:pt x="22997" y="207"/>
                        <a:pt x="23106" y="236"/>
                        <a:pt x="23221" y="236"/>
                      </a:cubicBezTo>
                      <a:lnTo>
                        <a:pt x="24280" y="236"/>
                      </a:lnTo>
                      <a:cubicBezTo>
                        <a:pt x="24401" y="236"/>
                        <a:pt x="24487" y="201"/>
                        <a:pt x="24481" y="161"/>
                      </a:cubicBezTo>
                      <a:lnTo>
                        <a:pt x="24458" y="69"/>
                      </a:lnTo>
                      <a:cubicBezTo>
                        <a:pt x="24447" y="35"/>
                        <a:pt x="24343" y="0"/>
                        <a:pt x="24222" y="0"/>
                      </a:cubicBezTo>
                      <a:close/>
                      <a:moveTo>
                        <a:pt x="26352" y="0"/>
                      </a:moveTo>
                      <a:lnTo>
                        <a:pt x="25299" y="0"/>
                      </a:lnTo>
                      <a:cubicBezTo>
                        <a:pt x="25178" y="0"/>
                        <a:pt x="25091" y="35"/>
                        <a:pt x="25109" y="69"/>
                      </a:cubicBezTo>
                      <a:lnTo>
                        <a:pt x="25137" y="161"/>
                      </a:lnTo>
                      <a:cubicBezTo>
                        <a:pt x="25149" y="207"/>
                        <a:pt x="25253" y="236"/>
                        <a:pt x="25373" y="236"/>
                      </a:cubicBezTo>
                      <a:lnTo>
                        <a:pt x="26432" y="236"/>
                      </a:lnTo>
                      <a:cubicBezTo>
                        <a:pt x="26553" y="236"/>
                        <a:pt x="26639" y="201"/>
                        <a:pt x="26622" y="161"/>
                      </a:cubicBezTo>
                      <a:lnTo>
                        <a:pt x="26593" y="69"/>
                      </a:lnTo>
                      <a:cubicBezTo>
                        <a:pt x="26576" y="35"/>
                        <a:pt x="26467" y="0"/>
                        <a:pt x="26352" y="0"/>
                      </a:cubicBezTo>
                      <a:close/>
                      <a:moveTo>
                        <a:pt x="28475" y="0"/>
                      </a:moveTo>
                      <a:lnTo>
                        <a:pt x="27422" y="0"/>
                      </a:lnTo>
                      <a:cubicBezTo>
                        <a:pt x="27301" y="0"/>
                        <a:pt x="27221" y="35"/>
                        <a:pt x="27226" y="69"/>
                      </a:cubicBezTo>
                      <a:lnTo>
                        <a:pt x="27267" y="161"/>
                      </a:lnTo>
                      <a:cubicBezTo>
                        <a:pt x="27278" y="207"/>
                        <a:pt x="27388" y="236"/>
                        <a:pt x="27508" y="236"/>
                      </a:cubicBezTo>
                      <a:lnTo>
                        <a:pt x="28567" y="236"/>
                      </a:lnTo>
                      <a:cubicBezTo>
                        <a:pt x="28688" y="236"/>
                        <a:pt x="28769" y="201"/>
                        <a:pt x="28751" y="161"/>
                      </a:cubicBezTo>
                      <a:lnTo>
                        <a:pt x="28717" y="69"/>
                      </a:lnTo>
                      <a:cubicBezTo>
                        <a:pt x="28705" y="35"/>
                        <a:pt x="28596" y="0"/>
                        <a:pt x="28475" y="0"/>
                      </a:cubicBezTo>
                      <a:close/>
                      <a:moveTo>
                        <a:pt x="30605" y="0"/>
                      </a:moveTo>
                      <a:lnTo>
                        <a:pt x="29551" y="0"/>
                      </a:lnTo>
                      <a:cubicBezTo>
                        <a:pt x="29431" y="0"/>
                        <a:pt x="29350" y="35"/>
                        <a:pt x="29367" y="69"/>
                      </a:cubicBezTo>
                      <a:lnTo>
                        <a:pt x="29408" y="161"/>
                      </a:lnTo>
                      <a:cubicBezTo>
                        <a:pt x="29425" y="207"/>
                        <a:pt x="29540" y="236"/>
                        <a:pt x="29655" y="236"/>
                      </a:cubicBezTo>
                      <a:lnTo>
                        <a:pt x="30708" y="236"/>
                      </a:lnTo>
                      <a:cubicBezTo>
                        <a:pt x="30835" y="236"/>
                        <a:pt x="30910" y="201"/>
                        <a:pt x="30898" y="161"/>
                      </a:cubicBezTo>
                      <a:lnTo>
                        <a:pt x="30852" y="69"/>
                      </a:lnTo>
                      <a:cubicBezTo>
                        <a:pt x="30835" y="35"/>
                        <a:pt x="30720" y="0"/>
                        <a:pt x="30605" y="0"/>
                      </a:cubicBezTo>
                      <a:close/>
                      <a:moveTo>
                        <a:pt x="2751" y="386"/>
                      </a:moveTo>
                      <a:lnTo>
                        <a:pt x="1733" y="386"/>
                      </a:lnTo>
                      <a:cubicBezTo>
                        <a:pt x="1612" y="386"/>
                        <a:pt x="1502" y="420"/>
                        <a:pt x="1485" y="460"/>
                      </a:cubicBezTo>
                      <a:lnTo>
                        <a:pt x="1324" y="811"/>
                      </a:lnTo>
                      <a:cubicBezTo>
                        <a:pt x="1301" y="852"/>
                        <a:pt x="1387" y="892"/>
                        <a:pt x="1514" y="892"/>
                      </a:cubicBezTo>
                      <a:lnTo>
                        <a:pt x="2538" y="892"/>
                      </a:lnTo>
                      <a:cubicBezTo>
                        <a:pt x="2665" y="892"/>
                        <a:pt x="2780" y="852"/>
                        <a:pt x="2791" y="811"/>
                      </a:cubicBezTo>
                      <a:lnTo>
                        <a:pt x="2935" y="460"/>
                      </a:lnTo>
                      <a:cubicBezTo>
                        <a:pt x="2958" y="420"/>
                        <a:pt x="2872" y="386"/>
                        <a:pt x="2751" y="386"/>
                      </a:cubicBezTo>
                      <a:close/>
                      <a:moveTo>
                        <a:pt x="4829" y="386"/>
                      </a:moveTo>
                      <a:lnTo>
                        <a:pt x="3816" y="386"/>
                      </a:lnTo>
                      <a:cubicBezTo>
                        <a:pt x="3689" y="386"/>
                        <a:pt x="3586" y="420"/>
                        <a:pt x="3568" y="460"/>
                      </a:cubicBezTo>
                      <a:lnTo>
                        <a:pt x="3430" y="811"/>
                      </a:lnTo>
                      <a:cubicBezTo>
                        <a:pt x="3419" y="852"/>
                        <a:pt x="3505" y="892"/>
                        <a:pt x="3626" y="892"/>
                      </a:cubicBezTo>
                      <a:lnTo>
                        <a:pt x="4656" y="892"/>
                      </a:lnTo>
                      <a:cubicBezTo>
                        <a:pt x="4777" y="892"/>
                        <a:pt x="4892" y="852"/>
                        <a:pt x="4909" y="811"/>
                      </a:cubicBezTo>
                      <a:lnTo>
                        <a:pt x="5030" y="460"/>
                      </a:lnTo>
                      <a:cubicBezTo>
                        <a:pt x="5036" y="420"/>
                        <a:pt x="4950" y="386"/>
                        <a:pt x="4829" y="386"/>
                      </a:cubicBezTo>
                      <a:close/>
                      <a:moveTo>
                        <a:pt x="6906" y="386"/>
                      </a:moveTo>
                      <a:lnTo>
                        <a:pt x="5893" y="386"/>
                      </a:lnTo>
                      <a:cubicBezTo>
                        <a:pt x="5772" y="386"/>
                        <a:pt x="5663" y="420"/>
                        <a:pt x="5646" y="460"/>
                      </a:cubicBezTo>
                      <a:lnTo>
                        <a:pt x="5531" y="811"/>
                      </a:lnTo>
                      <a:cubicBezTo>
                        <a:pt x="5519" y="852"/>
                        <a:pt x="5606" y="892"/>
                        <a:pt x="5726" y="892"/>
                      </a:cubicBezTo>
                      <a:lnTo>
                        <a:pt x="6757" y="892"/>
                      </a:lnTo>
                      <a:cubicBezTo>
                        <a:pt x="6877" y="892"/>
                        <a:pt x="6987" y="852"/>
                        <a:pt x="6998" y="811"/>
                      </a:cubicBezTo>
                      <a:lnTo>
                        <a:pt x="7102" y="460"/>
                      </a:lnTo>
                      <a:cubicBezTo>
                        <a:pt x="7113" y="420"/>
                        <a:pt x="7027" y="386"/>
                        <a:pt x="6906" y="386"/>
                      </a:cubicBezTo>
                      <a:close/>
                      <a:moveTo>
                        <a:pt x="8984" y="386"/>
                      </a:moveTo>
                      <a:lnTo>
                        <a:pt x="7971" y="386"/>
                      </a:lnTo>
                      <a:cubicBezTo>
                        <a:pt x="7850" y="386"/>
                        <a:pt x="7741" y="420"/>
                        <a:pt x="7735" y="460"/>
                      </a:cubicBezTo>
                      <a:lnTo>
                        <a:pt x="7637" y="811"/>
                      </a:lnTo>
                      <a:cubicBezTo>
                        <a:pt x="7626" y="852"/>
                        <a:pt x="7718" y="892"/>
                        <a:pt x="7838" y="892"/>
                      </a:cubicBezTo>
                      <a:lnTo>
                        <a:pt x="8869" y="892"/>
                      </a:lnTo>
                      <a:cubicBezTo>
                        <a:pt x="8989" y="892"/>
                        <a:pt x="9099" y="852"/>
                        <a:pt x="9110" y="811"/>
                      </a:cubicBezTo>
                      <a:lnTo>
                        <a:pt x="9185" y="460"/>
                      </a:lnTo>
                      <a:cubicBezTo>
                        <a:pt x="9197" y="420"/>
                        <a:pt x="9110" y="386"/>
                        <a:pt x="8984" y="386"/>
                      </a:cubicBezTo>
                      <a:close/>
                      <a:moveTo>
                        <a:pt x="11067" y="386"/>
                      </a:moveTo>
                      <a:lnTo>
                        <a:pt x="10048" y="386"/>
                      </a:lnTo>
                      <a:cubicBezTo>
                        <a:pt x="9927" y="386"/>
                        <a:pt x="9830" y="420"/>
                        <a:pt x="9818" y="460"/>
                      </a:cubicBezTo>
                      <a:lnTo>
                        <a:pt x="9749" y="811"/>
                      </a:lnTo>
                      <a:cubicBezTo>
                        <a:pt x="9743" y="852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7" y="852"/>
                        <a:pt x="11217" y="811"/>
                      </a:cubicBezTo>
                      <a:lnTo>
                        <a:pt x="11274" y="460"/>
                      </a:lnTo>
                      <a:cubicBezTo>
                        <a:pt x="11280" y="420"/>
                        <a:pt x="11188" y="386"/>
                        <a:pt x="11067" y="386"/>
                      </a:cubicBezTo>
                      <a:close/>
                      <a:moveTo>
                        <a:pt x="13144" y="386"/>
                      </a:moveTo>
                      <a:lnTo>
                        <a:pt x="12132" y="386"/>
                      </a:lnTo>
                      <a:cubicBezTo>
                        <a:pt x="12005" y="386"/>
                        <a:pt x="11907" y="420"/>
                        <a:pt x="11901" y="460"/>
                      </a:cubicBezTo>
                      <a:lnTo>
                        <a:pt x="11850" y="811"/>
                      </a:lnTo>
                      <a:cubicBezTo>
                        <a:pt x="11844" y="852"/>
                        <a:pt x="11936" y="892"/>
                        <a:pt x="12057" y="892"/>
                      </a:cubicBezTo>
                      <a:lnTo>
                        <a:pt x="13087" y="892"/>
                      </a:lnTo>
                      <a:cubicBezTo>
                        <a:pt x="13208" y="892"/>
                        <a:pt x="13311" y="852"/>
                        <a:pt x="13317" y="811"/>
                      </a:cubicBezTo>
                      <a:lnTo>
                        <a:pt x="13346" y="460"/>
                      </a:lnTo>
                      <a:cubicBezTo>
                        <a:pt x="13357" y="420"/>
                        <a:pt x="13265" y="386"/>
                        <a:pt x="13144" y="386"/>
                      </a:cubicBezTo>
                      <a:close/>
                      <a:moveTo>
                        <a:pt x="15222" y="386"/>
                      </a:moveTo>
                      <a:lnTo>
                        <a:pt x="14209" y="386"/>
                      </a:lnTo>
                      <a:cubicBezTo>
                        <a:pt x="14088" y="386"/>
                        <a:pt x="13985" y="420"/>
                        <a:pt x="13985" y="460"/>
                      </a:cubicBezTo>
                      <a:lnTo>
                        <a:pt x="13962" y="811"/>
                      </a:lnTo>
                      <a:cubicBezTo>
                        <a:pt x="13962" y="852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29" y="852"/>
                        <a:pt x="15429" y="811"/>
                      </a:cubicBezTo>
                      <a:lnTo>
                        <a:pt x="15441" y="460"/>
                      </a:lnTo>
                      <a:cubicBezTo>
                        <a:pt x="15441" y="420"/>
                        <a:pt x="15343" y="386"/>
                        <a:pt x="15222" y="386"/>
                      </a:cubicBezTo>
                      <a:close/>
                      <a:moveTo>
                        <a:pt x="17299" y="386"/>
                      </a:moveTo>
                      <a:lnTo>
                        <a:pt x="16287" y="386"/>
                      </a:lnTo>
                      <a:cubicBezTo>
                        <a:pt x="16166" y="386"/>
                        <a:pt x="16074" y="420"/>
                        <a:pt x="16074" y="460"/>
                      </a:cubicBezTo>
                      <a:lnTo>
                        <a:pt x="16074" y="811"/>
                      </a:lnTo>
                      <a:cubicBezTo>
                        <a:pt x="16074" y="852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2"/>
                        <a:pt x="17541" y="811"/>
                      </a:cubicBezTo>
                      <a:lnTo>
                        <a:pt x="17524" y="460"/>
                      </a:lnTo>
                      <a:cubicBezTo>
                        <a:pt x="17518" y="420"/>
                        <a:pt x="17426" y="386"/>
                        <a:pt x="17299" y="386"/>
                      </a:cubicBezTo>
                      <a:close/>
                      <a:moveTo>
                        <a:pt x="19383" y="386"/>
                      </a:moveTo>
                      <a:lnTo>
                        <a:pt x="18364" y="386"/>
                      </a:lnTo>
                      <a:cubicBezTo>
                        <a:pt x="18243" y="386"/>
                        <a:pt x="18151" y="420"/>
                        <a:pt x="18151" y="460"/>
                      </a:cubicBezTo>
                      <a:lnTo>
                        <a:pt x="18174" y="811"/>
                      </a:lnTo>
                      <a:cubicBezTo>
                        <a:pt x="18174" y="852"/>
                        <a:pt x="18272" y="892"/>
                        <a:pt x="18393" y="892"/>
                      </a:cubicBezTo>
                      <a:lnTo>
                        <a:pt x="19423" y="892"/>
                      </a:lnTo>
                      <a:cubicBezTo>
                        <a:pt x="19544" y="892"/>
                        <a:pt x="19642" y="852"/>
                        <a:pt x="19642" y="811"/>
                      </a:cubicBezTo>
                      <a:lnTo>
                        <a:pt x="19601" y="460"/>
                      </a:lnTo>
                      <a:cubicBezTo>
                        <a:pt x="19601" y="420"/>
                        <a:pt x="19503" y="386"/>
                        <a:pt x="19383" y="386"/>
                      </a:cubicBezTo>
                      <a:close/>
                      <a:moveTo>
                        <a:pt x="21460" y="386"/>
                      </a:moveTo>
                      <a:lnTo>
                        <a:pt x="20447" y="386"/>
                      </a:lnTo>
                      <a:cubicBezTo>
                        <a:pt x="20321" y="386"/>
                        <a:pt x="20229" y="420"/>
                        <a:pt x="20234" y="460"/>
                      </a:cubicBezTo>
                      <a:lnTo>
                        <a:pt x="20280" y="811"/>
                      </a:lnTo>
                      <a:cubicBezTo>
                        <a:pt x="20286" y="852"/>
                        <a:pt x="20390" y="892"/>
                        <a:pt x="20511" y="892"/>
                      </a:cubicBezTo>
                      <a:lnTo>
                        <a:pt x="21541" y="892"/>
                      </a:lnTo>
                      <a:cubicBezTo>
                        <a:pt x="21662" y="892"/>
                        <a:pt x="21754" y="852"/>
                        <a:pt x="21748" y="811"/>
                      </a:cubicBezTo>
                      <a:lnTo>
                        <a:pt x="21690" y="460"/>
                      </a:lnTo>
                      <a:cubicBezTo>
                        <a:pt x="21685" y="420"/>
                        <a:pt x="21575" y="386"/>
                        <a:pt x="21460" y="386"/>
                      </a:cubicBezTo>
                      <a:close/>
                      <a:moveTo>
                        <a:pt x="23538" y="386"/>
                      </a:moveTo>
                      <a:lnTo>
                        <a:pt x="22525" y="386"/>
                      </a:lnTo>
                      <a:cubicBezTo>
                        <a:pt x="22404" y="386"/>
                        <a:pt x="22318" y="420"/>
                        <a:pt x="22323" y="460"/>
                      </a:cubicBezTo>
                      <a:lnTo>
                        <a:pt x="22387" y="811"/>
                      </a:lnTo>
                      <a:cubicBezTo>
                        <a:pt x="22392" y="852"/>
                        <a:pt x="22502" y="892"/>
                        <a:pt x="22623" y="892"/>
                      </a:cubicBezTo>
                      <a:lnTo>
                        <a:pt x="23653" y="892"/>
                      </a:lnTo>
                      <a:cubicBezTo>
                        <a:pt x="23774" y="892"/>
                        <a:pt x="23871" y="852"/>
                        <a:pt x="23854" y="811"/>
                      </a:cubicBezTo>
                      <a:lnTo>
                        <a:pt x="23774" y="460"/>
                      </a:lnTo>
                      <a:cubicBezTo>
                        <a:pt x="23762" y="420"/>
                        <a:pt x="23653" y="386"/>
                        <a:pt x="23538" y="386"/>
                      </a:cubicBezTo>
                      <a:close/>
                      <a:moveTo>
                        <a:pt x="25615" y="386"/>
                      </a:moveTo>
                      <a:lnTo>
                        <a:pt x="24602" y="386"/>
                      </a:lnTo>
                      <a:cubicBezTo>
                        <a:pt x="24481" y="386"/>
                        <a:pt x="24395" y="420"/>
                        <a:pt x="24401" y="460"/>
                      </a:cubicBezTo>
                      <a:lnTo>
                        <a:pt x="24487" y="811"/>
                      </a:lnTo>
                      <a:cubicBezTo>
                        <a:pt x="24493" y="852"/>
                        <a:pt x="24608" y="892"/>
                        <a:pt x="24735" y="892"/>
                      </a:cubicBezTo>
                      <a:lnTo>
                        <a:pt x="25759" y="892"/>
                      </a:lnTo>
                      <a:cubicBezTo>
                        <a:pt x="25886" y="892"/>
                        <a:pt x="25972" y="852"/>
                        <a:pt x="25960" y="811"/>
                      </a:cubicBezTo>
                      <a:lnTo>
                        <a:pt x="25863" y="460"/>
                      </a:lnTo>
                      <a:cubicBezTo>
                        <a:pt x="25840" y="420"/>
                        <a:pt x="25730" y="386"/>
                        <a:pt x="25615" y="386"/>
                      </a:cubicBezTo>
                      <a:close/>
                      <a:moveTo>
                        <a:pt x="27698" y="386"/>
                      </a:moveTo>
                      <a:lnTo>
                        <a:pt x="26680" y="386"/>
                      </a:lnTo>
                      <a:cubicBezTo>
                        <a:pt x="26559" y="386"/>
                        <a:pt x="26473" y="420"/>
                        <a:pt x="26490" y="460"/>
                      </a:cubicBezTo>
                      <a:lnTo>
                        <a:pt x="26593" y="811"/>
                      </a:lnTo>
                      <a:cubicBezTo>
                        <a:pt x="26611" y="852"/>
                        <a:pt x="26720" y="892"/>
                        <a:pt x="26841" y="892"/>
                      </a:cubicBezTo>
                      <a:lnTo>
                        <a:pt x="27871" y="892"/>
                      </a:lnTo>
                      <a:cubicBezTo>
                        <a:pt x="27992" y="892"/>
                        <a:pt x="28078" y="852"/>
                        <a:pt x="28061" y="811"/>
                      </a:cubicBezTo>
                      <a:lnTo>
                        <a:pt x="27934" y="460"/>
                      </a:lnTo>
                      <a:cubicBezTo>
                        <a:pt x="27929" y="420"/>
                        <a:pt x="27813" y="386"/>
                        <a:pt x="27698" y="386"/>
                      </a:cubicBezTo>
                      <a:close/>
                      <a:moveTo>
                        <a:pt x="30777" y="386"/>
                      </a:moveTo>
                      <a:lnTo>
                        <a:pt x="28763" y="386"/>
                      </a:lnTo>
                      <a:cubicBezTo>
                        <a:pt x="28636" y="386"/>
                        <a:pt x="28550" y="420"/>
                        <a:pt x="28573" y="460"/>
                      </a:cubicBezTo>
                      <a:lnTo>
                        <a:pt x="28711" y="811"/>
                      </a:lnTo>
                      <a:cubicBezTo>
                        <a:pt x="28723" y="852"/>
                        <a:pt x="28838" y="892"/>
                        <a:pt x="28964" y="892"/>
                      </a:cubicBezTo>
                      <a:lnTo>
                        <a:pt x="31013" y="892"/>
                      </a:lnTo>
                      <a:cubicBezTo>
                        <a:pt x="31134" y="892"/>
                        <a:pt x="31220" y="852"/>
                        <a:pt x="31197" y="811"/>
                      </a:cubicBezTo>
                      <a:lnTo>
                        <a:pt x="31042" y="460"/>
                      </a:lnTo>
                      <a:cubicBezTo>
                        <a:pt x="31013" y="420"/>
                        <a:pt x="30898" y="386"/>
                        <a:pt x="30777" y="386"/>
                      </a:cubicBezTo>
                      <a:close/>
                      <a:moveTo>
                        <a:pt x="30259" y="1565"/>
                      </a:moveTo>
                      <a:lnTo>
                        <a:pt x="31307" y="1565"/>
                      </a:lnTo>
                      <a:cubicBezTo>
                        <a:pt x="31427" y="1565"/>
                        <a:pt x="31514" y="1531"/>
                        <a:pt x="31497" y="1485"/>
                      </a:cubicBezTo>
                      <a:lnTo>
                        <a:pt x="31330" y="1116"/>
                      </a:lnTo>
                      <a:cubicBezTo>
                        <a:pt x="31307" y="1076"/>
                        <a:pt x="31192" y="1042"/>
                        <a:pt x="31071" y="1042"/>
                      </a:cubicBezTo>
                      <a:lnTo>
                        <a:pt x="30041" y="1042"/>
                      </a:lnTo>
                      <a:cubicBezTo>
                        <a:pt x="29920" y="1042"/>
                        <a:pt x="29833" y="1076"/>
                        <a:pt x="29845" y="1116"/>
                      </a:cubicBezTo>
                      <a:lnTo>
                        <a:pt x="30000" y="1485"/>
                      </a:lnTo>
                      <a:cubicBezTo>
                        <a:pt x="30012" y="1531"/>
                        <a:pt x="30133" y="1565"/>
                        <a:pt x="30259" y="1565"/>
                      </a:cubicBezTo>
                      <a:close/>
                      <a:moveTo>
                        <a:pt x="28101" y="1565"/>
                      </a:moveTo>
                      <a:lnTo>
                        <a:pt x="29149" y="1565"/>
                      </a:lnTo>
                      <a:cubicBezTo>
                        <a:pt x="29269" y="1565"/>
                        <a:pt x="29367" y="1531"/>
                        <a:pt x="29344" y="1485"/>
                      </a:cubicBezTo>
                      <a:lnTo>
                        <a:pt x="29200" y="1116"/>
                      </a:lnTo>
                      <a:cubicBezTo>
                        <a:pt x="29183" y="1076"/>
                        <a:pt x="29068" y="1042"/>
                        <a:pt x="28947" y="1042"/>
                      </a:cubicBezTo>
                      <a:lnTo>
                        <a:pt x="27917" y="1042"/>
                      </a:lnTo>
                      <a:cubicBezTo>
                        <a:pt x="27796" y="1042"/>
                        <a:pt x="27710" y="1076"/>
                        <a:pt x="27727" y="1116"/>
                      </a:cubicBezTo>
                      <a:lnTo>
                        <a:pt x="27854" y="1485"/>
                      </a:lnTo>
                      <a:cubicBezTo>
                        <a:pt x="27859" y="1531"/>
                        <a:pt x="27975" y="1565"/>
                        <a:pt x="28101" y="1565"/>
                      </a:cubicBezTo>
                      <a:close/>
                      <a:moveTo>
                        <a:pt x="25949" y="1565"/>
                      </a:moveTo>
                      <a:lnTo>
                        <a:pt x="26996" y="1565"/>
                      </a:lnTo>
                      <a:cubicBezTo>
                        <a:pt x="27123" y="1565"/>
                        <a:pt x="27215" y="1531"/>
                        <a:pt x="27198" y="1485"/>
                      </a:cubicBezTo>
                      <a:lnTo>
                        <a:pt x="27077" y="1116"/>
                      </a:lnTo>
                      <a:cubicBezTo>
                        <a:pt x="27065" y="1076"/>
                        <a:pt x="26956" y="1042"/>
                        <a:pt x="26824" y="1042"/>
                      </a:cubicBezTo>
                      <a:lnTo>
                        <a:pt x="25799" y="1042"/>
                      </a:lnTo>
                      <a:cubicBezTo>
                        <a:pt x="25673" y="1042"/>
                        <a:pt x="25581" y="1076"/>
                        <a:pt x="25598" y="1116"/>
                      </a:cubicBezTo>
                      <a:lnTo>
                        <a:pt x="25696" y="1485"/>
                      </a:lnTo>
                      <a:cubicBezTo>
                        <a:pt x="25713" y="1531"/>
                        <a:pt x="25828" y="1565"/>
                        <a:pt x="25949" y="1565"/>
                      </a:cubicBezTo>
                      <a:close/>
                      <a:moveTo>
                        <a:pt x="23791" y="1565"/>
                      </a:moveTo>
                      <a:lnTo>
                        <a:pt x="24838" y="1565"/>
                      </a:lnTo>
                      <a:cubicBezTo>
                        <a:pt x="24965" y="1565"/>
                        <a:pt x="25057" y="1531"/>
                        <a:pt x="25051" y="1485"/>
                      </a:cubicBezTo>
                      <a:lnTo>
                        <a:pt x="24953" y="1116"/>
                      </a:lnTo>
                      <a:cubicBezTo>
                        <a:pt x="24942" y="1076"/>
                        <a:pt x="24832" y="1042"/>
                        <a:pt x="24712" y="1042"/>
                      </a:cubicBezTo>
                      <a:lnTo>
                        <a:pt x="23681" y="1042"/>
                      </a:lnTo>
                      <a:cubicBezTo>
                        <a:pt x="23561" y="1042"/>
                        <a:pt x="23463" y="1076"/>
                        <a:pt x="23474" y="1116"/>
                      </a:cubicBezTo>
                      <a:lnTo>
                        <a:pt x="23549" y="1485"/>
                      </a:lnTo>
                      <a:cubicBezTo>
                        <a:pt x="23561" y="1531"/>
                        <a:pt x="23670" y="1565"/>
                        <a:pt x="23791" y="1565"/>
                      </a:cubicBezTo>
                      <a:close/>
                      <a:moveTo>
                        <a:pt x="21638" y="1565"/>
                      </a:moveTo>
                      <a:lnTo>
                        <a:pt x="22692" y="1565"/>
                      </a:lnTo>
                      <a:cubicBezTo>
                        <a:pt x="22812" y="1565"/>
                        <a:pt x="22905" y="1531"/>
                        <a:pt x="22899" y="1485"/>
                      </a:cubicBezTo>
                      <a:lnTo>
                        <a:pt x="22824" y="1116"/>
                      </a:lnTo>
                      <a:cubicBezTo>
                        <a:pt x="22818" y="1076"/>
                        <a:pt x="22709" y="1042"/>
                        <a:pt x="22588" y="1042"/>
                      </a:cubicBezTo>
                      <a:lnTo>
                        <a:pt x="21558" y="1042"/>
                      </a:lnTo>
                      <a:cubicBezTo>
                        <a:pt x="21437" y="1042"/>
                        <a:pt x="21345" y="1076"/>
                        <a:pt x="21351" y="1116"/>
                      </a:cubicBezTo>
                      <a:lnTo>
                        <a:pt x="21408" y="1485"/>
                      </a:lnTo>
                      <a:cubicBezTo>
                        <a:pt x="21408" y="1531"/>
                        <a:pt x="21518" y="1565"/>
                        <a:pt x="21638" y="1565"/>
                      </a:cubicBezTo>
                      <a:close/>
                      <a:moveTo>
                        <a:pt x="19486" y="1565"/>
                      </a:moveTo>
                      <a:lnTo>
                        <a:pt x="20539" y="1565"/>
                      </a:lnTo>
                      <a:cubicBezTo>
                        <a:pt x="20660" y="1565"/>
                        <a:pt x="20764" y="1531"/>
                        <a:pt x="20752" y="1485"/>
                      </a:cubicBezTo>
                      <a:lnTo>
                        <a:pt x="20706" y="1116"/>
                      </a:lnTo>
                      <a:cubicBezTo>
                        <a:pt x="20695" y="1076"/>
                        <a:pt x="20597" y="1042"/>
                        <a:pt x="20476" y="1042"/>
                      </a:cubicBezTo>
                      <a:lnTo>
                        <a:pt x="19446" y="1042"/>
                      </a:lnTo>
                      <a:cubicBezTo>
                        <a:pt x="19325" y="1042"/>
                        <a:pt x="19221" y="1076"/>
                        <a:pt x="19227" y="1116"/>
                      </a:cubicBezTo>
                      <a:lnTo>
                        <a:pt x="19268" y="1485"/>
                      </a:lnTo>
                      <a:cubicBezTo>
                        <a:pt x="19256" y="1531"/>
                        <a:pt x="19360" y="1565"/>
                        <a:pt x="19486" y="1565"/>
                      </a:cubicBezTo>
                      <a:close/>
                      <a:moveTo>
                        <a:pt x="17328" y="1565"/>
                      </a:moveTo>
                      <a:lnTo>
                        <a:pt x="18381" y="1565"/>
                      </a:lnTo>
                      <a:cubicBezTo>
                        <a:pt x="18502" y="1565"/>
                        <a:pt x="18606" y="1531"/>
                        <a:pt x="18606" y="1485"/>
                      </a:cubicBezTo>
                      <a:lnTo>
                        <a:pt x="18571" y="1116"/>
                      </a:lnTo>
                      <a:cubicBezTo>
                        <a:pt x="18571" y="1076"/>
                        <a:pt x="18468" y="1042"/>
                        <a:pt x="18341" y="1042"/>
                      </a:cubicBezTo>
                      <a:lnTo>
                        <a:pt x="17317" y="1042"/>
                      </a:lnTo>
                      <a:cubicBezTo>
                        <a:pt x="17190" y="1042"/>
                        <a:pt x="17092" y="1076"/>
                        <a:pt x="17092" y="1116"/>
                      </a:cubicBezTo>
                      <a:lnTo>
                        <a:pt x="17098" y="1485"/>
                      </a:lnTo>
                      <a:cubicBezTo>
                        <a:pt x="17098" y="1531"/>
                        <a:pt x="17207" y="1565"/>
                        <a:pt x="17328" y="1565"/>
                      </a:cubicBezTo>
                      <a:close/>
                      <a:moveTo>
                        <a:pt x="15176" y="1565"/>
                      </a:moveTo>
                      <a:lnTo>
                        <a:pt x="16229" y="1565"/>
                      </a:lnTo>
                      <a:cubicBezTo>
                        <a:pt x="16350" y="1565"/>
                        <a:pt x="16453" y="1531"/>
                        <a:pt x="16453" y="1485"/>
                      </a:cubicBezTo>
                      <a:lnTo>
                        <a:pt x="16453" y="1116"/>
                      </a:lnTo>
                      <a:cubicBezTo>
                        <a:pt x="16453" y="1076"/>
                        <a:pt x="16350" y="1042"/>
                        <a:pt x="16229" y="1042"/>
                      </a:cubicBezTo>
                      <a:lnTo>
                        <a:pt x="15199" y="1042"/>
                      </a:lnTo>
                      <a:cubicBezTo>
                        <a:pt x="15078" y="1042"/>
                        <a:pt x="14974" y="1076"/>
                        <a:pt x="14974" y="1116"/>
                      </a:cubicBezTo>
                      <a:lnTo>
                        <a:pt x="14963" y="1485"/>
                      </a:lnTo>
                      <a:cubicBezTo>
                        <a:pt x="14951" y="1531"/>
                        <a:pt x="15049" y="1565"/>
                        <a:pt x="15176" y="1565"/>
                      </a:cubicBezTo>
                      <a:close/>
                      <a:moveTo>
                        <a:pt x="13018" y="1565"/>
                      </a:moveTo>
                      <a:lnTo>
                        <a:pt x="14071" y="1565"/>
                      </a:lnTo>
                      <a:cubicBezTo>
                        <a:pt x="14192" y="1565"/>
                        <a:pt x="14301" y="1531"/>
                        <a:pt x="14301" y="1485"/>
                      </a:cubicBezTo>
                      <a:lnTo>
                        <a:pt x="14324" y="1116"/>
                      </a:lnTo>
                      <a:cubicBezTo>
                        <a:pt x="14324" y="1076"/>
                        <a:pt x="14226" y="1042"/>
                        <a:pt x="14105" y="1042"/>
                      </a:cubicBezTo>
                      <a:lnTo>
                        <a:pt x="13075" y="1042"/>
                      </a:lnTo>
                      <a:cubicBezTo>
                        <a:pt x="12954" y="1042"/>
                        <a:pt x="12857" y="1076"/>
                        <a:pt x="12845" y="1116"/>
                      </a:cubicBezTo>
                      <a:lnTo>
                        <a:pt x="12811" y="1485"/>
                      </a:lnTo>
                      <a:cubicBezTo>
                        <a:pt x="12799" y="1531"/>
                        <a:pt x="12897" y="1565"/>
                        <a:pt x="13018" y="1565"/>
                      </a:cubicBezTo>
                      <a:close/>
                      <a:moveTo>
                        <a:pt x="10871" y="1565"/>
                      </a:moveTo>
                      <a:lnTo>
                        <a:pt x="11919" y="1565"/>
                      </a:lnTo>
                      <a:cubicBezTo>
                        <a:pt x="12045" y="1565"/>
                        <a:pt x="12149" y="1531"/>
                        <a:pt x="12160" y="1485"/>
                      </a:cubicBezTo>
                      <a:lnTo>
                        <a:pt x="12201" y="1116"/>
                      </a:lnTo>
                      <a:cubicBezTo>
                        <a:pt x="12206" y="1076"/>
                        <a:pt x="12109" y="1042"/>
                        <a:pt x="11988" y="1042"/>
                      </a:cubicBezTo>
                      <a:lnTo>
                        <a:pt x="10958" y="1042"/>
                      </a:lnTo>
                      <a:cubicBezTo>
                        <a:pt x="10837" y="1042"/>
                        <a:pt x="10727" y="1076"/>
                        <a:pt x="10716" y="1116"/>
                      </a:cubicBezTo>
                      <a:lnTo>
                        <a:pt x="10653" y="1485"/>
                      </a:lnTo>
                      <a:cubicBezTo>
                        <a:pt x="10647" y="1531"/>
                        <a:pt x="10739" y="1565"/>
                        <a:pt x="10871" y="1565"/>
                      </a:cubicBezTo>
                      <a:close/>
                      <a:moveTo>
                        <a:pt x="8713" y="1565"/>
                      </a:moveTo>
                      <a:lnTo>
                        <a:pt x="9761" y="1565"/>
                      </a:lnTo>
                      <a:cubicBezTo>
                        <a:pt x="9887" y="1565"/>
                        <a:pt x="9991" y="1531"/>
                        <a:pt x="10008" y="1485"/>
                      </a:cubicBezTo>
                      <a:lnTo>
                        <a:pt x="10077" y="1116"/>
                      </a:lnTo>
                      <a:cubicBezTo>
                        <a:pt x="10089" y="1076"/>
                        <a:pt x="9991" y="1042"/>
                        <a:pt x="9870" y="1042"/>
                      </a:cubicBezTo>
                      <a:lnTo>
                        <a:pt x="8834" y="1042"/>
                      </a:lnTo>
                      <a:cubicBezTo>
                        <a:pt x="8713" y="1042"/>
                        <a:pt x="8604" y="1076"/>
                        <a:pt x="8592" y="1116"/>
                      </a:cubicBezTo>
                      <a:lnTo>
                        <a:pt x="8506" y="1485"/>
                      </a:lnTo>
                      <a:cubicBezTo>
                        <a:pt x="8494" y="1531"/>
                        <a:pt x="8592" y="1565"/>
                        <a:pt x="8713" y="1565"/>
                      </a:cubicBezTo>
                      <a:close/>
                      <a:moveTo>
                        <a:pt x="6561" y="1565"/>
                      </a:moveTo>
                      <a:lnTo>
                        <a:pt x="7614" y="1565"/>
                      </a:lnTo>
                      <a:cubicBezTo>
                        <a:pt x="7735" y="1565"/>
                        <a:pt x="7850" y="1531"/>
                        <a:pt x="7856" y="1485"/>
                      </a:cubicBezTo>
                      <a:lnTo>
                        <a:pt x="7948" y="1116"/>
                      </a:lnTo>
                      <a:cubicBezTo>
                        <a:pt x="7965" y="1076"/>
                        <a:pt x="7873" y="1042"/>
                        <a:pt x="7746" y="1042"/>
                      </a:cubicBezTo>
                      <a:lnTo>
                        <a:pt x="6722" y="1042"/>
                      </a:lnTo>
                      <a:cubicBezTo>
                        <a:pt x="6595" y="1042"/>
                        <a:pt x="6492" y="1076"/>
                        <a:pt x="6475" y="1116"/>
                      </a:cubicBezTo>
                      <a:lnTo>
                        <a:pt x="6365" y="1485"/>
                      </a:lnTo>
                      <a:cubicBezTo>
                        <a:pt x="6348" y="1531"/>
                        <a:pt x="6434" y="1565"/>
                        <a:pt x="6561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31"/>
                        <a:pt x="5703" y="1485"/>
                      </a:cubicBezTo>
                      <a:lnTo>
                        <a:pt x="5818" y="1116"/>
                      </a:lnTo>
                      <a:cubicBezTo>
                        <a:pt x="5836" y="1076"/>
                        <a:pt x="5749" y="1042"/>
                        <a:pt x="5617" y="1042"/>
                      </a:cubicBezTo>
                      <a:lnTo>
                        <a:pt x="4593" y="1042"/>
                      </a:lnTo>
                      <a:cubicBezTo>
                        <a:pt x="4466" y="1042"/>
                        <a:pt x="4351" y="1076"/>
                        <a:pt x="4339" y="1116"/>
                      </a:cubicBezTo>
                      <a:lnTo>
                        <a:pt x="4207" y="1485"/>
                      </a:lnTo>
                      <a:cubicBezTo>
                        <a:pt x="4196" y="1531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9" y="1565"/>
                        <a:pt x="3534" y="1531"/>
                        <a:pt x="3557" y="1485"/>
                      </a:cubicBezTo>
                      <a:lnTo>
                        <a:pt x="3689" y="1116"/>
                      </a:lnTo>
                      <a:cubicBezTo>
                        <a:pt x="3706" y="1076"/>
                        <a:pt x="3620" y="1042"/>
                        <a:pt x="3499" y="1042"/>
                      </a:cubicBezTo>
                      <a:lnTo>
                        <a:pt x="1439" y="1042"/>
                      </a:lnTo>
                      <a:cubicBezTo>
                        <a:pt x="1318" y="1042"/>
                        <a:pt x="1203" y="1076"/>
                        <a:pt x="1180" y="1116"/>
                      </a:cubicBezTo>
                      <a:lnTo>
                        <a:pt x="1013" y="1485"/>
                      </a:lnTo>
                      <a:cubicBezTo>
                        <a:pt x="1002" y="1531"/>
                        <a:pt x="1088" y="1565"/>
                        <a:pt x="1209" y="1565"/>
                      </a:cubicBezTo>
                      <a:close/>
                      <a:moveTo>
                        <a:pt x="26732" y="2273"/>
                      </a:moveTo>
                      <a:lnTo>
                        <a:pt x="27802" y="2273"/>
                      </a:lnTo>
                      <a:cubicBezTo>
                        <a:pt x="27934" y="2273"/>
                        <a:pt x="28021" y="2233"/>
                        <a:pt x="28003" y="2187"/>
                      </a:cubicBezTo>
                      <a:lnTo>
                        <a:pt x="27877" y="1801"/>
                      </a:lnTo>
                      <a:cubicBezTo>
                        <a:pt x="27859" y="1761"/>
                        <a:pt x="27744" y="1727"/>
                        <a:pt x="27618" y="1727"/>
                      </a:cubicBezTo>
                      <a:lnTo>
                        <a:pt x="26565" y="1727"/>
                      </a:lnTo>
                      <a:cubicBezTo>
                        <a:pt x="26444" y="1727"/>
                        <a:pt x="26352" y="1761"/>
                        <a:pt x="26363" y="1801"/>
                      </a:cubicBezTo>
                      <a:lnTo>
                        <a:pt x="26478" y="2187"/>
                      </a:lnTo>
                      <a:cubicBezTo>
                        <a:pt x="26490" y="2227"/>
                        <a:pt x="26605" y="2273"/>
                        <a:pt x="26732" y="2273"/>
                      </a:cubicBezTo>
                      <a:close/>
                      <a:moveTo>
                        <a:pt x="24533" y="2273"/>
                      </a:moveTo>
                      <a:lnTo>
                        <a:pt x="25604" y="2273"/>
                      </a:lnTo>
                      <a:cubicBezTo>
                        <a:pt x="25730" y="2273"/>
                        <a:pt x="25828" y="2233"/>
                        <a:pt x="25811" y="2187"/>
                      </a:cubicBezTo>
                      <a:lnTo>
                        <a:pt x="25701" y="1801"/>
                      </a:lnTo>
                      <a:cubicBezTo>
                        <a:pt x="25690" y="1761"/>
                        <a:pt x="25581" y="1727"/>
                        <a:pt x="25454" y="1727"/>
                      </a:cubicBezTo>
                      <a:lnTo>
                        <a:pt x="24401" y="1727"/>
                      </a:lnTo>
                      <a:cubicBezTo>
                        <a:pt x="24280" y="1727"/>
                        <a:pt x="24188" y="1761"/>
                        <a:pt x="24194" y="1801"/>
                      </a:cubicBezTo>
                      <a:lnTo>
                        <a:pt x="24280" y="2187"/>
                      </a:lnTo>
                      <a:cubicBezTo>
                        <a:pt x="24286" y="2227"/>
                        <a:pt x="24401" y="2273"/>
                        <a:pt x="24533" y="2273"/>
                      </a:cubicBezTo>
                      <a:close/>
                      <a:moveTo>
                        <a:pt x="22329" y="2273"/>
                      </a:moveTo>
                      <a:lnTo>
                        <a:pt x="23399" y="2273"/>
                      </a:lnTo>
                      <a:cubicBezTo>
                        <a:pt x="23532" y="2273"/>
                        <a:pt x="23624" y="2233"/>
                        <a:pt x="23618" y="2187"/>
                      </a:cubicBezTo>
                      <a:lnTo>
                        <a:pt x="23538" y="1801"/>
                      </a:lnTo>
                      <a:cubicBezTo>
                        <a:pt x="23532" y="1761"/>
                        <a:pt x="23417" y="1727"/>
                        <a:pt x="23296" y="1727"/>
                      </a:cubicBezTo>
                      <a:lnTo>
                        <a:pt x="22243" y="1727"/>
                      </a:lnTo>
                      <a:cubicBezTo>
                        <a:pt x="22122" y="1727"/>
                        <a:pt x="22018" y="1761"/>
                        <a:pt x="22030" y="1801"/>
                      </a:cubicBezTo>
                      <a:lnTo>
                        <a:pt x="22093" y="2187"/>
                      </a:lnTo>
                      <a:cubicBezTo>
                        <a:pt x="22093" y="2227"/>
                        <a:pt x="22202" y="2273"/>
                        <a:pt x="22329" y="2273"/>
                      </a:cubicBezTo>
                      <a:close/>
                      <a:moveTo>
                        <a:pt x="20131" y="2273"/>
                      </a:moveTo>
                      <a:lnTo>
                        <a:pt x="21201" y="2273"/>
                      </a:lnTo>
                      <a:cubicBezTo>
                        <a:pt x="21328" y="2273"/>
                        <a:pt x="21426" y="2233"/>
                        <a:pt x="21414" y="2187"/>
                      </a:cubicBezTo>
                      <a:lnTo>
                        <a:pt x="21357" y="1801"/>
                      </a:lnTo>
                      <a:cubicBezTo>
                        <a:pt x="21351" y="1761"/>
                        <a:pt x="21241" y="1727"/>
                        <a:pt x="21121" y="1727"/>
                      </a:cubicBezTo>
                      <a:lnTo>
                        <a:pt x="20073" y="1727"/>
                      </a:lnTo>
                      <a:cubicBezTo>
                        <a:pt x="19947" y="1727"/>
                        <a:pt x="19849" y="1761"/>
                        <a:pt x="19855" y="1801"/>
                      </a:cubicBezTo>
                      <a:lnTo>
                        <a:pt x="19901" y="2187"/>
                      </a:lnTo>
                      <a:cubicBezTo>
                        <a:pt x="19889" y="2227"/>
                        <a:pt x="19998" y="2273"/>
                        <a:pt x="20131" y="2273"/>
                      </a:cubicBezTo>
                      <a:close/>
                      <a:moveTo>
                        <a:pt x="17927" y="2273"/>
                      </a:moveTo>
                      <a:lnTo>
                        <a:pt x="18997" y="2273"/>
                      </a:lnTo>
                      <a:cubicBezTo>
                        <a:pt x="19129" y="2273"/>
                        <a:pt x="19227" y="2233"/>
                        <a:pt x="19221" y="2187"/>
                      </a:cubicBezTo>
                      <a:lnTo>
                        <a:pt x="19187" y="1801"/>
                      </a:lnTo>
                      <a:cubicBezTo>
                        <a:pt x="19181" y="1761"/>
                        <a:pt x="19078" y="1727"/>
                        <a:pt x="18951" y="1727"/>
                      </a:cubicBezTo>
                      <a:lnTo>
                        <a:pt x="17898" y="1727"/>
                      </a:lnTo>
                      <a:cubicBezTo>
                        <a:pt x="17777" y="1727"/>
                        <a:pt x="17673" y="1761"/>
                        <a:pt x="17673" y="1801"/>
                      </a:cubicBezTo>
                      <a:lnTo>
                        <a:pt x="17691" y="2187"/>
                      </a:lnTo>
                      <a:cubicBezTo>
                        <a:pt x="17691" y="2227"/>
                        <a:pt x="17800" y="2273"/>
                        <a:pt x="17927" y="2273"/>
                      </a:cubicBezTo>
                      <a:close/>
                      <a:moveTo>
                        <a:pt x="15717" y="2273"/>
                      </a:moveTo>
                      <a:lnTo>
                        <a:pt x="16793" y="2273"/>
                      </a:lnTo>
                      <a:cubicBezTo>
                        <a:pt x="16920" y="2273"/>
                        <a:pt x="17017" y="2233"/>
                        <a:pt x="17017" y="2187"/>
                      </a:cubicBezTo>
                      <a:lnTo>
                        <a:pt x="17012" y="1801"/>
                      </a:lnTo>
                      <a:cubicBezTo>
                        <a:pt x="17012" y="1761"/>
                        <a:pt x="16914" y="1727"/>
                        <a:pt x="16781" y="1727"/>
                      </a:cubicBezTo>
                      <a:lnTo>
                        <a:pt x="15734" y="1727"/>
                      </a:lnTo>
                      <a:cubicBezTo>
                        <a:pt x="15613" y="1727"/>
                        <a:pt x="15504" y="1761"/>
                        <a:pt x="15504" y="1801"/>
                      </a:cubicBezTo>
                      <a:lnTo>
                        <a:pt x="15498" y="2187"/>
                      </a:lnTo>
                      <a:cubicBezTo>
                        <a:pt x="15487" y="2227"/>
                        <a:pt x="15596" y="2273"/>
                        <a:pt x="15717" y="2273"/>
                      </a:cubicBezTo>
                      <a:close/>
                      <a:moveTo>
                        <a:pt x="13518" y="2273"/>
                      </a:moveTo>
                      <a:lnTo>
                        <a:pt x="14589" y="2273"/>
                      </a:lnTo>
                      <a:cubicBezTo>
                        <a:pt x="14721" y="2273"/>
                        <a:pt x="14819" y="2233"/>
                        <a:pt x="14825" y="2187"/>
                      </a:cubicBezTo>
                      <a:lnTo>
                        <a:pt x="14842" y="1801"/>
                      </a:lnTo>
                      <a:cubicBezTo>
                        <a:pt x="14842" y="1761"/>
                        <a:pt x="14738" y="1727"/>
                        <a:pt x="14618" y="1727"/>
                      </a:cubicBezTo>
                      <a:lnTo>
                        <a:pt x="13570" y="1727"/>
                      </a:lnTo>
                      <a:cubicBezTo>
                        <a:pt x="13444" y="1727"/>
                        <a:pt x="13340" y="1761"/>
                        <a:pt x="13329" y="1801"/>
                      </a:cubicBezTo>
                      <a:lnTo>
                        <a:pt x="13294" y="2187"/>
                      </a:lnTo>
                      <a:cubicBezTo>
                        <a:pt x="13294" y="2227"/>
                        <a:pt x="13398" y="2273"/>
                        <a:pt x="13518" y="2273"/>
                      </a:cubicBezTo>
                      <a:close/>
                      <a:moveTo>
                        <a:pt x="11314" y="2273"/>
                      </a:moveTo>
                      <a:lnTo>
                        <a:pt x="12390" y="2273"/>
                      </a:lnTo>
                      <a:cubicBezTo>
                        <a:pt x="12517" y="2273"/>
                        <a:pt x="12626" y="2233"/>
                        <a:pt x="12626" y="2187"/>
                      </a:cubicBezTo>
                      <a:lnTo>
                        <a:pt x="12667" y="1801"/>
                      </a:lnTo>
                      <a:cubicBezTo>
                        <a:pt x="12678" y="1761"/>
                        <a:pt x="12575" y="1727"/>
                        <a:pt x="12454" y="1727"/>
                      </a:cubicBezTo>
                      <a:lnTo>
                        <a:pt x="11401" y="1727"/>
                      </a:lnTo>
                      <a:cubicBezTo>
                        <a:pt x="11280" y="1727"/>
                        <a:pt x="11170" y="1761"/>
                        <a:pt x="11165" y="1801"/>
                      </a:cubicBezTo>
                      <a:lnTo>
                        <a:pt x="11107" y="2187"/>
                      </a:lnTo>
                      <a:cubicBezTo>
                        <a:pt x="11096" y="2227"/>
                        <a:pt x="11193" y="2273"/>
                        <a:pt x="11314" y="2273"/>
                      </a:cubicBezTo>
                      <a:close/>
                      <a:moveTo>
                        <a:pt x="9116" y="2273"/>
                      </a:moveTo>
                      <a:lnTo>
                        <a:pt x="10186" y="2273"/>
                      </a:lnTo>
                      <a:cubicBezTo>
                        <a:pt x="10319" y="2273"/>
                        <a:pt x="10422" y="2233"/>
                        <a:pt x="10434" y="2187"/>
                      </a:cubicBezTo>
                      <a:lnTo>
                        <a:pt x="10497" y="1801"/>
                      </a:lnTo>
                      <a:cubicBezTo>
                        <a:pt x="10503" y="1761"/>
                        <a:pt x="10411" y="1727"/>
                        <a:pt x="10278" y="1727"/>
                      </a:cubicBezTo>
                      <a:lnTo>
                        <a:pt x="9231" y="1727"/>
                      </a:lnTo>
                      <a:cubicBezTo>
                        <a:pt x="9110" y="1727"/>
                        <a:pt x="8995" y="1761"/>
                        <a:pt x="8984" y="1801"/>
                      </a:cubicBezTo>
                      <a:lnTo>
                        <a:pt x="8909" y="2187"/>
                      </a:lnTo>
                      <a:cubicBezTo>
                        <a:pt x="8892" y="2227"/>
                        <a:pt x="8989" y="2273"/>
                        <a:pt x="9116" y="2273"/>
                      </a:cubicBezTo>
                      <a:close/>
                      <a:moveTo>
                        <a:pt x="6912" y="2273"/>
                      </a:moveTo>
                      <a:lnTo>
                        <a:pt x="7988" y="2273"/>
                      </a:lnTo>
                      <a:cubicBezTo>
                        <a:pt x="8115" y="2273"/>
                        <a:pt x="8224" y="2233"/>
                        <a:pt x="8236" y="2187"/>
                      </a:cubicBezTo>
                      <a:lnTo>
                        <a:pt x="8322" y="1801"/>
                      </a:lnTo>
                      <a:cubicBezTo>
                        <a:pt x="8333" y="1761"/>
                        <a:pt x="8247" y="1727"/>
                        <a:pt x="8115" y="1727"/>
                      </a:cubicBezTo>
                      <a:lnTo>
                        <a:pt x="7067" y="1727"/>
                      </a:lnTo>
                      <a:cubicBezTo>
                        <a:pt x="6941" y="1727"/>
                        <a:pt x="6826" y="1761"/>
                        <a:pt x="6814" y="1801"/>
                      </a:cubicBezTo>
                      <a:lnTo>
                        <a:pt x="6705" y="2187"/>
                      </a:lnTo>
                      <a:cubicBezTo>
                        <a:pt x="6699" y="2227"/>
                        <a:pt x="6791" y="2273"/>
                        <a:pt x="6912" y="2273"/>
                      </a:cubicBezTo>
                      <a:close/>
                      <a:moveTo>
                        <a:pt x="4714" y="2273"/>
                      </a:moveTo>
                      <a:lnTo>
                        <a:pt x="5784" y="2273"/>
                      </a:lnTo>
                      <a:cubicBezTo>
                        <a:pt x="5916" y="2273"/>
                        <a:pt x="6031" y="2233"/>
                        <a:pt x="6043" y="2187"/>
                      </a:cubicBezTo>
                      <a:lnTo>
                        <a:pt x="6158" y="1801"/>
                      </a:lnTo>
                      <a:cubicBezTo>
                        <a:pt x="6170" y="1761"/>
                        <a:pt x="6077" y="1727"/>
                        <a:pt x="5957" y="1727"/>
                      </a:cubicBezTo>
                      <a:lnTo>
                        <a:pt x="4903" y="1727"/>
                      </a:lnTo>
                      <a:cubicBezTo>
                        <a:pt x="4783" y="1727"/>
                        <a:pt x="4668" y="1761"/>
                        <a:pt x="4645" y="1801"/>
                      </a:cubicBezTo>
                      <a:lnTo>
                        <a:pt x="4518" y="2187"/>
                      </a:lnTo>
                      <a:cubicBezTo>
                        <a:pt x="4495" y="2227"/>
                        <a:pt x="4593" y="2273"/>
                        <a:pt x="4714" y="2273"/>
                      </a:cubicBezTo>
                      <a:close/>
                      <a:moveTo>
                        <a:pt x="892" y="2273"/>
                      </a:moveTo>
                      <a:lnTo>
                        <a:pt x="3586" y="2273"/>
                      </a:lnTo>
                      <a:cubicBezTo>
                        <a:pt x="3712" y="2273"/>
                        <a:pt x="3827" y="2233"/>
                        <a:pt x="3845" y="2187"/>
                      </a:cubicBezTo>
                      <a:lnTo>
                        <a:pt x="3977" y="1801"/>
                      </a:lnTo>
                      <a:cubicBezTo>
                        <a:pt x="3994" y="1761"/>
                        <a:pt x="3908" y="1727"/>
                        <a:pt x="3776" y="1727"/>
                      </a:cubicBezTo>
                      <a:lnTo>
                        <a:pt x="1140" y="1727"/>
                      </a:lnTo>
                      <a:cubicBezTo>
                        <a:pt x="1013" y="1727"/>
                        <a:pt x="892" y="1761"/>
                        <a:pt x="869" y="1801"/>
                      </a:cubicBezTo>
                      <a:lnTo>
                        <a:pt x="697" y="2187"/>
                      </a:lnTo>
                      <a:cubicBezTo>
                        <a:pt x="685" y="2227"/>
                        <a:pt x="772" y="2273"/>
                        <a:pt x="892" y="2273"/>
                      </a:cubicBezTo>
                      <a:close/>
                      <a:moveTo>
                        <a:pt x="28936" y="2273"/>
                      </a:moveTo>
                      <a:lnTo>
                        <a:pt x="31623" y="2273"/>
                      </a:lnTo>
                      <a:cubicBezTo>
                        <a:pt x="31755" y="2273"/>
                        <a:pt x="31842" y="2233"/>
                        <a:pt x="31819" y="2187"/>
                      </a:cubicBezTo>
                      <a:lnTo>
                        <a:pt x="31646" y="1801"/>
                      </a:lnTo>
                      <a:cubicBezTo>
                        <a:pt x="31623" y="1761"/>
                        <a:pt x="31508" y="1727"/>
                        <a:pt x="31381" y="1727"/>
                      </a:cubicBezTo>
                      <a:lnTo>
                        <a:pt x="28734" y="1727"/>
                      </a:lnTo>
                      <a:cubicBezTo>
                        <a:pt x="28608" y="1727"/>
                        <a:pt x="28516" y="1761"/>
                        <a:pt x="28533" y="1801"/>
                      </a:cubicBezTo>
                      <a:lnTo>
                        <a:pt x="28665" y="2187"/>
                      </a:lnTo>
                      <a:cubicBezTo>
                        <a:pt x="28688" y="2227"/>
                        <a:pt x="28803" y="2273"/>
                        <a:pt x="28936" y="2273"/>
                      </a:cubicBezTo>
                      <a:close/>
                      <a:moveTo>
                        <a:pt x="25840" y="2998"/>
                      </a:moveTo>
                      <a:lnTo>
                        <a:pt x="26933" y="2998"/>
                      </a:lnTo>
                      <a:cubicBezTo>
                        <a:pt x="27065" y="2998"/>
                        <a:pt x="27157" y="2964"/>
                        <a:pt x="27140" y="2912"/>
                      </a:cubicBezTo>
                      <a:lnTo>
                        <a:pt x="27019" y="2515"/>
                      </a:lnTo>
                      <a:cubicBezTo>
                        <a:pt x="27008" y="2463"/>
                        <a:pt x="26893" y="2429"/>
                        <a:pt x="26760" y="2429"/>
                      </a:cubicBezTo>
                      <a:lnTo>
                        <a:pt x="25690" y="2429"/>
                      </a:lnTo>
                      <a:cubicBezTo>
                        <a:pt x="25558" y="2429"/>
                        <a:pt x="25465" y="2463"/>
                        <a:pt x="25483" y="2515"/>
                      </a:cubicBezTo>
                      <a:lnTo>
                        <a:pt x="25586" y="2912"/>
                      </a:lnTo>
                      <a:cubicBezTo>
                        <a:pt x="25598" y="2964"/>
                        <a:pt x="25713" y="2998"/>
                        <a:pt x="25840" y="2998"/>
                      </a:cubicBezTo>
                      <a:close/>
                      <a:moveTo>
                        <a:pt x="23589" y="2998"/>
                      </a:moveTo>
                      <a:lnTo>
                        <a:pt x="24683" y="2998"/>
                      </a:lnTo>
                      <a:cubicBezTo>
                        <a:pt x="24809" y="2998"/>
                        <a:pt x="24901" y="2964"/>
                        <a:pt x="24896" y="2912"/>
                      </a:cubicBezTo>
                      <a:lnTo>
                        <a:pt x="24798" y="2515"/>
                      </a:lnTo>
                      <a:cubicBezTo>
                        <a:pt x="24781" y="2463"/>
                        <a:pt x="24677" y="2429"/>
                        <a:pt x="24545" y="2429"/>
                      </a:cubicBezTo>
                      <a:lnTo>
                        <a:pt x="23474" y="2429"/>
                      </a:lnTo>
                      <a:cubicBezTo>
                        <a:pt x="23342" y="2429"/>
                        <a:pt x="23250" y="2463"/>
                        <a:pt x="23256" y="2515"/>
                      </a:cubicBezTo>
                      <a:lnTo>
                        <a:pt x="23336" y="2912"/>
                      </a:lnTo>
                      <a:cubicBezTo>
                        <a:pt x="23342" y="2964"/>
                        <a:pt x="23457" y="2998"/>
                        <a:pt x="23589" y="2998"/>
                      </a:cubicBezTo>
                      <a:close/>
                      <a:moveTo>
                        <a:pt x="21339" y="2998"/>
                      </a:moveTo>
                      <a:lnTo>
                        <a:pt x="22433" y="2998"/>
                      </a:lnTo>
                      <a:cubicBezTo>
                        <a:pt x="22559" y="2998"/>
                        <a:pt x="22663" y="2964"/>
                        <a:pt x="22651" y="2912"/>
                      </a:cubicBezTo>
                      <a:lnTo>
                        <a:pt x="22582" y="2515"/>
                      </a:lnTo>
                      <a:cubicBezTo>
                        <a:pt x="22577" y="2463"/>
                        <a:pt x="22461" y="2429"/>
                        <a:pt x="22335" y="2429"/>
                      </a:cubicBezTo>
                      <a:lnTo>
                        <a:pt x="21264" y="2429"/>
                      </a:lnTo>
                      <a:cubicBezTo>
                        <a:pt x="21132" y="2429"/>
                        <a:pt x="21034" y="2463"/>
                        <a:pt x="21040" y="2515"/>
                      </a:cubicBezTo>
                      <a:lnTo>
                        <a:pt x="21098" y="2912"/>
                      </a:lnTo>
                      <a:cubicBezTo>
                        <a:pt x="21098" y="2964"/>
                        <a:pt x="21207" y="2998"/>
                        <a:pt x="21339" y="2998"/>
                      </a:cubicBezTo>
                      <a:close/>
                      <a:moveTo>
                        <a:pt x="19083" y="2998"/>
                      </a:moveTo>
                      <a:lnTo>
                        <a:pt x="20177" y="2998"/>
                      </a:lnTo>
                      <a:cubicBezTo>
                        <a:pt x="20309" y="2998"/>
                        <a:pt x="20407" y="2964"/>
                        <a:pt x="20401" y="2912"/>
                      </a:cubicBezTo>
                      <a:lnTo>
                        <a:pt x="20349" y="2515"/>
                      </a:lnTo>
                      <a:cubicBezTo>
                        <a:pt x="20344" y="2463"/>
                        <a:pt x="20234" y="2429"/>
                        <a:pt x="20108" y="2429"/>
                      </a:cubicBezTo>
                      <a:lnTo>
                        <a:pt x="19037" y="2429"/>
                      </a:lnTo>
                      <a:cubicBezTo>
                        <a:pt x="18905" y="2429"/>
                        <a:pt x="18807" y="2463"/>
                        <a:pt x="18813" y="2515"/>
                      </a:cubicBezTo>
                      <a:lnTo>
                        <a:pt x="18842" y="2912"/>
                      </a:lnTo>
                      <a:cubicBezTo>
                        <a:pt x="18847" y="2964"/>
                        <a:pt x="18957" y="2998"/>
                        <a:pt x="19083" y="2998"/>
                      </a:cubicBezTo>
                      <a:close/>
                      <a:moveTo>
                        <a:pt x="16833" y="2998"/>
                      </a:moveTo>
                      <a:lnTo>
                        <a:pt x="17927" y="2998"/>
                      </a:lnTo>
                      <a:cubicBezTo>
                        <a:pt x="18053" y="2998"/>
                        <a:pt x="18163" y="2964"/>
                        <a:pt x="18157" y="2912"/>
                      </a:cubicBezTo>
                      <a:lnTo>
                        <a:pt x="18134" y="2515"/>
                      </a:lnTo>
                      <a:cubicBezTo>
                        <a:pt x="18134" y="2463"/>
                        <a:pt x="18024" y="2429"/>
                        <a:pt x="17898" y="2429"/>
                      </a:cubicBezTo>
                      <a:lnTo>
                        <a:pt x="16827" y="2429"/>
                      </a:lnTo>
                      <a:cubicBezTo>
                        <a:pt x="16695" y="2429"/>
                        <a:pt x="16597" y="2463"/>
                        <a:pt x="16597" y="2515"/>
                      </a:cubicBezTo>
                      <a:lnTo>
                        <a:pt x="16603" y="2912"/>
                      </a:lnTo>
                      <a:cubicBezTo>
                        <a:pt x="16597" y="2964"/>
                        <a:pt x="16707" y="2998"/>
                        <a:pt x="16833" y="2998"/>
                      </a:cubicBezTo>
                      <a:close/>
                      <a:moveTo>
                        <a:pt x="14583" y="2998"/>
                      </a:moveTo>
                      <a:lnTo>
                        <a:pt x="15676" y="2998"/>
                      </a:lnTo>
                      <a:cubicBezTo>
                        <a:pt x="15803" y="2998"/>
                        <a:pt x="15912" y="2964"/>
                        <a:pt x="15912" y="2912"/>
                      </a:cubicBezTo>
                      <a:lnTo>
                        <a:pt x="15918" y="2515"/>
                      </a:lnTo>
                      <a:cubicBezTo>
                        <a:pt x="15918" y="2463"/>
                        <a:pt x="15820" y="2429"/>
                        <a:pt x="15688" y="2429"/>
                      </a:cubicBezTo>
                      <a:lnTo>
                        <a:pt x="14618" y="2429"/>
                      </a:lnTo>
                      <a:cubicBezTo>
                        <a:pt x="14491" y="2429"/>
                        <a:pt x="14382" y="2463"/>
                        <a:pt x="14382" y="2515"/>
                      </a:cubicBezTo>
                      <a:lnTo>
                        <a:pt x="14359" y="2912"/>
                      </a:lnTo>
                      <a:cubicBezTo>
                        <a:pt x="14353" y="2964"/>
                        <a:pt x="14451" y="2998"/>
                        <a:pt x="14583" y="2998"/>
                      </a:cubicBezTo>
                      <a:close/>
                      <a:moveTo>
                        <a:pt x="12339" y="2998"/>
                      </a:moveTo>
                      <a:lnTo>
                        <a:pt x="13432" y="2998"/>
                      </a:lnTo>
                      <a:cubicBezTo>
                        <a:pt x="13559" y="2998"/>
                        <a:pt x="13668" y="2964"/>
                        <a:pt x="13674" y="2912"/>
                      </a:cubicBezTo>
                      <a:lnTo>
                        <a:pt x="13703" y="2515"/>
                      </a:lnTo>
                      <a:cubicBezTo>
                        <a:pt x="13703" y="2463"/>
                        <a:pt x="13605" y="2429"/>
                        <a:pt x="13484" y="2429"/>
                      </a:cubicBezTo>
                      <a:lnTo>
                        <a:pt x="12408" y="2429"/>
                      </a:lnTo>
                      <a:cubicBezTo>
                        <a:pt x="12281" y="2429"/>
                        <a:pt x="12172" y="2463"/>
                        <a:pt x="12166" y="2515"/>
                      </a:cubicBezTo>
                      <a:lnTo>
                        <a:pt x="12114" y="2912"/>
                      </a:lnTo>
                      <a:cubicBezTo>
                        <a:pt x="12103" y="2964"/>
                        <a:pt x="12201" y="2998"/>
                        <a:pt x="12339" y="2998"/>
                      </a:cubicBezTo>
                      <a:close/>
                      <a:moveTo>
                        <a:pt x="10089" y="2998"/>
                      </a:moveTo>
                      <a:lnTo>
                        <a:pt x="11182" y="2998"/>
                      </a:lnTo>
                      <a:cubicBezTo>
                        <a:pt x="11309" y="2998"/>
                        <a:pt x="11424" y="2964"/>
                        <a:pt x="11429" y="2912"/>
                      </a:cubicBezTo>
                      <a:lnTo>
                        <a:pt x="11487" y="2515"/>
                      </a:lnTo>
                      <a:cubicBezTo>
                        <a:pt x="11498" y="2463"/>
                        <a:pt x="11395" y="2429"/>
                        <a:pt x="11268" y="2429"/>
                      </a:cubicBezTo>
                      <a:lnTo>
                        <a:pt x="10192" y="2429"/>
                      </a:lnTo>
                      <a:cubicBezTo>
                        <a:pt x="10066" y="2429"/>
                        <a:pt x="9956" y="2463"/>
                        <a:pt x="9950" y="2515"/>
                      </a:cubicBezTo>
                      <a:lnTo>
                        <a:pt x="9876" y="2912"/>
                      </a:lnTo>
                      <a:cubicBezTo>
                        <a:pt x="9853" y="2964"/>
                        <a:pt x="9956" y="2998"/>
                        <a:pt x="10089" y="2998"/>
                      </a:cubicBezTo>
                      <a:close/>
                      <a:moveTo>
                        <a:pt x="7833" y="2998"/>
                      </a:moveTo>
                      <a:lnTo>
                        <a:pt x="8926" y="2998"/>
                      </a:lnTo>
                      <a:cubicBezTo>
                        <a:pt x="9058" y="2998"/>
                        <a:pt x="9174" y="2964"/>
                        <a:pt x="9179" y="2912"/>
                      </a:cubicBezTo>
                      <a:lnTo>
                        <a:pt x="9260" y="2515"/>
                      </a:lnTo>
                      <a:cubicBezTo>
                        <a:pt x="9266" y="2463"/>
                        <a:pt x="9174" y="2429"/>
                        <a:pt x="9041" y="2429"/>
                      </a:cubicBezTo>
                      <a:lnTo>
                        <a:pt x="7971" y="2429"/>
                      </a:lnTo>
                      <a:cubicBezTo>
                        <a:pt x="7838" y="2429"/>
                        <a:pt x="7729" y="2463"/>
                        <a:pt x="7718" y="2515"/>
                      </a:cubicBezTo>
                      <a:lnTo>
                        <a:pt x="7620" y="2912"/>
                      </a:lnTo>
                      <a:cubicBezTo>
                        <a:pt x="7602" y="2964"/>
                        <a:pt x="7706" y="2998"/>
                        <a:pt x="7833" y="2998"/>
                      </a:cubicBezTo>
                      <a:close/>
                      <a:moveTo>
                        <a:pt x="5583" y="2998"/>
                      </a:moveTo>
                      <a:lnTo>
                        <a:pt x="6676" y="2998"/>
                      </a:lnTo>
                      <a:cubicBezTo>
                        <a:pt x="6808" y="2998"/>
                        <a:pt x="6923" y="2964"/>
                        <a:pt x="6935" y="2912"/>
                      </a:cubicBezTo>
                      <a:lnTo>
                        <a:pt x="7044" y="2515"/>
                      </a:lnTo>
                      <a:cubicBezTo>
                        <a:pt x="7056" y="2463"/>
                        <a:pt x="6964" y="2429"/>
                        <a:pt x="6831" y="2429"/>
                      </a:cubicBezTo>
                      <a:lnTo>
                        <a:pt x="5761" y="2429"/>
                      </a:lnTo>
                      <a:cubicBezTo>
                        <a:pt x="5634" y="2429"/>
                        <a:pt x="5519" y="2463"/>
                        <a:pt x="5502" y="2515"/>
                      </a:cubicBezTo>
                      <a:lnTo>
                        <a:pt x="5381" y="2912"/>
                      </a:lnTo>
                      <a:cubicBezTo>
                        <a:pt x="5358" y="2964"/>
                        <a:pt x="5456" y="2998"/>
                        <a:pt x="5583" y="2998"/>
                      </a:cubicBezTo>
                      <a:close/>
                      <a:moveTo>
                        <a:pt x="570" y="2998"/>
                      </a:moveTo>
                      <a:lnTo>
                        <a:pt x="4426" y="2998"/>
                      </a:lnTo>
                      <a:cubicBezTo>
                        <a:pt x="4552" y="2998"/>
                        <a:pt x="4673" y="2964"/>
                        <a:pt x="4691" y="2912"/>
                      </a:cubicBezTo>
                      <a:lnTo>
                        <a:pt x="4817" y="2515"/>
                      </a:lnTo>
                      <a:cubicBezTo>
                        <a:pt x="4834" y="2463"/>
                        <a:pt x="4742" y="2429"/>
                        <a:pt x="4616" y="2429"/>
                      </a:cubicBezTo>
                      <a:lnTo>
                        <a:pt x="829" y="2429"/>
                      </a:lnTo>
                      <a:cubicBezTo>
                        <a:pt x="697" y="2429"/>
                        <a:pt x="576" y="2463"/>
                        <a:pt x="553" y="2515"/>
                      </a:cubicBezTo>
                      <a:lnTo>
                        <a:pt x="374" y="2912"/>
                      </a:lnTo>
                      <a:cubicBezTo>
                        <a:pt x="346" y="2964"/>
                        <a:pt x="432" y="2998"/>
                        <a:pt x="570" y="2998"/>
                      </a:cubicBezTo>
                      <a:close/>
                      <a:moveTo>
                        <a:pt x="28090" y="2998"/>
                      </a:moveTo>
                      <a:lnTo>
                        <a:pt x="31945" y="2998"/>
                      </a:lnTo>
                      <a:cubicBezTo>
                        <a:pt x="32078" y="2998"/>
                        <a:pt x="32164" y="2964"/>
                        <a:pt x="32141" y="2912"/>
                      </a:cubicBezTo>
                      <a:lnTo>
                        <a:pt x="31963" y="2515"/>
                      </a:lnTo>
                      <a:cubicBezTo>
                        <a:pt x="31940" y="2463"/>
                        <a:pt x="31819" y="2429"/>
                        <a:pt x="31686" y="2429"/>
                      </a:cubicBezTo>
                      <a:lnTo>
                        <a:pt x="27900" y="2429"/>
                      </a:lnTo>
                      <a:cubicBezTo>
                        <a:pt x="27767" y="2429"/>
                        <a:pt x="27675" y="2463"/>
                        <a:pt x="27698" y="2515"/>
                      </a:cubicBezTo>
                      <a:lnTo>
                        <a:pt x="27825" y="2912"/>
                      </a:lnTo>
                      <a:cubicBezTo>
                        <a:pt x="27842" y="2964"/>
                        <a:pt x="27963" y="2998"/>
                        <a:pt x="28090" y="2998"/>
                      </a:cubicBezTo>
                      <a:close/>
                      <a:moveTo>
                        <a:pt x="26576" y="3769"/>
                      </a:moveTo>
                      <a:lnTo>
                        <a:pt x="27744" y="3769"/>
                      </a:lnTo>
                      <a:cubicBezTo>
                        <a:pt x="27882" y="3769"/>
                        <a:pt x="27975" y="3723"/>
                        <a:pt x="27957" y="3672"/>
                      </a:cubicBezTo>
                      <a:lnTo>
                        <a:pt x="27917" y="3551"/>
                      </a:lnTo>
                      <a:cubicBezTo>
                        <a:pt x="27905" y="3499"/>
                        <a:pt x="27785" y="3459"/>
                        <a:pt x="27652" y="3459"/>
                      </a:cubicBezTo>
                      <a:lnTo>
                        <a:pt x="26496" y="3459"/>
                      </a:lnTo>
                      <a:cubicBezTo>
                        <a:pt x="26363" y="3459"/>
                        <a:pt x="26265" y="3499"/>
                        <a:pt x="26277" y="3551"/>
                      </a:cubicBezTo>
                      <a:lnTo>
                        <a:pt x="26317" y="3672"/>
                      </a:lnTo>
                      <a:cubicBezTo>
                        <a:pt x="26323" y="3723"/>
                        <a:pt x="26444" y="3769"/>
                        <a:pt x="26576" y="3769"/>
                      </a:cubicBezTo>
                      <a:close/>
                      <a:moveTo>
                        <a:pt x="28849" y="3769"/>
                      </a:moveTo>
                      <a:lnTo>
                        <a:pt x="30018" y="3769"/>
                      </a:lnTo>
                      <a:cubicBezTo>
                        <a:pt x="30156" y="3769"/>
                        <a:pt x="30242" y="3723"/>
                        <a:pt x="30230" y="3672"/>
                      </a:cubicBezTo>
                      <a:lnTo>
                        <a:pt x="30064" y="3257"/>
                      </a:lnTo>
                      <a:cubicBezTo>
                        <a:pt x="30041" y="3205"/>
                        <a:pt x="29920" y="3171"/>
                        <a:pt x="29787" y="3171"/>
                      </a:cubicBezTo>
                      <a:lnTo>
                        <a:pt x="28636" y="3171"/>
                      </a:lnTo>
                      <a:cubicBezTo>
                        <a:pt x="28510" y="3171"/>
                        <a:pt x="28418" y="3211"/>
                        <a:pt x="28429" y="3257"/>
                      </a:cubicBezTo>
                      <a:lnTo>
                        <a:pt x="28573" y="3672"/>
                      </a:lnTo>
                      <a:cubicBezTo>
                        <a:pt x="28596" y="3723"/>
                        <a:pt x="28717" y="3769"/>
                        <a:pt x="28849" y="3769"/>
                      </a:cubicBezTo>
                      <a:close/>
                      <a:moveTo>
                        <a:pt x="31122" y="3769"/>
                      </a:moveTo>
                      <a:lnTo>
                        <a:pt x="32291" y="3769"/>
                      </a:lnTo>
                      <a:cubicBezTo>
                        <a:pt x="32429" y="3769"/>
                        <a:pt x="32515" y="3723"/>
                        <a:pt x="32492" y="3672"/>
                      </a:cubicBezTo>
                      <a:lnTo>
                        <a:pt x="32435" y="3551"/>
                      </a:lnTo>
                      <a:cubicBezTo>
                        <a:pt x="32417" y="3499"/>
                        <a:pt x="32285" y="3459"/>
                        <a:pt x="32158" y="3459"/>
                      </a:cubicBezTo>
                      <a:lnTo>
                        <a:pt x="30996" y="3459"/>
                      </a:lnTo>
                      <a:cubicBezTo>
                        <a:pt x="30869" y="3459"/>
                        <a:pt x="30777" y="3499"/>
                        <a:pt x="30794" y="3551"/>
                      </a:cubicBezTo>
                      <a:lnTo>
                        <a:pt x="30846" y="3672"/>
                      </a:lnTo>
                      <a:cubicBezTo>
                        <a:pt x="30863" y="3723"/>
                        <a:pt x="30990" y="3769"/>
                        <a:pt x="31122" y="3769"/>
                      </a:cubicBezTo>
                      <a:close/>
                      <a:moveTo>
                        <a:pt x="24274" y="3769"/>
                      </a:moveTo>
                      <a:lnTo>
                        <a:pt x="25385" y="3769"/>
                      </a:lnTo>
                      <a:cubicBezTo>
                        <a:pt x="25523" y="3769"/>
                        <a:pt x="25615" y="3723"/>
                        <a:pt x="25604" y="3672"/>
                      </a:cubicBezTo>
                      <a:lnTo>
                        <a:pt x="25494" y="3257"/>
                      </a:lnTo>
                      <a:cubicBezTo>
                        <a:pt x="25483" y="3205"/>
                        <a:pt x="25368" y="3171"/>
                        <a:pt x="25235" y="3171"/>
                      </a:cubicBezTo>
                      <a:lnTo>
                        <a:pt x="24136" y="3171"/>
                      </a:lnTo>
                      <a:cubicBezTo>
                        <a:pt x="24004" y="3171"/>
                        <a:pt x="23906" y="3211"/>
                        <a:pt x="23917" y="3257"/>
                      </a:cubicBezTo>
                      <a:lnTo>
                        <a:pt x="24015" y="3672"/>
                      </a:lnTo>
                      <a:cubicBezTo>
                        <a:pt x="24027" y="3723"/>
                        <a:pt x="24142" y="3769"/>
                        <a:pt x="24274" y="3769"/>
                      </a:cubicBezTo>
                      <a:close/>
                      <a:moveTo>
                        <a:pt x="9801" y="3257"/>
                      </a:moveTo>
                      <a:lnTo>
                        <a:pt x="9720" y="3672"/>
                      </a:lnTo>
                      <a:cubicBezTo>
                        <a:pt x="9715" y="3723"/>
                        <a:pt x="9812" y="3764"/>
                        <a:pt x="9945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3" y="3723"/>
                        <a:pt x="20488" y="3672"/>
                      </a:cubicBezTo>
                      <a:lnTo>
                        <a:pt x="20436" y="3257"/>
                      </a:lnTo>
                      <a:cubicBezTo>
                        <a:pt x="20430" y="3205"/>
                        <a:pt x="20321" y="3171"/>
                        <a:pt x="20194" y="3171"/>
                      </a:cubicBezTo>
                      <a:lnTo>
                        <a:pt x="10048" y="3171"/>
                      </a:lnTo>
                      <a:cubicBezTo>
                        <a:pt x="9922" y="3171"/>
                        <a:pt x="9807" y="3205"/>
                        <a:pt x="9801" y="3257"/>
                      </a:cubicBezTo>
                      <a:close/>
                      <a:moveTo>
                        <a:pt x="7119" y="3769"/>
                      </a:moveTo>
                      <a:lnTo>
                        <a:pt x="8765" y="3769"/>
                      </a:lnTo>
                      <a:cubicBezTo>
                        <a:pt x="8897" y="3769"/>
                        <a:pt x="9012" y="3723"/>
                        <a:pt x="9024" y="3672"/>
                      </a:cubicBezTo>
                      <a:lnTo>
                        <a:pt x="9104" y="3257"/>
                      </a:lnTo>
                      <a:cubicBezTo>
                        <a:pt x="9116" y="3205"/>
                        <a:pt x="9024" y="3171"/>
                        <a:pt x="8892" y="3171"/>
                      </a:cubicBezTo>
                      <a:lnTo>
                        <a:pt x="7280" y="3171"/>
                      </a:lnTo>
                      <a:cubicBezTo>
                        <a:pt x="7148" y="3171"/>
                        <a:pt x="7033" y="3211"/>
                        <a:pt x="7021" y="3257"/>
                      </a:cubicBezTo>
                      <a:lnTo>
                        <a:pt x="6912" y="3672"/>
                      </a:lnTo>
                      <a:cubicBezTo>
                        <a:pt x="6895" y="3723"/>
                        <a:pt x="6992" y="3769"/>
                        <a:pt x="7119" y="3769"/>
                      </a:cubicBezTo>
                      <a:close/>
                      <a:moveTo>
                        <a:pt x="4817" y="3769"/>
                      </a:moveTo>
                      <a:lnTo>
                        <a:pt x="5934" y="3769"/>
                      </a:lnTo>
                      <a:cubicBezTo>
                        <a:pt x="6072" y="3769"/>
                        <a:pt x="6187" y="3723"/>
                        <a:pt x="6198" y="3672"/>
                      </a:cubicBezTo>
                      <a:lnTo>
                        <a:pt x="6313" y="3257"/>
                      </a:lnTo>
                      <a:cubicBezTo>
                        <a:pt x="6331" y="3205"/>
                        <a:pt x="6239" y="3171"/>
                        <a:pt x="6100" y="3171"/>
                      </a:cubicBezTo>
                      <a:lnTo>
                        <a:pt x="5001" y="3171"/>
                      </a:lnTo>
                      <a:cubicBezTo>
                        <a:pt x="4869" y="3171"/>
                        <a:pt x="4748" y="3211"/>
                        <a:pt x="4731" y="3257"/>
                      </a:cubicBezTo>
                      <a:lnTo>
                        <a:pt x="4598" y="3672"/>
                      </a:lnTo>
                      <a:cubicBezTo>
                        <a:pt x="4598" y="3723"/>
                        <a:pt x="4691" y="3769"/>
                        <a:pt x="4817" y="3769"/>
                      </a:cubicBezTo>
                      <a:close/>
                      <a:moveTo>
                        <a:pt x="21454" y="3769"/>
                      </a:moveTo>
                      <a:lnTo>
                        <a:pt x="23094" y="3769"/>
                      </a:lnTo>
                      <a:cubicBezTo>
                        <a:pt x="23227" y="3769"/>
                        <a:pt x="23325" y="3723"/>
                        <a:pt x="23313" y="3672"/>
                      </a:cubicBezTo>
                      <a:lnTo>
                        <a:pt x="23238" y="3257"/>
                      </a:lnTo>
                      <a:cubicBezTo>
                        <a:pt x="23227" y="3205"/>
                        <a:pt x="23112" y="3171"/>
                        <a:pt x="22985" y="3171"/>
                      </a:cubicBezTo>
                      <a:lnTo>
                        <a:pt x="21374" y="3171"/>
                      </a:lnTo>
                      <a:cubicBezTo>
                        <a:pt x="21241" y="3171"/>
                        <a:pt x="21144" y="3211"/>
                        <a:pt x="21149" y="3257"/>
                      </a:cubicBezTo>
                      <a:lnTo>
                        <a:pt x="21207" y="3672"/>
                      </a:lnTo>
                      <a:cubicBezTo>
                        <a:pt x="21201" y="3723"/>
                        <a:pt x="21316" y="3769"/>
                        <a:pt x="21454" y="3769"/>
                      </a:cubicBezTo>
                      <a:close/>
                      <a:moveTo>
                        <a:pt x="2527" y="3769"/>
                      </a:moveTo>
                      <a:lnTo>
                        <a:pt x="3643" y="3769"/>
                      </a:lnTo>
                      <a:cubicBezTo>
                        <a:pt x="3776" y="3769"/>
                        <a:pt x="3902" y="3723"/>
                        <a:pt x="3914" y="3672"/>
                      </a:cubicBezTo>
                      <a:lnTo>
                        <a:pt x="4058" y="3257"/>
                      </a:lnTo>
                      <a:cubicBezTo>
                        <a:pt x="4075" y="3205"/>
                        <a:pt x="3977" y="3171"/>
                        <a:pt x="3850" y="3171"/>
                      </a:cubicBezTo>
                      <a:lnTo>
                        <a:pt x="2751" y="3171"/>
                      </a:lnTo>
                      <a:cubicBezTo>
                        <a:pt x="2619" y="3171"/>
                        <a:pt x="2498" y="3211"/>
                        <a:pt x="2475" y="3257"/>
                      </a:cubicBezTo>
                      <a:lnTo>
                        <a:pt x="2308" y="3672"/>
                      </a:lnTo>
                      <a:cubicBezTo>
                        <a:pt x="2297" y="3723"/>
                        <a:pt x="2389" y="3769"/>
                        <a:pt x="2527" y="3769"/>
                      </a:cubicBezTo>
                      <a:close/>
                      <a:moveTo>
                        <a:pt x="225" y="3769"/>
                      </a:moveTo>
                      <a:lnTo>
                        <a:pt x="1341" y="3769"/>
                      </a:lnTo>
                      <a:cubicBezTo>
                        <a:pt x="1474" y="3769"/>
                        <a:pt x="1600" y="3723"/>
                        <a:pt x="1617" y="3672"/>
                      </a:cubicBezTo>
                      <a:lnTo>
                        <a:pt x="1790" y="3257"/>
                      </a:lnTo>
                      <a:cubicBezTo>
                        <a:pt x="1813" y="3205"/>
                        <a:pt x="1721" y="3171"/>
                        <a:pt x="1589" y="3171"/>
                      </a:cubicBezTo>
                      <a:lnTo>
                        <a:pt x="490" y="3171"/>
                      </a:lnTo>
                      <a:cubicBezTo>
                        <a:pt x="357" y="3171"/>
                        <a:pt x="236" y="3211"/>
                        <a:pt x="208" y="3257"/>
                      </a:cubicBezTo>
                      <a:lnTo>
                        <a:pt x="23" y="3672"/>
                      </a:lnTo>
                      <a:cubicBezTo>
                        <a:pt x="0" y="3723"/>
                        <a:pt x="87" y="3769"/>
                        <a:pt x="225" y="376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38" name="Google Shape;838;p47"/>
              <p:cNvSpPr/>
              <p:nvPr/>
            </p:nvSpPr>
            <p:spPr>
              <a:xfrm>
                <a:off x="6822274" y="3695850"/>
                <a:ext cx="723633" cy="189396"/>
              </a:xfrm>
              <a:custGeom>
                <a:avLst/>
                <a:gdLst/>
                <a:ahLst/>
                <a:cxnLst/>
                <a:rect l="l" t="t" r="r" b="b"/>
                <a:pathLst>
                  <a:path w="12448" h="3258" extrusionOk="0">
                    <a:moveTo>
                      <a:pt x="12074" y="3258"/>
                    </a:moveTo>
                    <a:lnTo>
                      <a:pt x="374" y="3258"/>
                    </a:lnTo>
                    <a:cubicBezTo>
                      <a:pt x="155" y="3258"/>
                      <a:pt x="0" y="3126"/>
                      <a:pt x="35" y="2959"/>
                    </a:cubicBezTo>
                    <a:lnTo>
                      <a:pt x="529" y="254"/>
                    </a:lnTo>
                    <a:cubicBezTo>
                      <a:pt x="558" y="110"/>
                      <a:pt x="737" y="1"/>
                      <a:pt x="932" y="1"/>
                    </a:cubicBezTo>
                    <a:lnTo>
                      <a:pt x="11515" y="1"/>
                    </a:lnTo>
                    <a:cubicBezTo>
                      <a:pt x="11717" y="1"/>
                      <a:pt x="11895" y="116"/>
                      <a:pt x="11918" y="254"/>
                    </a:cubicBezTo>
                    <a:lnTo>
                      <a:pt x="12413" y="2959"/>
                    </a:lnTo>
                    <a:cubicBezTo>
                      <a:pt x="12448" y="3126"/>
                      <a:pt x="12298" y="3258"/>
                      <a:pt x="12074" y="32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5996926" y="1962600"/>
                <a:ext cx="733748" cy="692591"/>
              </a:xfrm>
              <a:custGeom>
                <a:avLst/>
                <a:gdLst/>
                <a:ahLst/>
                <a:cxnLst/>
                <a:rect l="l" t="t" r="r" b="b"/>
                <a:pathLst>
                  <a:path w="12622" h="11914" extrusionOk="0">
                    <a:moveTo>
                      <a:pt x="11361" y="9364"/>
                    </a:moveTo>
                    <a:lnTo>
                      <a:pt x="9583" y="9364"/>
                    </a:lnTo>
                    <a:cubicBezTo>
                      <a:pt x="9393" y="9364"/>
                      <a:pt x="9232" y="9525"/>
                      <a:pt x="9232" y="9721"/>
                    </a:cubicBezTo>
                    <a:lnTo>
                      <a:pt x="9226" y="11534"/>
                    </a:lnTo>
                    <a:cubicBezTo>
                      <a:pt x="9226" y="11781"/>
                      <a:pt x="8915" y="11913"/>
                      <a:pt x="8737" y="11723"/>
                    </a:cubicBezTo>
                    <a:lnTo>
                      <a:pt x="6820" y="9767"/>
                    </a:lnTo>
                    <a:cubicBezTo>
                      <a:pt x="6492" y="9502"/>
                      <a:pt x="6078" y="9358"/>
                      <a:pt x="5658" y="9358"/>
                    </a:cubicBezTo>
                    <a:lnTo>
                      <a:pt x="1261" y="9358"/>
                    </a:lnTo>
                    <a:cubicBezTo>
                      <a:pt x="571" y="9358"/>
                      <a:pt x="1" y="8800"/>
                      <a:pt x="1" y="8098"/>
                    </a:cubicBezTo>
                    <a:lnTo>
                      <a:pt x="1" y="1255"/>
                    </a:lnTo>
                    <a:cubicBezTo>
                      <a:pt x="1" y="565"/>
                      <a:pt x="565" y="1"/>
                      <a:pt x="1261" y="1"/>
                    </a:cubicBezTo>
                    <a:lnTo>
                      <a:pt x="11355" y="1"/>
                    </a:lnTo>
                    <a:cubicBezTo>
                      <a:pt x="12046" y="1"/>
                      <a:pt x="12615" y="559"/>
                      <a:pt x="12615" y="1255"/>
                    </a:cubicBezTo>
                    <a:lnTo>
                      <a:pt x="12615" y="8109"/>
                    </a:lnTo>
                    <a:cubicBezTo>
                      <a:pt x="12621" y="8806"/>
                      <a:pt x="12051" y="9364"/>
                      <a:pt x="11361" y="93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47"/>
              <p:cNvSpPr/>
              <p:nvPr/>
            </p:nvSpPr>
            <p:spPr>
              <a:xfrm>
                <a:off x="6163240" y="2083048"/>
                <a:ext cx="375362" cy="302812"/>
              </a:xfrm>
              <a:custGeom>
                <a:avLst/>
                <a:gdLst/>
                <a:ahLst/>
                <a:cxnLst/>
                <a:rect l="l" t="t" r="r" b="b"/>
                <a:pathLst>
                  <a:path w="6457" h="5209" extrusionOk="0">
                    <a:moveTo>
                      <a:pt x="2952" y="2964"/>
                    </a:moveTo>
                    <a:lnTo>
                      <a:pt x="1853" y="2964"/>
                    </a:lnTo>
                    <a:cubicBezTo>
                      <a:pt x="1916" y="3523"/>
                      <a:pt x="2164" y="4213"/>
                      <a:pt x="2952" y="4213"/>
                    </a:cubicBezTo>
                    <a:lnTo>
                      <a:pt x="2952" y="5209"/>
                    </a:lnTo>
                    <a:lnTo>
                      <a:pt x="2227" y="5209"/>
                    </a:lnTo>
                    <a:cubicBezTo>
                      <a:pt x="996" y="5209"/>
                      <a:pt x="0" y="4207"/>
                      <a:pt x="0" y="2976"/>
                    </a:cubicBezTo>
                    <a:lnTo>
                      <a:pt x="0" y="2964"/>
                    </a:lnTo>
                    <a:lnTo>
                      <a:pt x="0" y="2257"/>
                    </a:lnTo>
                    <a:lnTo>
                      <a:pt x="0" y="6"/>
                    </a:lnTo>
                    <a:lnTo>
                      <a:pt x="2952" y="6"/>
                    </a:lnTo>
                    <a:close/>
                    <a:moveTo>
                      <a:pt x="6457" y="1"/>
                    </a:moveTo>
                    <a:lnTo>
                      <a:pt x="3499" y="1"/>
                    </a:lnTo>
                    <a:lnTo>
                      <a:pt x="3499" y="2251"/>
                    </a:lnTo>
                    <a:lnTo>
                      <a:pt x="3499" y="2959"/>
                    </a:lnTo>
                    <a:lnTo>
                      <a:pt x="3499" y="2970"/>
                    </a:lnTo>
                    <a:cubicBezTo>
                      <a:pt x="3499" y="4202"/>
                      <a:pt x="4500" y="5203"/>
                      <a:pt x="5732" y="5203"/>
                    </a:cubicBezTo>
                    <a:lnTo>
                      <a:pt x="6457" y="5203"/>
                    </a:lnTo>
                    <a:lnTo>
                      <a:pt x="6457" y="4207"/>
                    </a:lnTo>
                    <a:cubicBezTo>
                      <a:pt x="5674" y="4207"/>
                      <a:pt x="5427" y="3517"/>
                      <a:pt x="5358" y="2959"/>
                    </a:cubicBezTo>
                    <a:lnTo>
                      <a:pt x="6457" y="29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47"/>
              <p:cNvSpPr/>
              <p:nvPr/>
            </p:nvSpPr>
            <p:spPr>
              <a:xfrm>
                <a:off x="6580041" y="2438050"/>
                <a:ext cx="733051" cy="692532"/>
              </a:xfrm>
              <a:custGeom>
                <a:avLst/>
                <a:gdLst/>
                <a:ahLst/>
                <a:cxnLst/>
                <a:rect l="l" t="t" r="r" b="b"/>
                <a:pathLst>
                  <a:path w="12610" h="11913" extrusionOk="0">
                    <a:moveTo>
                      <a:pt x="1249" y="9369"/>
                    </a:moveTo>
                    <a:lnTo>
                      <a:pt x="3028" y="9369"/>
                    </a:lnTo>
                    <a:cubicBezTo>
                      <a:pt x="3223" y="9369"/>
                      <a:pt x="3379" y="9524"/>
                      <a:pt x="3379" y="9720"/>
                    </a:cubicBezTo>
                    <a:lnTo>
                      <a:pt x="3384" y="11533"/>
                    </a:lnTo>
                    <a:cubicBezTo>
                      <a:pt x="3384" y="11786"/>
                      <a:pt x="3695" y="11913"/>
                      <a:pt x="3879" y="11728"/>
                    </a:cubicBezTo>
                    <a:lnTo>
                      <a:pt x="5790" y="9772"/>
                    </a:lnTo>
                    <a:cubicBezTo>
                      <a:pt x="6118" y="9501"/>
                      <a:pt x="6532" y="9357"/>
                      <a:pt x="6952" y="9357"/>
                    </a:cubicBezTo>
                    <a:lnTo>
                      <a:pt x="11349" y="9357"/>
                    </a:lnTo>
                    <a:cubicBezTo>
                      <a:pt x="12040" y="9357"/>
                      <a:pt x="12609" y="8799"/>
                      <a:pt x="12609" y="8103"/>
                    </a:cubicBezTo>
                    <a:lnTo>
                      <a:pt x="12609" y="1260"/>
                    </a:lnTo>
                    <a:cubicBezTo>
                      <a:pt x="12609" y="570"/>
                      <a:pt x="12045" y="0"/>
                      <a:pt x="11349" y="0"/>
                    </a:cubicBezTo>
                    <a:lnTo>
                      <a:pt x="1255" y="0"/>
                    </a:lnTo>
                    <a:cubicBezTo>
                      <a:pt x="564" y="0"/>
                      <a:pt x="1" y="564"/>
                      <a:pt x="1" y="1260"/>
                    </a:cubicBezTo>
                    <a:lnTo>
                      <a:pt x="1" y="8103"/>
                    </a:lnTo>
                    <a:cubicBezTo>
                      <a:pt x="1" y="8805"/>
                      <a:pt x="559" y="9369"/>
                      <a:pt x="1249" y="936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6771409" y="2559138"/>
                <a:ext cx="375710" cy="302115"/>
              </a:xfrm>
              <a:custGeom>
                <a:avLst/>
                <a:gdLst/>
                <a:ahLst/>
                <a:cxnLst/>
                <a:rect l="l" t="t" r="r" b="b"/>
                <a:pathLst>
                  <a:path w="6463" h="5197" extrusionOk="0">
                    <a:moveTo>
                      <a:pt x="3505" y="0"/>
                    </a:moveTo>
                    <a:lnTo>
                      <a:pt x="6463" y="0"/>
                    </a:lnTo>
                    <a:lnTo>
                      <a:pt x="6463" y="2250"/>
                    </a:lnTo>
                    <a:lnTo>
                      <a:pt x="6463" y="2953"/>
                    </a:lnTo>
                    <a:lnTo>
                      <a:pt x="6463" y="2970"/>
                    </a:lnTo>
                    <a:cubicBezTo>
                      <a:pt x="6463" y="4201"/>
                      <a:pt x="5462" y="5197"/>
                      <a:pt x="4230" y="5197"/>
                    </a:cubicBezTo>
                    <a:lnTo>
                      <a:pt x="3505" y="5197"/>
                    </a:lnTo>
                    <a:lnTo>
                      <a:pt x="3505" y="4207"/>
                    </a:lnTo>
                    <a:cubicBezTo>
                      <a:pt x="4288" y="4207"/>
                      <a:pt x="4535" y="3516"/>
                      <a:pt x="4604" y="2953"/>
                    </a:cubicBezTo>
                    <a:lnTo>
                      <a:pt x="3505" y="2953"/>
                    </a:lnTo>
                    <a:close/>
                    <a:moveTo>
                      <a:pt x="0" y="2953"/>
                    </a:moveTo>
                    <a:lnTo>
                      <a:pt x="1105" y="2953"/>
                    </a:lnTo>
                    <a:cubicBezTo>
                      <a:pt x="1036" y="3516"/>
                      <a:pt x="794" y="4207"/>
                      <a:pt x="0" y="4207"/>
                    </a:cubicBezTo>
                    <a:lnTo>
                      <a:pt x="0" y="5197"/>
                    </a:lnTo>
                    <a:lnTo>
                      <a:pt x="731" y="5197"/>
                    </a:lnTo>
                    <a:cubicBezTo>
                      <a:pt x="1957" y="5197"/>
                      <a:pt x="2958" y="4201"/>
                      <a:pt x="2958" y="2970"/>
                    </a:cubicBezTo>
                    <a:lnTo>
                      <a:pt x="2958" y="2953"/>
                    </a:lnTo>
                    <a:lnTo>
                      <a:pt x="2958" y="2250"/>
                    </a:lnTo>
                    <a:lnTo>
                      <a:pt x="295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7072122" y="1652817"/>
                <a:ext cx="779557" cy="813332"/>
              </a:xfrm>
              <a:custGeom>
                <a:avLst/>
                <a:gdLst/>
                <a:ahLst/>
                <a:cxnLst/>
                <a:rect l="l" t="t" r="r" b="b"/>
                <a:pathLst>
                  <a:path w="13410" h="13991" extrusionOk="0">
                    <a:moveTo>
                      <a:pt x="12886" y="13991"/>
                    </a:moveTo>
                    <a:lnTo>
                      <a:pt x="525" y="13991"/>
                    </a:lnTo>
                    <a:cubicBezTo>
                      <a:pt x="237" y="13991"/>
                      <a:pt x="1" y="13755"/>
                      <a:pt x="1" y="13467"/>
                    </a:cubicBezTo>
                    <a:lnTo>
                      <a:pt x="1" y="525"/>
                    </a:lnTo>
                    <a:cubicBezTo>
                      <a:pt x="1" y="237"/>
                      <a:pt x="237" y="1"/>
                      <a:pt x="525" y="1"/>
                    </a:cubicBezTo>
                    <a:lnTo>
                      <a:pt x="12886" y="1"/>
                    </a:lnTo>
                    <a:cubicBezTo>
                      <a:pt x="13174" y="1"/>
                      <a:pt x="13410" y="237"/>
                      <a:pt x="13410" y="525"/>
                    </a:cubicBezTo>
                    <a:lnTo>
                      <a:pt x="13410" y="13467"/>
                    </a:lnTo>
                    <a:cubicBezTo>
                      <a:pt x="13410" y="13761"/>
                      <a:pt x="13174" y="13991"/>
                      <a:pt x="12886" y="139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7186234" y="1775939"/>
                <a:ext cx="551387" cy="566792"/>
              </a:xfrm>
              <a:custGeom>
                <a:avLst/>
                <a:gdLst/>
                <a:ahLst/>
                <a:cxnLst/>
                <a:rect l="l" t="t" r="r" b="b"/>
                <a:pathLst>
                  <a:path w="9485" h="9750" extrusionOk="0">
                    <a:moveTo>
                      <a:pt x="9179" y="8167"/>
                    </a:moveTo>
                    <a:lnTo>
                      <a:pt x="8454" y="8167"/>
                    </a:lnTo>
                    <a:lnTo>
                      <a:pt x="8454" y="7131"/>
                    </a:lnTo>
                    <a:lnTo>
                      <a:pt x="7292" y="7131"/>
                    </a:lnTo>
                    <a:lnTo>
                      <a:pt x="7292" y="6561"/>
                    </a:lnTo>
                    <a:lnTo>
                      <a:pt x="7953" y="6561"/>
                    </a:lnTo>
                    <a:cubicBezTo>
                      <a:pt x="8155" y="6561"/>
                      <a:pt x="8316" y="6400"/>
                      <a:pt x="8316" y="6199"/>
                    </a:cubicBezTo>
                    <a:lnTo>
                      <a:pt x="8316" y="4587"/>
                    </a:lnTo>
                    <a:cubicBezTo>
                      <a:pt x="8316" y="4386"/>
                      <a:pt x="8155" y="4219"/>
                      <a:pt x="7953" y="4219"/>
                    </a:cubicBezTo>
                    <a:lnTo>
                      <a:pt x="7292" y="4219"/>
                    </a:lnTo>
                    <a:lnTo>
                      <a:pt x="7292" y="3292"/>
                    </a:lnTo>
                    <a:lnTo>
                      <a:pt x="4892" y="3292"/>
                    </a:lnTo>
                    <a:lnTo>
                      <a:pt x="4892" y="2608"/>
                    </a:lnTo>
                    <a:lnTo>
                      <a:pt x="6814" y="2608"/>
                    </a:lnTo>
                    <a:cubicBezTo>
                      <a:pt x="7004" y="2608"/>
                      <a:pt x="7154" y="2458"/>
                      <a:pt x="7154" y="2268"/>
                    </a:cubicBezTo>
                    <a:lnTo>
                      <a:pt x="7154" y="340"/>
                    </a:lnTo>
                    <a:cubicBezTo>
                      <a:pt x="7154" y="156"/>
                      <a:pt x="7004" y="1"/>
                      <a:pt x="6814" y="1"/>
                    </a:cubicBezTo>
                    <a:lnTo>
                      <a:pt x="2688" y="1"/>
                    </a:lnTo>
                    <a:cubicBezTo>
                      <a:pt x="2498" y="1"/>
                      <a:pt x="2348" y="156"/>
                      <a:pt x="2348" y="340"/>
                    </a:cubicBezTo>
                    <a:lnTo>
                      <a:pt x="2348" y="2268"/>
                    </a:lnTo>
                    <a:cubicBezTo>
                      <a:pt x="2348" y="2458"/>
                      <a:pt x="2498" y="2608"/>
                      <a:pt x="2688" y="2608"/>
                    </a:cubicBezTo>
                    <a:lnTo>
                      <a:pt x="4604" y="2608"/>
                    </a:lnTo>
                    <a:lnTo>
                      <a:pt x="4604" y="3292"/>
                    </a:lnTo>
                    <a:lnTo>
                      <a:pt x="2210" y="3292"/>
                    </a:lnTo>
                    <a:lnTo>
                      <a:pt x="2210" y="4219"/>
                    </a:lnTo>
                    <a:lnTo>
                      <a:pt x="1548" y="4219"/>
                    </a:lnTo>
                    <a:cubicBezTo>
                      <a:pt x="1347" y="4219"/>
                      <a:pt x="1180" y="4386"/>
                      <a:pt x="1180" y="4587"/>
                    </a:cubicBezTo>
                    <a:lnTo>
                      <a:pt x="1180" y="6199"/>
                    </a:lnTo>
                    <a:cubicBezTo>
                      <a:pt x="1180" y="6400"/>
                      <a:pt x="1347" y="6561"/>
                      <a:pt x="1548" y="6561"/>
                    </a:cubicBezTo>
                    <a:lnTo>
                      <a:pt x="2210" y="6561"/>
                    </a:lnTo>
                    <a:lnTo>
                      <a:pt x="2210" y="7131"/>
                    </a:lnTo>
                    <a:lnTo>
                      <a:pt x="1030" y="7131"/>
                    </a:lnTo>
                    <a:lnTo>
                      <a:pt x="1030" y="8167"/>
                    </a:lnTo>
                    <a:lnTo>
                      <a:pt x="305" y="8167"/>
                    </a:lnTo>
                    <a:cubicBezTo>
                      <a:pt x="138" y="8167"/>
                      <a:pt x="0" y="8305"/>
                      <a:pt x="0" y="8472"/>
                    </a:cubicBezTo>
                    <a:lnTo>
                      <a:pt x="0" y="9450"/>
                    </a:lnTo>
                    <a:cubicBezTo>
                      <a:pt x="0" y="9611"/>
                      <a:pt x="138" y="9749"/>
                      <a:pt x="305" y="9749"/>
                    </a:cubicBezTo>
                    <a:lnTo>
                      <a:pt x="2043" y="9749"/>
                    </a:lnTo>
                    <a:cubicBezTo>
                      <a:pt x="2210" y="9749"/>
                      <a:pt x="2348" y="9611"/>
                      <a:pt x="2348" y="9450"/>
                    </a:cubicBezTo>
                    <a:lnTo>
                      <a:pt x="2348" y="8460"/>
                    </a:lnTo>
                    <a:cubicBezTo>
                      <a:pt x="2348" y="8299"/>
                      <a:pt x="2210" y="8161"/>
                      <a:pt x="2043" y="8161"/>
                    </a:cubicBezTo>
                    <a:lnTo>
                      <a:pt x="1318" y="8161"/>
                    </a:lnTo>
                    <a:lnTo>
                      <a:pt x="1318" y="7413"/>
                    </a:lnTo>
                    <a:lnTo>
                      <a:pt x="4598" y="7413"/>
                    </a:lnTo>
                    <a:lnTo>
                      <a:pt x="4598" y="8161"/>
                    </a:lnTo>
                    <a:lnTo>
                      <a:pt x="3873" y="8161"/>
                    </a:lnTo>
                    <a:cubicBezTo>
                      <a:pt x="3706" y="8161"/>
                      <a:pt x="3568" y="8299"/>
                      <a:pt x="3568" y="8460"/>
                    </a:cubicBezTo>
                    <a:lnTo>
                      <a:pt x="3568" y="9450"/>
                    </a:lnTo>
                    <a:cubicBezTo>
                      <a:pt x="3568" y="9611"/>
                      <a:pt x="3706" y="9749"/>
                      <a:pt x="3873" y="9749"/>
                    </a:cubicBezTo>
                    <a:lnTo>
                      <a:pt x="5611" y="9749"/>
                    </a:lnTo>
                    <a:cubicBezTo>
                      <a:pt x="5778" y="9749"/>
                      <a:pt x="5916" y="9611"/>
                      <a:pt x="5916" y="9450"/>
                    </a:cubicBezTo>
                    <a:lnTo>
                      <a:pt x="5916" y="8460"/>
                    </a:lnTo>
                    <a:cubicBezTo>
                      <a:pt x="5916" y="8299"/>
                      <a:pt x="5778" y="8161"/>
                      <a:pt x="5611" y="8161"/>
                    </a:cubicBezTo>
                    <a:lnTo>
                      <a:pt x="4886" y="8161"/>
                    </a:lnTo>
                    <a:lnTo>
                      <a:pt x="4886" y="7413"/>
                    </a:lnTo>
                    <a:lnTo>
                      <a:pt x="8166" y="7413"/>
                    </a:lnTo>
                    <a:lnTo>
                      <a:pt x="8166" y="8161"/>
                    </a:lnTo>
                    <a:lnTo>
                      <a:pt x="7441" y="8161"/>
                    </a:lnTo>
                    <a:cubicBezTo>
                      <a:pt x="7274" y="8161"/>
                      <a:pt x="7136" y="8299"/>
                      <a:pt x="7136" y="8460"/>
                    </a:cubicBezTo>
                    <a:lnTo>
                      <a:pt x="7136" y="9450"/>
                    </a:lnTo>
                    <a:cubicBezTo>
                      <a:pt x="7136" y="9611"/>
                      <a:pt x="7274" y="9749"/>
                      <a:pt x="7441" y="9749"/>
                    </a:cubicBezTo>
                    <a:lnTo>
                      <a:pt x="9179" y="9749"/>
                    </a:lnTo>
                    <a:cubicBezTo>
                      <a:pt x="9346" y="9749"/>
                      <a:pt x="9484" y="9611"/>
                      <a:pt x="9484" y="9450"/>
                    </a:cubicBezTo>
                    <a:lnTo>
                      <a:pt x="9484" y="8460"/>
                    </a:lnTo>
                    <a:cubicBezTo>
                      <a:pt x="9478" y="8299"/>
                      <a:pt x="9346" y="8167"/>
                      <a:pt x="9179" y="8167"/>
                    </a:cubicBezTo>
                    <a:close/>
                    <a:moveTo>
                      <a:pt x="2492" y="7125"/>
                    </a:moveTo>
                    <a:lnTo>
                      <a:pt x="2492" y="6555"/>
                    </a:lnTo>
                    <a:lnTo>
                      <a:pt x="3154" y="6555"/>
                    </a:lnTo>
                    <a:cubicBezTo>
                      <a:pt x="3355" y="6555"/>
                      <a:pt x="3522" y="6389"/>
                      <a:pt x="3522" y="6187"/>
                    </a:cubicBezTo>
                    <a:lnTo>
                      <a:pt x="3522" y="4576"/>
                    </a:lnTo>
                    <a:cubicBezTo>
                      <a:pt x="3522" y="4374"/>
                      <a:pt x="3355" y="4213"/>
                      <a:pt x="3154" y="4213"/>
                    </a:cubicBezTo>
                    <a:lnTo>
                      <a:pt x="2492" y="4213"/>
                    </a:lnTo>
                    <a:lnTo>
                      <a:pt x="2492" y="3569"/>
                    </a:lnTo>
                    <a:lnTo>
                      <a:pt x="7004" y="3569"/>
                    </a:lnTo>
                    <a:lnTo>
                      <a:pt x="7004" y="4213"/>
                    </a:lnTo>
                    <a:lnTo>
                      <a:pt x="6342" y="4213"/>
                    </a:lnTo>
                    <a:cubicBezTo>
                      <a:pt x="6141" y="4213"/>
                      <a:pt x="5974" y="4374"/>
                      <a:pt x="5974" y="4576"/>
                    </a:cubicBezTo>
                    <a:lnTo>
                      <a:pt x="5974" y="6187"/>
                    </a:lnTo>
                    <a:cubicBezTo>
                      <a:pt x="5974" y="6389"/>
                      <a:pt x="6141" y="6555"/>
                      <a:pt x="6342" y="6555"/>
                    </a:cubicBezTo>
                    <a:lnTo>
                      <a:pt x="7004" y="6555"/>
                    </a:lnTo>
                    <a:lnTo>
                      <a:pt x="7004" y="712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7606756" y="2424280"/>
                <a:ext cx="734330" cy="766186"/>
              </a:xfrm>
              <a:custGeom>
                <a:avLst/>
                <a:gdLst/>
                <a:ahLst/>
                <a:cxnLst/>
                <a:rect l="l" t="t" r="r" b="b"/>
                <a:pathLst>
                  <a:path w="12632" h="13180" extrusionOk="0">
                    <a:moveTo>
                      <a:pt x="12131" y="13179"/>
                    </a:moveTo>
                    <a:lnTo>
                      <a:pt x="495" y="13179"/>
                    </a:lnTo>
                    <a:cubicBezTo>
                      <a:pt x="219" y="13179"/>
                      <a:pt x="0" y="12955"/>
                      <a:pt x="0" y="12684"/>
                    </a:cubicBezTo>
                    <a:lnTo>
                      <a:pt x="0" y="495"/>
                    </a:lnTo>
                    <a:cubicBezTo>
                      <a:pt x="0" y="225"/>
                      <a:pt x="219" y="1"/>
                      <a:pt x="495" y="1"/>
                    </a:cubicBezTo>
                    <a:lnTo>
                      <a:pt x="12131" y="1"/>
                    </a:lnTo>
                    <a:cubicBezTo>
                      <a:pt x="12407" y="1"/>
                      <a:pt x="12632" y="225"/>
                      <a:pt x="12632" y="495"/>
                    </a:cubicBezTo>
                    <a:lnTo>
                      <a:pt x="12632" y="12684"/>
                    </a:lnTo>
                    <a:cubicBezTo>
                      <a:pt x="12620" y="12960"/>
                      <a:pt x="12407" y="13179"/>
                      <a:pt x="12131" y="131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47"/>
              <p:cNvSpPr/>
              <p:nvPr/>
            </p:nvSpPr>
            <p:spPr>
              <a:xfrm>
                <a:off x="7737551" y="2539381"/>
                <a:ext cx="472443" cy="578825"/>
              </a:xfrm>
              <a:custGeom>
                <a:avLst/>
                <a:gdLst/>
                <a:ahLst/>
                <a:cxnLst/>
                <a:rect l="l" t="t" r="r" b="b"/>
                <a:pathLst>
                  <a:path w="8127" h="9957" extrusionOk="0">
                    <a:moveTo>
                      <a:pt x="8126" y="662"/>
                    </a:moveTo>
                    <a:cubicBezTo>
                      <a:pt x="8126" y="1025"/>
                      <a:pt x="6308" y="1324"/>
                      <a:pt x="4063" y="1324"/>
                    </a:cubicBezTo>
                    <a:cubicBezTo>
                      <a:pt x="1819" y="1324"/>
                      <a:pt x="0" y="1025"/>
                      <a:pt x="0" y="662"/>
                    </a:cubicBezTo>
                    <a:cubicBezTo>
                      <a:pt x="0" y="294"/>
                      <a:pt x="1819" y="0"/>
                      <a:pt x="4063" y="0"/>
                    </a:cubicBezTo>
                    <a:cubicBezTo>
                      <a:pt x="6308" y="0"/>
                      <a:pt x="8126" y="294"/>
                      <a:pt x="8126" y="662"/>
                    </a:cubicBezTo>
                    <a:close/>
                    <a:moveTo>
                      <a:pt x="8126" y="1387"/>
                    </a:moveTo>
                    <a:lnTo>
                      <a:pt x="8126" y="3539"/>
                    </a:lnTo>
                    <a:cubicBezTo>
                      <a:pt x="8126" y="3902"/>
                      <a:pt x="6308" y="4201"/>
                      <a:pt x="4063" y="4201"/>
                    </a:cubicBezTo>
                    <a:cubicBezTo>
                      <a:pt x="1819" y="4201"/>
                      <a:pt x="0" y="3902"/>
                      <a:pt x="0" y="3539"/>
                    </a:cubicBezTo>
                    <a:lnTo>
                      <a:pt x="0" y="1387"/>
                    </a:lnTo>
                    <a:cubicBezTo>
                      <a:pt x="0" y="1755"/>
                      <a:pt x="1819" y="2049"/>
                      <a:pt x="4063" y="2049"/>
                    </a:cubicBezTo>
                    <a:cubicBezTo>
                      <a:pt x="6308" y="2049"/>
                      <a:pt x="8126" y="1755"/>
                      <a:pt x="8126" y="1387"/>
                    </a:cubicBezTo>
                    <a:close/>
                    <a:moveTo>
                      <a:pt x="7510" y="2941"/>
                    </a:moveTo>
                    <a:cubicBezTo>
                      <a:pt x="7510" y="2768"/>
                      <a:pt x="7366" y="2624"/>
                      <a:pt x="7194" y="2624"/>
                    </a:cubicBezTo>
                    <a:cubicBezTo>
                      <a:pt x="7021" y="2624"/>
                      <a:pt x="6877" y="2768"/>
                      <a:pt x="6877" y="2941"/>
                    </a:cubicBezTo>
                    <a:cubicBezTo>
                      <a:pt x="6877" y="3114"/>
                      <a:pt x="7021" y="3257"/>
                      <a:pt x="7194" y="3257"/>
                    </a:cubicBezTo>
                    <a:cubicBezTo>
                      <a:pt x="7366" y="3257"/>
                      <a:pt x="7510" y="3114"/>
                      <a:pt x="7510" y="2941"/>
                    </a:cubicBezTo>
                    <a:close/>
                    <a:moveTo>
                      <a:pt x="8126" y="4265"/>
                    </a:moveTo>
                    <a:lnTo>
                      <a:pt x="8126" y="6417"/>
                    </a:lnTo>
                    <a:cubicBezTo>
                      <a:pt x="8126" y="6779"/>
                      <a:pt x="6308" y="7079"/>
                      <a:pt x="4063" y="7079"/>
                    </a:cubicBezTo>
                    <a:cubicBezTo>
                      <a:pt x="1819" y="7079"/>
                      <a:pt x="0" y="6779"/>
                      <a:pt x="0" y="6417"/>
                    </a:cubicBezTo>
                    <a:lnTo>
                      <a:pt x="0" y="4265"/>
                    </a:lnTo>
                    <a:cubicBezTo>
                      <a:pt x="0" y="4633"/>
                      <a:pt x="1819" y="4926"/>
                      <a:pt x="4063" y="4926"/>
                    </a:cubicBezTo>
                    <a:cubicBezTo>
                      <a:pt x="6308" y="4926"/>
                      <a:pt x="8126" y="4633"/>
                      <a:pt x="8126" y="4265"/>
                    </a:cubicBezTo>
                    <a:close/>
                    <a:moveTo>
                      <a:pt x="7510" y="5818"/>
                    </a:moveTo>
                    <a:cubicBezTo>
                      <a:pt x="7510" y="5646"/>
                      <a:pt x="7366" y="5502"/>
                      <a:pt x="7194" y="5502"/>
                    </a:cubicBezTo>
                    <a:cubicBezTo>
                      <a:pt x="7021" y="5502"/>
                      <a:pt x="6877" y="5646"/>
                      <a:pt x="6877" y="5818"/>
                    </a:cubicBezTo>
                    <a:cubicBezTo>
                      <a:pt x="6877" y="5991"/>
                      <a:pt x="7021" y="6135"/>
                      <a:pt x="7194" y="6135"/>
                    </a:cubicBezTo>
                    <a:cubicBezTo>
                      <a:pt x="7366" y="6135"/>
                      <a:pt x="7510" y="5991"/>
                      <a:pt x="7510" y="5818"/>
                    </a:cubicBezTo>
                    <a:close/>
                    <a:moveTo>
                      <a:pt x="8126" y="7142"/>
                    </a:moveTo>
                    <a:lnTo>
                      <a:pt x="8126" y="9294"/>
                    </a:lnTo>
                    <a:cubicBezTo>
                      <a:pt x="8126" y="9657"/>
                      <a:pt x="6308" y="9956"/>
                      <a:pt x="4063" y="9956"/>
                    </a:cubicBezTo>
                    <a:cubicBezTo>
                      <a:pt x="1819" y="9956"/>
                      <a:pt x="0" y="9657"/>
                      <a:pt x="0" y="9294"/>
                    </a:cubicBezTo>
                    <a:lnTo>
                      <a:pt x="0" y="7142"/>
                    </a:lnTo>
                    <a:cubicBezTo>
                      <a:pt x="0" y="7510"/>
                      <a:pt x="1819" y="7804"/>
                      <a:pt x="4063" y="7804"/>
                    </a:cubicBezTo>
                    <a:cubicBezTo>
                      <a:pt x="6308" y="7804"/>
                      <a:pt x="8126" y="7510"/>
                      <a:pt x="8126" y="7142"/>
                    </a:cubicBezTo>
                    <a:close/>
                    <a:moveTo>
                      <a:pt x="7510" y="8696"/>
                    </a:moveTo>
                    <a:cubicBezTo>
                      <a:pt x="7510" y="8523"/>
                      <a:pt x="7366" y="8379"/>
                      <a:pt x="7194" y="8379"/>
                    </a:cubicBezTo>
                    <a:cubicBezTo>
                      <a:pt x="7021" y="8379"/>
                      <a:pt x="6877" y="8523"/>
                      <a:pt x="6877" y="8696"/>
                    </a:cubicBezTo>
                    <a:cubicBezTo>
                      <a:pt x="6877" y="8868"/>
                      <a:pt x="7021" y="9012"/>
                      <a:pt x="7194" y="9012"/>
                    </a:cubicBezTo>
                    <a:cubicBezTo>
                      <a:pt x="7366" y="9012"/>
                      <a:pt x="7510" y="8868"/>
                      <a:pt x="7510" y="869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47"/>
              <p:cNvSpPr/>
              <p:nvPr/>
            </p:nvSpPr>
            <p:spPr>
              <a:xfrm>
                <a:off x="7990132" y="1845523"/>
                <a:ext cx="249912" cy="202824"/>
              </a:xfrm>
              <a:custGeom>
                <a:avLst/>
                <a:gdLst/>
                <a:ahLst/>
                <a:cxnLst/>
                <a:rect l="l" t="t" r="r" b="b"/>
                <a:pathLst>
                  <a:path w="4299" h="3489" extrusionOk="0">
                    <a:moveTo>
                      <a:pt x="2331" y="6"/>
                    </a:moveTo>
                    <a:lnTo>
                      <a:pt x="4299" y="6"/>
                    </a:lnTo>
                    <a:lnTo>
                      <a:pt x="4299" y="1508"/>
                    </a:lnTo>
                    <a:lnTo>
                      <a:pt x="4299" y="1986"/>
                    </a:lnTo>
                    <a:lnTo>
                      <a:pt x="4299" y="1998"/>
                    </a:lnTo>
                    <a:cubicBezTo>
                      <a:pt x="4299" y="2821"/>
                      <a:pt x="3631" y="3488"/>
                      <a:pt x="2814" y="3488"/>
                    </a:cubicBezTo>
                    <a:lnTo>
                      <a:pt x="2331" y="3488"/>
                    </a:lnTo>
                    <a:lnTo>
                      <a:pt x="2331" y="2826"/>
                    </a:lnTo>
                    <a:cubicBezTo>
                      <a:pt x="2854" y="2826"/>
                      <a:pt x="3021" y="2366"/>
                      <a:pt x="3062" y="1992"/>
                    </a:cubicBezTo>
                    <a:lnTo>
                      <a:pt x="2331" y="1992"/>
                    </a:lnTo>
                    <a:lnTo>
                      <a:pt x="2331" y="6"/>
                    </a:lnTo>
                    <a:close/>
                    <a:moveTo>
                      <a:pt x="0" y="1986"/>
                    </a:moveTo>
                    <a:lnTo>
                      <a:pt x="731" y="1986"/>
                    </a:lnTo>
                    <a:cubicBezTo>
                      <a:pt x="691" y="2360"/>
                      <a:pt x="524" y="2821"/>
                      <a:pt x="0" y="2821"/>
                    </a:cubicBezTo>
                    <a:lnTo>
                      <a:pt x="0" y="3482"/>
                    </a:lnTo>
                    <a:lnTo>
                      <a:pt x="484" y="3482"/>
                    </a:lnTo>
                    <a:cubicBezTo>
                      <a:pt x="1301" y="3482"/>
                      <a:pt x="1968" y="2815"/>
                      <a:pt x="1968" y="1992"/>
                    </a:cubicBezTo>
                    <a:lnTo>
                      <a:pt x="1968" y="1980"/>
                    </a:lnTo>
                    <a:lnTo>
                      <a:pt x="1968" y="1503"/>
                    </a:lnTo>
                    <a:lnTo>
                      <a:pt x="1968" y="1"/>
                    </a:lnTo>
                    <a:lnTo>
                      <a:pt x="0" y="1"/>
                    </a:lnTo>
                    <a:lnTo>
                      <a:pt x="0" y="19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47"/>
              <p:cNvSpPr/>
              <p:nvPr/>
            </p:nvSpPr>
            <p:spPr>
              <a:xfrm>
                <a:off x="5923042" y="2617975"/>
                <a:ext cx="480407" cy="493836"/>
              </a:xfrm>
              <a:custGeom>
                <a:avLst/>
                <a:gdLst/>
                <a:ahLst/>
                <a:cxnLst/>
                <a:rect l="l" t="t" r="r" b="b"/>
                <a:pathLst>
                  <a:path w="8264" h="8495" extrusionOk="0">
                    <a:moveTo>
                      <a:pt x="7999" y="7119"/>
                    </a:moveTo>
                    <a:lnTo>
                      <a:pt x="7366" y="7119"/>
                    </a:lnTo>
                    <a:lnTo>
                      <a:pt x="7366" y="6216"/>
                    </a:lnTo>
                    <a:lnTo>
                      <a:pt x="6348" y="6216"/>
                    </a:lnTo>
                    <a:lnTo>
                      <a:pt x="6348" y="5715"/>
                    </a:lnTo>
                    <a:lnTo>
                      <a:pt x="6923" y="5715"/>
                    </a:lnTo>
                    <a:cubicBezTo>
                      <a:pt x="7096" y="5715"/>
                      <a:pt x="7240" y="5571"/>
                      <a:pt x="7240" y="5399"/>
                    </a:cubicBezTo>
                    <a:lnTo>
                      <a:pt x="7240" y="4000"/>
                    </a:lnTo>
                    <a:cubicBezTo>
                      <a:pt x="7240" y="3828"/>
                      <a:pt x="7096" y="3684"/>
                      <a:pt x="6923" y="3684"/>
                    </a:cubicBezTo>
                    <a:lnTo>
                      <a:pt x="6348" y="3684"/>
                    </a:lnTo>
                    <a:lnTo>
                      <a:pt x="6348" y="2867"/>
                    </a:lnTo>
                    <a:lnTo>
                      <a:pt x="4253" y="2867"/>
                    </a:lnTo>
                    <a:lnTo>
                      <a:pt x="4253" y="2274"/>
                    </a:lnTo>
                    <a:lnTo>
                      <a:pt x="5928" y="2274"/>
                    </a:lnTo>
                    <a:cubicBezTo>
                      <a:pt x="6089" y="2274"/>
                      <a:pt x="6221" y="2141"/>
                      <a:pt x="6221" y="1975"/>
                    </a:cubicBezTo>
                    <a:lnTo>
                      <a:pt x="6221" y="294"/>
                    </a:lnTo>
                    <a:cubicBezTo>
                      <a:pt x="6221" y="133"/>
                      <a:pt x="6094" y="1"/>
                      <a:pt x="5928" y="1"/>
                    </a:cubicBezTo>
                    <a:lnTo>
                      <a:pt x="2331" y="1"/>
                    </a:lnTo>
                    <a:cubicBezTo>
                      <a:pt x="2175" y="1"/>
                      <a:pt x="2037" y="127"/>
                      <a:pt x="2037" y="294"/>
                    </a:cubicBezTo>
                    <a:lnTo>
                      <a:pt x="2037" y="1975"/>
                    </a:lnTo>
                    <a:cubicBezTo>
                      <a:pt x="2037" y="2136"/>
                      <a:pt x="2164" y="2274"/>
                      <a:pt x="2331" y="2274"/>
                    </a:cubicBezTo>
                    <a:lnTo>
                      <a:pt x="4005" y="2274"/>
                    </a:lnTo>
                    <a:lnTo>
                      <a:pt x="4005" y="2867"/>
                    </a:lnTo>
                    <a:lnTo>
                      <a:pt x="1916" y="2867"/>
                    </a:lnTo>
                    <a:lnTo>
                      <a:pt x="1916" y="3684"/>
                    </a:lnTo>
                    <a:lnTo>
                      <a:pt x="1341" y="3684"/>
                    </a:lnTo>
                    <a:cubicBezTo>
                      <a:pt x="1168" y="3684"/>
                      <a:pt x="1024" y="3828"/>
                      <a:pt x="1024" y="4000"/>
                    </a:cubicBezTo>
                    <a:lnTo>
                      <a:pt x="1024" y="5399"/>
                    </a:lnTo>
                    <a:cubicBezTo>
                      <a:pt x="1024" y="5571"/>
                      <a:pt x="1168" y="5715"/>
                      <a:pt x="1341" y="5715"/>
                    </a:cubicBezTo>
                    <a:lnTo>
                      <a:pt x="1916" y="5715"/>
                    </a:lnTo>
                    <a:lnTo>
                      <a:pt x="1916" y="6216"/>
                    </a:lnTo>
                    <a:lnTo>
                      <a:pt x="892" y="6216"/>
                    </a:lnTo>
                    <a:lnTo>
                      <a:pt x="892" y="7119"/>
                    </a:lnTo>
                    <a:lnTo>
                      <a:pt x="259" y="7119"/>
                    </a:lnTo>
                    <a:cubicBezTo>
                      <a:pt x="115" y="7119"/>
                      <a:pt x="0" y="7234"/>
                      <a:pt x="0" y="7378"/>
                    </a:cubicBezTo>
                    <a:lnTo>
                      <a:pt x="0" y="8236"/>
                    </a:lnTo>
                    <a:cubicBezTo>
                      <a:pt x="0" y="8380"/>
                      <a:pt x="115" y="8495"/>
                      <a:pt x="259" y="8495"/>
                    </a:cubicBezTo>
                    <a:lnTo>
                      <a:pt x="1778" y="8495"/>
                    </a:lnTo>
                    <a:cubicBezTo>
                      <a:pt x="1922" y="8495"/>
                      <a:pt x="2037" y="8380"/>
                      <a:pt x="2037" y="8236"/>
                    </a:cubicBezTo>
                    <a:lnTo>
                      <a:pt x="2037" y="7378"/>
                    </a:lnTo>
                    <a:cubicBezTo>
                      <a:pt x="2037" y="7234"/>
                      <a:pt x="1922" y="7119"/>
                      <a:pt x="1778" y="7119"/>
                    </a:cubicBezTo>
                    <a:lnTo>
                      <a:pt x="1145" y="7119"/>
                    </a:lnTo>
                    <a:lnTo>
                      <a:pt x="1145" y="6463"/>
                    </a:lnTo>
                    <a:lnTo>
                      <a:pt x="4005" y="6463"/>
                    </a:lnTo>
                    <a:lnTo>
                      <a:pt x="4005" y="7119"/>
                    </a:lnTo>
                    <a:lnTo>
                      <a:pt x="3372" y="7119"/>
                    </a:lnTo>
                    <a:cubicBezTo>
                      <a:pt x="3229" y="7119"/>
                      <a:pt x="3113" y="7234"/>
                      <a:pt x="3113" y="7378"/>
                    </a:cubicBezTo>
                    <a:lnTo>
                      <a:pt x="3113" y="8236"/>
                    </a:lnTo>
                    <a:cubicBezTo>
                      <a:pt x="3113" y="8380"/>
                      <a:pt x="3229" y="8495"/>
                      <a:pt x="3372" y="8495"/>
                    </a:cubicBezTo>
                    <a:lnTo>
                      <a:pt x="4892" y="8495"/>
                    </a:lnTo>
                    <a:cubicBezTo>
                      <a:pt x="5036" y="8495"/>
                      <a:pt x="5151" y="8380"/>
                      <a:pt x="5151" y="8236"/>
                    </a:cubicBezTo>
                    <a:lnTo>
                      <a:pt x="5151" y="7378"/>
                    </a:lnTo>
                    <a:cubicBezTo>
                      <a:pt x="5151" y="7234"/>
                      <a:pt x="5036" y="7119"/>
                      <a:pt x="4892" y="7119"/>
                    </a:cubicBezTo>
                    <a:lnTo>
                      <a:pt x="4259" y="7119"/>
                    </a:lnTo>
                    <a:lnTo>
                      <a:pt x="4259" y="6463"/>
                    </a:lnTo>
                    <a:lnTo>
                      <a:pt x="7119" y="6463"/>
                    </a:lnTo>
                    <a:lnTo>
                      <a:pt x="7119" y="7119"/>
                    </a:lnTo>
                    <a:lnTo>
                      <a:pt x="6486" y="7119"/>
                    </a:lnTo>
                    <a:cubicBezTo>
                      <a:pt x="6342" y="7119"/>
                      <a:pt x="6227" y="7234"/>
                      <a:pt x="6227" y="7378"/>
                    </a:cubicBezTo>
                    <a:lnTo>
                      <a:pt x="6227" y="8236"/>
                    </a:lnTo>
                    <a:cubicBezTo>
                      <a:pt x="6227" y="8380"/>
                      <a:pt x="6342" y="8495"/>
                      <a:pt x="6486" y="8495"/>
                    </a:cubicBezTo>
                    <a:lnTo>
                      <a:pt x="8005" y="8495"/>
                    </a:lnTo>
                    <a:cubicBezTo>
                      <a:pt x="8149" y="8495"/>
                      <a:pt x="8264" y="8380"/>
                      <a:pt x="8264" y="8236"/>
                    </a:cubicBezTo>
                    <a:lnTo>
                      <a:pt x="8264" y="7378"/>
                    </a:lnTo>
                    <a:cubicBezTo>
                      <a:pt x="8264" y="7234"/>
                      <a:pt x="8143" y="7119"/>
                      <a:pt x="7999" y="7119"/>
                    </a:cubicBezTo>
                    <a:close/>
                    <a:moveTo>
                      <a:pt x="2164" y="6216"/>
                    </a:moveTo>
                    <a:lnTo>
                      <a:pt x="2164" y="5715"/>
                    </a:lnTo>
                    <a:lnTo>
                      <a:pt x="2739" y="5715"/>
                    </a:lnTo>
                    <a:cubicBezTo>
                      <a:pt x="2912" y="5715"/>
                      <a:pt x="3056" y="5571"/>
                      <a:pt x="3056" y="5399"/>
                    </a:cubicBezTo>
                    <a:lnTo>
                      <a:pt x="3056" y="4000"/>
                    </a:lnTo>
                    <a:cubicBezTo>
                      <a:pt x="3056" y="3828"/>
                      <a:pt x="2912" y="3684"/>
                      <a:pt x="2739" y="3684"/>
                    </a:cubicBezTo>
                    <a:lnTo>
                      <a:pt x="2164" y="3684"/>
                    </a:lnTo>
                    <a:lnTo>
                      <a:pt x="2164" y="3120"/>
                    </a:lnTo>
                    <a:lnTo>
                      <a:pt x="6100" y="3120"/>
                    </a:lnTo>
                    <a:lnTo>
                      <a:pt x="6100" y="3684"/>
                    </a:lnTo>
                    <a:lnTo>
                      <a:pt x="5525" y="3684"/>
                    </a:lnTo>
                    <a:cubicBezTo>
                      <a:pt x="5352" y="3684"/>
                      <a:pt x="5208" y="3828"/>
                      <a:pt x="5208" y="4000"/>
                    </a:cubicBezTo>
                    <a:lnTo>
                      <a:pt x="5208" y="5399"/>
                    </a:lnTo>
                    <a:cubicBezTo>
                      <a:pt x="5208" y="5571"/>
                      <a:pt x="5352" y="5715"/>
                      <a:pt x="5525" y="5715"/>
                    </a:cubicBezTo>
                    <a:lnTo>
                      <a:pt x="6100" y="5715"/>
                    </a:lnTo>
                    <a:lnTo>
                      <a:pt x="6100" y="621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47"/>
              <p:cNvSpPr/>
              <p:nvPr/>
            </p:nvSpPr>
            <p:spPr>
              <a:xfrm>
                <a:off x="6583703" y="1728446"/>
                <a:ext cx="289442" cy="354318"/>
              </a:xfrm>
              <a:custGeom>
                <a:avLst/>
                <a:gdLst/>
                <a:ahLst/>
                <a:cxnLst/>
                <a:rect l="l" t="t" r="r" b="b"/>
                <a:pathLst>
                  <a:path w="4979" h="6095" extrusionOk="0">
                    <a:moveTo>
                      <a:pt x="4979" y="403"/>
                    </a:moveTo>
                    <a:cubicBezTo>
                      <a:pt x="4979" y="628"/>
                      <a:pt x="3862" y="806"/>
                      <a:pt x="2493" y="806"/>
                    </a:cubicBezTo>
                    <a:cubicBezTo>
                      <a:pt x="1117" y="806"/>
                      <a:pt x="1" y="628"/>
                      <a:pt x="1" y="403"/>
                    </a:cubicBezTo>
                    <a:cubicBezTo>
                      <a:pt x="1" y="179"/>
                      <a:pt x="1117" y="1"/>
                      <a:pt x="2493" y="1"/>
                    </a:cubicBezTo>
                    <a:cubicBezTo>
                      <a:pt x="3862" y="1"/>
                      <a:pt x="4979" y="179"/>
                      <a:pt x="4979" y="403"/>
                    </a:cubicBezTo>
                    <a:close/>
                    <a:moveTo>
                      <a:pt x="4979" y="847"/>
                    </a:moveTo>
                    <a:lnTo>
                      <a:pt x="4979" y="2164"/>
                    </a:lnTo>
                    <a:cubicBezTo>
                      <a:pt x="4979" y="2389"/>
                      <a:pt x="3862" y="2567"/>
                      <a:pt x="2493" y="2567"/>
                    </a:cubicBezTo>
                    <a:cubicBezTo>
                      <a:pt x="1117" y="2567"/>
                      <a:pt x="1" y="2389"/>
                      <a:pt x="1" y="2164"/>
                    </a:cubicBezTo>
                    <a:lnTo>
                      <a:pt x="1" y="847"/>
                    </a:lnTo>
                    <a:cubicBezTo>
                      <a:pt x="1" y="1071"/>
                      <a:pt x="1117" y="1249"/>
                      <a:pt x="2493" y="1249"/>
                    </a:cubicBezTo>
                    <a:cubicBezTo>
                      <a:pt x="3862" y="1249"/>
                      <a:pt x="4979" y="1071"/>
                      <a:pt x="4979" y="847"/>
                    </a:cubicBezTo>
                    <a:close/>
                    <a:moveTo>
                      <a:pt x="4599" y="1796"/>
                    </a:moveTo>
                    <a:cubicBezTo>
                      <a:pt x="4599" y="1692"/>
                      <a:pt x="4513" y="1606"/>
                      <a:pt x="4403" y="1606"/>
                    </a:cubicBezTo>
                    <a:cubicBezTo>
                      <a:pt x="4294" y="1606"/>
                      <a:pt x="4208" y="1692"/>
                      <a:pt x="4208" y="1796"/>
                    </a:cubicBezTo>
                    <a:cubicBezTo>
                      <a:pt x="4208" y="1905"/>
                      <a:pt x="4294" y="1992"/>
                      <a:pt x="4403" y="1992"/>
                    </a:cubicBezTo>
                    <a:cubicBezTo>
                      <a:pt x="4513" y="1992"/>
                      <a:pt x="4599" y="1905"/>
                      <a:pt x="4599" y="1796"/>
                    </a:cubicBezTo>
                    <a:close/>
                    <a:moveTo>
                      <a:pt x="4979" y="2613"/>
                    </a:moveTo>
                    <a:lnTo>
                      <a:pt x="4979" y="3925"/>
                    </a:lnTo>
                    <a:cubicBezTo>
                      <a:pt x="4979" y="4150"/>
                      <a:pt x="3862" y="4328"/>
                      <a:pt x="2493" y="4328"/>
                    </a:cubicBezTo>
                    <a:cubicBezTo>
                      <a:pt x="1117" y="4328"/>
                      <a:pt x="1" y="4150"/>
                      <a:pt x="1" y="3925"/>
                    </a:cubicBezTo>
                    <a:lnTo>
                      <a:pt x="1" y="2613"/>
                    </a:lnTo>
                    <a:cubicBezTo>
                      <a:pt x="1" y="2832"/>
                      <a:pt x="1117" y="3016"/>
                      <a:pt x="2493" y="3016"/>
                    </a:cubicBezTo>
                    <a:cubicBezTo>
                      <a:pt x="3862" y="3016"/>
                      <a:pt x="4979" y="2832"/>
                      <a:pt x="4979" y="2613"/>
                    </a:cubicBezTo>
                    <a:close/>
                    <a:moveTo>
                      <a:pt x="4599" y="3563"/>
                    </a:moveTo>
                    <a:cubicBezTo>
                      <a:pt x="4599" y="3453"/>
                      <a:pt x="4513" y="3367"/>
                      <a:pt x="4403" y="3367"/>
                    </a:cubicBezTo>
                    <a:cubicBezTo>
                      <a:pt x="4294" y="3367"/>
                      <a:pt x="4208" y="3453"/>
                      <a:pt x="4208" y="3563"/>
                    </a:cubicBezTo>
                    <a:cubicBezTo>
                      <a:pt x="4208" y="3666"/>
                      <a:pt x="4294" y="3753"/>
                      <a:pt x="4403" y="3753"/>
                    </a:cubicBezTo>
                    <a:cubicBezTo>
                      <a:pt x="4513" y="3753"/>
                      <a:pt x="4599" y="3666"/>
                      <a:pt x="4599" y="3563"/>
                    </a:cubicBezTo>
                    <a:close/>
                    <a:moveTo>
                      <a:pt x="4979" y="4374"/>
                    </a:moveTo>
                    <a:lnTo>
                      <a:pt x="4979" y="5692"/>
                    </a:lnTo>
                    <a:cubicBezTo>
                      <a:pt x="4979" y="5911"/>
                      <a:pt x="3862" y="6095"/>
                      <a:pt x="2493" y="6095"/>
                    </a:cubicBezTo>
                    <a:cubicBezTo>
                      <a:pt x="1117" y="6095"/>
                      <a:pt x="1" y="5911"/>
                      <a:pt x="1" y="5692"/>
                    </a:cubicBezTo>
                    <a:lnTo>
                      <a:pt x="1" y="4374"/>
                    </a:lnTo>
                    <a:cubicBezTo>
                      <a:pt x="1" y="4599"/>
                      <a:pt x="1117" y="4777"/>
                      <a:pt x="2493" y="4777"/>
                    </a:cubicBezTo>
                    <a:cubicBezTo>
                      <a:pt x="3862" y="4777"/>
                      <a:pt x="4979" y="4599"/>
                      <a:pt x="4979" y="4374"/>
                    </a:cubicBezTo>
                    <a:close/>
                    <a:moveTo>
                      <a:pt x="4599" y="5324"/>
                    </a:moveTo>
                    <a:cubicBezTo>
                      <a:pt x="4599" y="5214"/>
                      <a:pt x="4513" y="5128"/>
                      <a:pt x="4403" y="5128"/>
                    </a:cubicBezTo>
                    <a:cubicBezTo>
                      <a:pt x="4294" y="5128"/>
                      <a:pt x="4208" y="5214"/>
                      <a:pt x="4208" y="5324"/>
                    </a:cubicBezTo>
                    <a:cubicBezTo>
                      <a:pt x="4208" y="5433"/>
                      <a:pt x="4294" y="5519"/>
                      <a:pt x="4403" y="5519"/>
                    </a:cubicBezTo>
                    <a:cubicBezTo>
                      <a:pt x="4513" y="5519"/>
                      <a:pt x="4599" y="5433"/>
                      <a:pt x="4599" y="53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0" name="Google Shape;850;p47"/>
            <p:cNvGrpSpPr/>
            <p:nvPr/>
          </p:nvGrpSpPr>
          <p:grpSpPr>
            <a:xfrm>
              <a:off x="6440272" y="769535"/>
              <a:ext cx="1749455" cy="858630"/>
              <a:chOff x="6440272" y="769535"/>
              <a:chExt cx="1749455" cy="858630"/>
            </a:xfrm>
          </p:grpSpPr>
          <p:sp>
            <p:nvSpPr>
              <p:cNvPr id="851" name="Google Shape;851;p47"/>
              <p:cNvSpPr/>
              <p:nvPr/>
            </p:nvSpPr>
            <p:spPr>
              <a:xfrm rot="-5400000">
                <a:off x="7670622" y="769535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7"/>
              <p:cNvSpPr/>
              <p:nvPr/>
            </p:nvSpPr>
            <p:spPr>
              <a:xfrm rot="-5400000">
                <a:off x="6440272" y="128222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47"/>
              <p:cNvSpPr/>
              <p:nvPr/>
            </p:nvSpPr>
            <p:spPr>
              <a:xfrm rot="-5400000">
                <a:off x="7176684" y="923603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47"/>
              <p:cNvSpPr/>
              <p:nvPr/>
            </p:nvSpPr>
            <p:spPr>
              <a:xfrm rot="-5400000">
                <a:off x="7983672" y="1422110"/>
                <a:ext cx="206055" cy="206055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47"/>
              <p:cNvSpPr/>
              <p:nvPr/>
            </p:nvSpPr>
            <p:spPr>
              <a:xfrm rot="-5400000">
                <a:off x="7703709" y="1244278"/>
                <a:ext cx="139874" cy="13987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6" name="Google Shape;856;p47"/>
            <p:cNvSpPr/>
            <p:nvPr/>
          </p:nvSpPr>
          <p:spPr>
            <a:xfrm>
              <a:off x="8189731" y="2120047"/>
              <a:ext cx="412338" cy="411893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7"/>
            <p:cNvSpPr/>
            <p:nvPr/>
          </p:nvSpPr>
          <p:spPr>
            <a:xfrm>
              <a:off x="7235030" y="2898432"/>
              <a:ext cx="259947" cy="259667"/>
            </a:xfrm>
            <a:custGeom>
              <a:avLst/>
              <a:gdLst/>
              <a:ahLst/>
              <a:cxnLst/>
              <a:rect l="l" t="t" r="r" b="b"/>
              <a:pathLst>
                <a:path w="6493" h="6486" fill="none" extrusionOk="0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w="19050" cap="flat" cmpd="sng">
              <a:solidFill>
                <a:schemeClr val="dk2"/>
              </a:solidFill>
              <a:prstDash val="solid"/>
              <a:miter lim="575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3725</TotalTime>
  <Words>1294</Words>
  <Application>Microsoft Macintosh PowerPoint</Application>
  <PresentationFormat>Presentación en pantalla (16:9)</PresentationFormat>
  <Paragraphs>285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7" baseType="lpstr">
      <vt:lpstr>Lucida Console</vt:lpstr>
      <vt:lpstr>Sora</vt:lpstr>
      <vt:lpstr>Symbol</vt:lpstr>
      <vt:lpstr>Arial</vt:lpstr>
      <vt:lpstr>Arial Narrow</vt:lpstr>
      <vt:lpstr>Times New Roman</vt:lpstr>
      <vt:lpstr>Wingdings</vt:lpstr>
      <vt:lpstr>Lato</vt:lpstr>
      <vt:lpstr>AI Essentials Workshop by Slidesgo</vt:lpstr>
      <vt:lpstr>Aprendizaje de maquina</vt:lpstr>
      <vt:lpstr>Regresiones</vt:lpstr>
      <vt:lpstr>Agrupamiento</vt:lpstr>
      <vt:lpstr>Agrupamiento</vt:lpstr>
      <vt:lpstr>Agrupamiento</vt:lpstr>
      <vt:lpstr>Árboles de decisión</vt:lpstr>
      <vt:lpstr>RN Perceptrón</vt:lpstr>
      <vt:lpstr>RN Perceptrón</vt:lpstr>
      <vt:lpstr>RN Perceptrón</vt:lpstr>
      <vt:lpstr>RN MultiCapa</vt:lpstr>
      <vt:lpstr>SVM</vt:lpstr>
      <vt:lpstr>SVM</vt:lpstr>
      <vt:lpstr>SVM</vt:lpstr>
      <vt:lpstr>Aprendizaje Lazy</vt:lpstr>
      <vt:lpstr>Aprendizaje por Refuerzo</vt:lpstr>
      <vt:lpstr>Aprendizaje por Refuerzo</vt:lpstr>
      <vt:lpstr>Aprendizaje por Refuerzo</vt:lpstr>
      <vt:lpstr>Aprendizaje por Refuerzo</vt:lpstr>
      <vt:lpstr>Aprendizaje por Refuerzo</vt:lpstr>
      <vt:lpstr>Aprendizaje por Refuerzo</vt:lpstr>
      <vt:lpstr>Aprendizaje por Refuerzo</vt:lpstr>
      <vt:lpstr>Aprendizaje por Refuerzo</vt:lpstr>
      <vt:lpstr>Aprendizaje por Refuerzo</vt:lpstr>
      <vt:lpstr>Métodos de Ensamble</vt:lpstr>
      <vt:lpstr>Métodos de Ensamble</vt:lpstr>
      <vt:lpstr>Material complementario</vt:lpstr>
      <vt:lpstr>Exposiciones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Laura Juliana Mora Paez</cp:lastModifiedBy>
  <cp:revision>2</cp:revision>
  <dcterms:modified xsi:type="dcterms:W3CDTF">2026-05-07T13:02:53Z</dcterms:modified>
</cp:coreProperties>
</file>