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BF736-8C70-4631-A3AC-6DB60BDB0D4E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09E149-DCED-4465-AF39-4C04C6C76E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969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9E149-DCED-4465-AF39-4C04C6C76E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3987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9F0F-C276-0F9D-FB77-0A49845B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A21481-3076-B050-ED33-6FF2B5DF1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C67AE08-5E37-4C10-65E2-48E72B86F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93FC14-1FCC-5CB0-38EE-B1510F64F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838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1BFD8-37D8-51A7-0241-1D98A18C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B615E4E-2F79-5610-0DA1-498E4F5B5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51F554-9683-A1AB-F1EB-AAD8937F3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FBF59E-3A2F-0DA7-F715-D0B89988D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883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1FC1-6E3E-B873-FB32-71B6FBFC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DFDA282-A053-6D0D-3EAE-0F04DEF24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69A68B-981F-322E-6536-1C6A62F4B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A10CD8-E7F6-BEF6-A275-9B73AC57A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917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4BE4-BABC-24B7-EB6F-AE1C2F3B0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CF22D8-2C73-8A34-D275-C70AE2C6A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23C457-94A3-0F2C-C42E-7A69F6584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940CA3-4B07-1AB9-189C-D6A7C4FE5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0353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D0C92-C432-B9DA-7CF8-F46D9FF9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0E2C74-E72F-E565-0D3C-B7565D516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393A2D-7175-A8A7-3E65-5B6222884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E7FE7F-5438-D866-870A-DEAF3FB7D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355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1B20-3F9A-AE1F-11BE-0C70C4A3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907C23-048D-1118-B92C-9373B9F06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D46F3D-8A89-89A4-ECAA-9EB2EB933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27E8A3-C1F6-2766-565C-D13194398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63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B8DE-6D94-7ABF-B060-1880A7B0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506B75-7A86-C0E8-FC09-97407423D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46D85F-DD4E-C5CF-B7E8-1EBCAF94A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0312B5-CE0C-77A8-3381-C6C0C2F77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208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200" i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𝑇</m:t>
                      </m:r>
                      <m:d>
                        <m:dPr>
                          <m:ctrlPr>
                            <a:rPr lang="es-CO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s-CO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</m:d>
                      <m:r>
                        <a:rPr lang="es-CO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es-CO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2</m:t>
                      </m:r>
                      <m:r>
                        <a:rPr lang="es-CO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𝑇</m:t>
                      </m:r>
                      <m:d>
                        <m:dPr>
                          <m:ctrlPr>
                            <a:rPr lang="es-CO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s-CO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s-CO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lang="es-CO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</m:d>
                      <m:r>
                        <a:rPr lang="es-CO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es-CO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𝑇(𝑛)=2𝑇(𝑛/2)+1</a:t>
                </a:r>
                <a:endParaRPr lang="es-CO" dirty="0"/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9E149-DCED-4465-AF39-4C04C6C76E78}" type="slidenum">
              <a:rPr lang="es-CO" smtClean="0"/>
              <a:t>41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781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8F2D8-A646-8C7E-7297-723D3D88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BA0DB98-6E96-2EA2-5739-037D79D6B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27DE7BFE-5CA4-2A72-EA75-8B38AE6952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mtClean="0"/>
                        <m:t>T</m:t>
                      </m:r>
                      <m:r>
                        <m:rPr>
                          <m:nor/>
                        </m:rPr>
                        <a:rPr lang="es-CO" smtClean="0"/>
                        <m:t>(</m:t>
                      </m:r>
                      <m:r>
                        <m:rPr>
                          <m:nor/>
                        </m:rPr>
                        <a:rPr lang="es-CO" smtClean="0"/>
                        <m:t>n</m:t>
                      </m:r>
                      <m:r>
                        <m:rPr>
                          <m:nor/>
                        </m:rPr>
                        <a:rPr lang="es-CO" smtClean="0"/>
                        <m:t>)=</m:t>
                      </m:r>
                      <m:r>
                        <m:rPr>
                          <m:nor/>
                        </m:rPr>
                        <a:rPr lang="es-CO" smtClean="0"/>
                        <m:t>2</m:t>
                      </m:r>
                      <m:r>
                        <m:rPr>
                          <m:nor/>
                        </m:rPr>
                        <a:rPr lang="es-CO" smtClean="0"/>
                        <m:t>T</m:t>
                      </m:r>
                      <m:r>
                        <m:rPr>
                          <m:nor/>
                        </m:rPr>
                        <a:rPr lang="es-CO" smtClean="0"/>
                        <m:t>(</m:t>
                      </m:r>
                      <m:r>
                        <m:rPr>
                          <m:nor/>
                        </m:rPr>
                        <a:rPr lang="es-CO" smtClean="0"/>
                        <m:t>n</m:t>
                      </m:r>
                      <m:r>
                        <m:rPr>
                          <m:nor/>
                        </m:rPr>
                        <a:rPr lang="es-CO" smtClean="0"/>
                        <m:t>/</m:t>
                      </m:r>
                      <m:r>
                        <m:rPr>
                          <m:nor/>
                        </m:rPr>
                        <a:rPr lang="es-CO" smtClean="0"/>
                        <m:t>2</m:t>
                      </m:r>
                      <m:r>
                        <m:rPr>
                          <m:nor/>
                        </m:rPr>
                        <a:rPr lang="es-CO" smtClean="0"/>
                        <m:t>)+</m:t>
                      </m:r>
                      <m:r>
                        <m:rPr>
                          <m:nor/>
                        </m:rPr>
                        <a:rPr lang="es-CO" smtClean="0"/>
                        <m:t>n</m:t>
                      </m:r>
                      <m:r>
                        <m:rPr>
                          <m:nor/>
                        </m:rPr>
                        <a:rPr lang="es-CO" smtClean="0"/>
                        <m:t> </m:t>
                      </m:r>
                      <m:r>
                        <m:rPr>
                          <m:nor/>
                        </m:rPr>
                        <a:rPr lang="es-CO" smtClean="0"/>
                        <m:t>→ </m:t>
                      </m:r>
                      <m:r>
                        <m:rPr>
                          <m:sty m:val="p"/>
                        </m:rPr>
                        <a:rPr lang="el-G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Θ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  <m:func>
                            <m:func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O" sz="120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27DE7BFE-5CA4-2A72-EA75-8B38AE6952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O" i="0">
                    <a:latin typeface="Cambria Math" panose="02040503050406030204" pitchFamily="18" charset="0"/>
                  </a:rPr>
                  <a:t>"T(n)=2T(n/2)+n → 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(𝑛</a:t>
                </a:r>
                <a:r>
                  <a:rPr lang="es-C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log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⁡𝑛 )</a:t>
                </a:r>
                <a:endParaRPr lang="es-CO" dirty="0"/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32685D-2D71-463A-8B1B-E908B1711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16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65AE7-BEEB-357D-62A5-C2791539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89BA7A-0BA3-2825-2532-D7508BF26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14FBCD18-9343-7E0C-AC3C-AB481D72CE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mtClean="0"/>
                        <m:t>T</m:t>
                      </m:r>
                      <m:r>
                        <m:rPr>
                          <m:nor/>
                        </m:rPr>
                        <a:rPr lang="es-CO" smtClean="0"/>
                        <m:t>(</m:t>
                      </m:r>
                      <m:r>
                        <m:rPr>
                          <m:nor/>
                        </m:rPr>
                        <a:rPr lang="es-CO" smtClean="0"/>
                        <m:t>n</m:t>
                      </m:r>
                      <m:r>
                        <m:rPr>
                          <m:nor/>
                        </m:rPr>
                        <a:rPr lang="es-CO" smtClean="0"/>
                        <m:t>)=</m:t>
                      </m:r>
                      <m:r>
                        <m:rPr>
                          <m:nor/>
                        </m:rPr>
                        <a:rPr lang="es-CO" smtClean="0"/>
                        <m:t>2</m:t>
                      </m:r>
                      <m:r>
                        <m:rPr>
                          <m:nor/>
                        </m:rPr>
                        <a:rPr lang="es-CO" smtClean="0"/>
                        <m:t>T</m:t>
                      </m:r>
                      <m:r>
                        <m:rPr>
                          <m:nor/>
                        </m:rPr>
                        <a:rPr lang="es-CO" smtClean="0"/>
                        <m:t>(</m:t>
                      </m:r>
                      <m:r>
                        <m:rPr>
                          <m:nor/>
                        </m:rPr>
                        <a:rPr lang="es-CO" smtClean="0"/>
                        <m:t>n</m:t>
                      </m:r>
                      <m:r>
                        <m:rPr>
                          <m:nor/>
                        </m:rPr>
                        <a:rPr lang="es-CO" smtClean="0"/>
                        <m:t>/</m:t>
                      </m:r>
                      <m:r>
                        <m:rPr>
                          <m:nor/>
                        </m:rPr>
                        <a:rPr lang="es-CO" smtClean="0"/>
                        <m:t>2</m:t>
                      </m:r>
                      <m:r>
                        <m:rPr>
                          <m:nor/>
                        </m:rPr>
                        <a:rPr lang="es-CO" smtClean="0"/>
                        <m:t>)+</m:t>
                      </m:r>
                      <m:r>
                        <m:rPr>
                          <m:nor/>
                        </m:rPr>
                        <a:rPr lang="es-CO" smtClean="0"/>
                        <m:t>n</m:t>
                      </m:r>
                      <m:r>
                        <m:rPr>
                          <m:nor/>
                        </m:rPr>
                        <a:rPr lang="es-CO" smtClean="0"/>
                        <m:t>2 </m:t>
                      </m:r>
                      <m:r>
                        <m:rPr>
                          <m:nor/>
                        </m:rPr>
                        <a:rPr lang="es-CO" smtClean="0"/>
                        <m:t>→ </m:t>
                      </m:r>
                      <m:r>
                        <m:rPr>
                          <m:sty m:val="p"/>
                        </m:rPr>
                        <a:rPr lang="el-G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Θ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14FBCD18-9343-7E0C-AC3C-AB481D72CE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O" i="0">
                    <a:latin typeface="Cambria Math" panose="02040503050406030204" pitchFamily="18" charset="0"/>
                  </a:rPr>
                  <a:t>"T(n)=2T(n/2)+n2 → 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(𝑛^2 )</a:t>
                </a:r>
                <a:endParaRPr lang="es-CO" dirty="0"/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CC3629-AAAA-DE97-376D-9D5B47004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70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AAFB-FB3C-1347-5B67-72B94B9F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A3F9F5-9920-1089-80F8-2C9056700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14EAA5A9-0EE9-901B-DE00-4960E978B8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mtClean="0"/>
                        <m:t>¿</m:t>
                      </m:r>
                      <m:r>
                        <m:rPr>
                          <m:nor/>
                        </m:rPr>
                        <a:rPr lang="es-CO" smtClean="0"/>
                        <m:t>Cu</m:t>
                      </m:r>
                      <m:r>
                        <m:rPr>
                          <m:nor/>
                        </m:rPr>
                        <a:rPr lang="es-CO" smtClean="0"/>
                        <m:t>á</m:t>
                      </m:r>
                      <m:r>
                        <m:rPr>
                          <m:nor/>
                        </m:rPr>
                        <a:rPr lang="es-CO" smtClean="0"/>
                        <m:t>l</m:t>
                      </m:r>
                      <m:r>
                        <m:rPr>
                          <m:nor/>
                        </m:rPr>
                        <a:rPr lang="es-CO" smtClean="0"/>
                        <m:t> </m:t>
                      </m:r>
                      <m:r>
                        <m:rPr>
                          <m:nor/>
                        </m:rPr>
                        <a:rPr lang="es-CO" smtClean="0"/>
                        <m:t>es</m:t>
                      </m:r>
                      <m:r>
                        <m:rPr>
                          <m:nor/>
                        </m:rPr>
                        <a:rPr lang="es-CO" smtClean="0"/>
                        <m:t> </m:t>
                      </m:r>
                      <m:r>
                        <a:rPr lang="es-CO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𝑎</m:t>
                      </m:r>
                      <m:r>
                        <m:rPr>
                          <m:nor/>
                        </m:rPr>
                        <a:rPr lang="es-CO"/>
                        <m:t>? (</m:t>
                      </m:r>
                      <m:r>
                        <m:rPr>
                          <m:nor/>
                        </m:rPr>
                        <a:rPr lang="es-CO"/>
                        <m:t>1</m:t>
                      </m:r>
                      <m:r>
                        <m:rPr>
                          <m:nor/>
                        </m:rPr>
                        <a:rPr lang="es-CO"/>
                        <m:t>)</m:t>
                      </m:r>
                    </m:oMath>
                  </m:oMathPara>
                </a14:m>
                <a:endParaRPr lang="es-CO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/>
                        <m:t>¿</m:t>
                      </m:r>
                      <m:r>
                        <m:rPr>
                          <m:nor/>
                        </m:rPr>
                        <a:rPr lang="es-CO"/>
                        <m:t>Cu</m:t>
                      </m:r>
                      <m:r>
                        <m:rPr>
                          <m:nor/>
                        </m:rPr>
                        <a:rPr lang="es-CO"/>
                        <m:t>á</m:t>
                      </m:r>
                      <m:r>
                        <m:rPr>
                          <m:nor/>
                        </m:rPr>
                        <a:rPr lang="es-CO"/>
                        <m:t>l</m:t>
                      </m:r>
                      <m:r>
                        <m:rPr>
                          <m:nor/>
                        </m:rPr>
                        <a:rPr lang="es-CO"/>
                        <m:t> </m:t>
                      </m:r>
                      <m:r>
                        <m:rPr>
                          <m:nor/>
                        </m:rPr>
                        <a:rPr lang="es-CO"/>
                        <m:t>es</m:t>
                      </m:r>
                      <m:r>
                        <m:rPr>
                          <m:nor/>
                        </m:rPr>
                        <a:rPr lang="es-CO"/>
                        <m:t> </m:t>
                      </m:r>
                      <m:r>
                        <a:rPr lang="es-CO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𝑏</m:t>
                      </m:r>
                      <m:r>
                        <m:rPr>
                          <m:nor/>
                        </m:rPr>
                        <a:rPr lang="es-CO"/>
                        <m:t>? (</m:t>
                      </m:r>
                      <m:r>
                        <m:rPr>
                          <m:nor/>
                        </m:rPr>
                        <a:rPr lang="es-CO"/>
                        <m:t>2</m:t>
                      </m:r>
                      <m:r>
                        <m:rPr>
                          <m:nor/>
                        </m:rPr>
                        <a:rPr lang="es-CO"/>
                        <m:t>)</m:t>
                      </m:r>
                    </m:oMath>
                  </m:oMathPara>
                </a14:m>
                <a:endParaRPr lang="es-CO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/>
                        <m:t>¿</m:t>
                      </m:r>
                      <m:r>
                        <m:rPr>
                          <m:nor/>
                        </m:rPr>
                        <a:rPr lang="es-CO"/>
                        <m:t>Cu</m:t>
                      </m:r>
                      <m:r>
                        <m:rPr>
                          <m:nor/>
                        </m:rPr>
                        <a:rPr lang="es-CO"/>
                        <m:t>á</m:t>
                      </m:r>
                      <m:r>
                        <m:rPr>
                          <m:nor/>
                        </m:rPr>
                        <a:rPr lang="es-CO"/>
                        <m:t>l</m:t>
                      </m:r>
                      <m:r>
                        <m:rPr>
                          <m:nor/>
                        </m:rPr>
                        <a:rPr lang="es-CO"/>
                        <m:t> </m:t>
                      </m:r>
                      <m:r>
                        <m:rPr>
                          <m:nor/>
                        </m:rPr>
                        <a:rPr lang="es-CO"/>
                        <m:t>es</m:t>
                      </m:r>
                      <m:r>
                        <m:rPr>
                          <m:nor/>
                        </m:rPr>
                        <a:rPr lang="es-CO"/>
                        <m:t> </m:t>
                      </m:r>
                      <m:r>
                        <a:rPr lang="es-CO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</m:d>
                      <m:r>
                        <m:rPr>
                          <m:nor/>
                        </m:rPr>
                        <a:rPr lang="ar-AE"/>
                        <m:t>? (</m:t>
                      </m:r>
                      <m:r>
                        <m:rPr>
                          <m:nor/>
                        </m:rPr>
                        <a:rPr lang="ar-AE"/>
                        <m:t>1</m:t>
                      </m:r>
                      <m:r>
                        <m:rPr>
                          <m:nor/>
                        </m:rPr>
                        <a:rPr lang="ar-AE"/>
                        <m:t>)</m:t>
                      </m:r>
                    </m:oMath>
                  </m:oMathPara>
                </a14:m>
                <a:endParaRPr lang="ar-AE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/>
                        <m:t>concluir</m:t>
                      </m:r>
                      <m:r>
                        <m:rPr>
                          <m:nor/>
                        </m:rPr>
                        <a:rPr lang="es-CO"/>
                        <m:t>: </m:t>
                      </m:r>
                      <m:r>
                        <a:rPr lang="es-CO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𝑇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𝑇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𝑂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ar-AE"/>
                        <m:t>→ </m:t>
                      </m:r>
                      <m:r>
                        <m:rPr>
                          <m:sty m:val="p"/>
                        </m:rPr>
                        <a:rPr lang="el-G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Θ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O" sz="120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14EAA5A9-0EE9-901B-DE00-4960E978B8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O" i="0">
                    <a:latin typeface="Cambria Math" panose="02040503050406030204" pitchFamily="18" charset="0"/>
                  </a:rPr>
                  <a:t>"¿Cuál es </a:t>
                </a:r>
                <a:r>
                  <a:rPr lang="es-C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𝑎</a:t>
                </a:r>
                <a:r>
                  <a:rPr lang="es-CO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</a:t>
                </a:r>
                <a:r>
                  <a:rPr lang="es-CO" i="0">
                    <a:latin typeface="Cambria Math" panose="02040503050406030204" pitchFamily="18" charset="0"/>
                  </a:rPr>
                  <a:t>? (1)</a:t>
                </a:r>
                <a:r>
                  <a:rPr lang="es-CO" i="0"/>
                  <a:t>"</a:t>
                </a:r>
                <a:endParaRPr lang="es-CO" dirty="0"/>
              </a:p>
              <a:p>
                <a:r>
                  <a:rPr lang="es-CO" i="0">
                    <a:latin typeface="Cambria Math" panose="02040503050406030204" pitchFamily="18" charset="0"/>
                  </a:rPr>
                  <a:t>"¿Cuál es </a:t>
                </a:r>
                <a:r>
                  <a:rPr lang="es-C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𝑏</a:t>
                </a:r>
                <a:r>
                  <a:rPr lang="es-CO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</a:t>
                </a:r>
                <a:r>
                  <a:rPr lang="es-CO" i="0">
                    <a:latin typeface="Cambria Math" panose="02040503050406030204" pitchFamily="18" charset="0"/>
                  </a:rPr>
                  <a:t>? (2)</a:t>
                </a:r>
                <a:r>
                  <a:rPr lang="es-CO" i="0"/>
                  <a:t>"</a:t>
                </a:r>
                <a:endParaRPr lang="es-CO" dirty="0"/>
              </a:p>
              <a:p>
                <a:r>
                  <a:rPr lang="es-CO" i="0">
                    <a:latin typeface="Cambria Math" panose="02040503050406030204" pitchFamily="18" charset="0"/>
                  </a:rPr>
                  <a:t>"¿Cuál es </a:t>
                </a:r>
                <a:r>
                  <a:rPr lang="es-C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𝑓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(𝑛)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</a:t>
                </a:r>
                <a:r>
                  <a:rPr lang="ar-AE" i="0">
                    <a:latin typeface="Cambria Math" panose="02040503050406030204" pitchFamily="18" charset="0"/>
                  </a:rPr>
                  <a:t>? (1)</a:t>
                </a:r>
                <a:r>
                  <a:rPr lang="es-CO" i="0"/>
                  <a:t>"</a:t>
                </a:r>
                <a:endParaRPr lang="ar-AE" dirty="0"/>
              </a:p>
              <a:p>
                <a:r>
                  <a:rPr lang="es-CO" i="0">
                    <a:latin typeface="Cambria Math" panose="02040503050406030204" pitchFamily="18" charset="0"/>
                  </a:rPr>
                  <a:t>"concluir: </a:t>
                </a:r>
                <a:r>
                  <a:rPr lang="es-C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𝑇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(𝑛)=𝑇(𝑛/2)+𝑂(1)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</a:t>
                </a:r>
                <a:r>
                  <a:rPr lang="ar-AE" i="0">
                    <a:latin typeface="Cambria Math" panose="02040503050406030204" pitchFamily="18" charset="0"/>
                  </a:rPr>
                  <a:t>→ 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s-C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⁡𝑛 )</a:t>
                </a:r>
                <a:endParaRPr lang="ar-AE" dirty="0"/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6E2F1D-B6D6-2210-0EBD-E7EAE2FC2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697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53233-3118-269D-13D8-6FE8F8E7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48E6B68-1ABA-5E52-7B29-72BA76A2B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5C145940-A6D9-4F08-4184-2F6A62A1023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mtClean="0"/>
                        <m:t>¿</m:t>
                      </m:r>
                      <m:r>
                        <m:rPr>
                          <m:nor/>
                        </m:rPr>
                        <a:rPr lang="es-CO" smtClean="0"/>
                        <m:t>Por</m:t>
                      </m:r>
                      <m:r>
                        <m:rPr>
                          <m:nor/>
                        </m:rPr>
                        <a:rPr lang="es-CO" smtClean="0"/>
                        <m:t> </m:t>
                      </m:r>
                      <m:r>
                        <m:rPr>
                          <m:nor/>
                        </m:rPr>
                        <a:rPr lang="es-CO" smtClean="0"/>
                        <m:t>qu</m:t>
                      </m:r>
                      <m:r>
                        <m:rPr>
                          <m:nor/>
                        </m:rPr>
                        <a:rPr lang="es-CO" smtClean="0"/>
                        <m:t>é </m:t>
                      </m:r>
                      <m:r>
                        <m:rPr>
                          <m:nor/>
                        </m:rPr>
                        <a:rPr lang="es-CO" smtClean="0"/>
                        <m:t>no</m:t>
                      </m:r>
                      <m:r>
                        <m:rPr>
                          <m:nor/>
                        </m:rPr>
                        <a:rPr lang="es-CO" smtClean="0"/>
                        <m:t> </m:t>
                      </m:r>
                      <m:r>
                        <m:rPr>
                          <m:nor/>
                        </m:rPr>
                        <a:rPr lang="es-CO" smtClean="0"/>
                        <m:t>se</m:t>
                      </m:r>
                      <m:r>
                        <m:rPr>
                          <m:nor/>
                        </m:rPr>
                        <a:rPr lang="es-CO" smtClean="0"/>
                        <m:t> </m:t>
                      </m:r>
                      <m:r>
                        <m:rPr>
                          <m:nor/>
                        </m:rPr>
                        <a:rPr lang="es-CO" smtClean="0"/>
                        <m:t>puede</m:t>
                      </m:r>
                      <m:r>
                        <m:rPr>
                          <m:nor/>
                        </m:rPr>
                        <a:rPr lang="es-CO" smtClean="0"/>
                        <m:t> </m:t>
                      </m:r>
                      <m:r>
                        <m:rPr>
                          <m:nor/>
                        </m:rPr>
                        <a:rPr lang="es-CO" smtClean="0"/>
                        <m:t>escribir</m:t>
                      </m:r>
                      <m:r>
                        <m:rPr>
                          <m:nor/>
                        </m:rPr>
                        <a:rPr lang="es-CO" smtClean="0"/>
                        <m:t> </m:t>
                      </m:r>
                      <m:r>
                        <m:rPr>
                          <m:nor/>
                        </m:rPr>
                        <a:rPr lang="es-CO" smtClean="0"/>
                        <m:t>como</m:t>
                      </m:r>
                      <m:r>
                        <m:rPr>
                          <m:nor/>
                        </m:rPr>
                        <a:rPr lang="es-CO" smtClean="0"/>
                        <m:t> </m:t>
                      </m:r>
                      <m:r>
                        <a:rPr lang="es-CO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𝑎𝑇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</m:d>
                      <m:r>
                        <m:rPr>
                          <m:nor/>
                        </m:rPr>
                        <a:rPr lang="ar-AE"/>
                        <m:t>?</m:t>
                      </m:r>
                    </m:oMath>
                  </m:oMathPara>
                </a14:m>
                <a:endParaRPr lang="ar-AE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ar-AE"/>
                        <m:t>¿</m:t>
                      </m:r>
                      <m:r>
                        <m:rPr>
                          <m:nor/>
                        </m:rPr>
                        <a:rPr lang="es-CO"/>
                        <m:t>Qu</m:t>
                      </m:r>
                      <m:r>
                        <m:rPr>
                          <m:nor/>
                        </m:rPr>
                        <a:rPr lang="es-CO"/>
                        <m:t>é </m:t>
                      </m:r>
                      <m:r>
                        <m:rPr>
                          <m:nor/>
                        </m:rPr>
                        <a:rPr lang="es-CO"/>
                        <m:t>m</m:t>
                      </m:r>
                      <m:r>
                        <m:rPr>
                          <m:nor/>
                        </m:rPr>
                        <a:rPr lang="es-CO"/>
                        <m:t>é</m:t>
                      </m:r>
                      <m:r>
                        <m:rPr>
                          <m:nor/>
                        </m:rPr>
                        <a:rPr lang="es-CO"/>
                        <m:t>todo</m:t>
                      </m:r>
                      <m:r>
                        <m:rPr>
                          <m:nor/>
                        </m:rPr>
                        <a:rPr lang="es-CO"/>
                        <m:t> </m:t>
                      </m:r>
                      <m:r>
                        <m:rPr>
                          <m:nor/>
                        </m:rPr>
                        <a:rPr lang="es-CO"/>
                        <m:t>usar</m:t>
                      </m:r>
                      <m:r>
                        <m:rPr>
                          <m:nor/>
                        </m:rPr>
                        <a:rPr lang="es-CO"/>
                        <m:t>í</m:t>
                      </m:r>
                      <m:r>
                        <m:rPr>
                          <m:nor/>
                        </m:rPr>
                        <a:rPr lang="es-CO"/>
                        <m:t>as</m:t>
                      </m:r>
                      <m:r>
                        <m:rPr>
                          <m:nor/>
                        </m:rPr>
                        <a:rPr lang="es-CO"/>
                        <m:t>? </m:t>
                      </m:r>
                      <m:r>
                        <m:rPr>
                          <m:nor/>
                        </m:rPr>
                        <a:rPr lang="es-CO"/>
                        <m:t>(</m:t>
                      </m:r>
                      <m:r>
                        <m:rPr>
                          <m:nor/>
                        </m:rPr>
                        <a:rPr lang="es-CO"/>
                        <m:t>cota</m:t>
                      </m:r>
                      <m:r>
                        <m:rPr>
                          <m:nor/>
                        </m:rPr>
                        <a:rPr lang="es-CO"/>
                        <m:t>, á</m:t>
                      </m:r>
                      <m:r>
                        <m:rPr>
                          <m:nor/>
                        </m:rPr>
                        <a:rPr lang="es-CO"/>
                        <m:t>rbol</m:t>
                      </m:r>
                      <m:r>
                        <m:rPr>
                          <m:nor/>
                        </m:rPr>
                        <a:rPr lang="es-CO"/>
                        <m:t> </m:t>
                      </m:r>
                      <m:r>
                        <m:rPr>
                          <m:nor/>
                        </m:rPr>
                        <a:rPr lang="es-CO"/>
                        <m:t>no</m:t>
                      </m:r>
                      <m:r>
                        <m:rPr>
                          <m:nor/>
                        </m:rPr>
                        <a:rPr lang="es-CO"/>
                        <m:t> </m:t>
                      </m:r>
                      <m:r>
                        <m:rPr>
                          <m:nor/>
                        </m:rPr>
                        <a:rPr lang="es-CO"/>
                        <m:t>balanceado</m:t>
                      </m:r>
                      <m:r>
                        <m:rPr>
                          <m:nor/>
                        </m:rPr>
                        <a:rPr lang="es-CO"/>
                        <m:t>, </m:t>
                      </m:r>
                      <m:r>
                        <m:rPr>
                          <m:nor/>
                        </m:rPr>
                        <a:rPr lang="es-CO"/>
                        <m:t>aproximaci</m:t>
                      </m:r>
                      <m:r>
                        <m:rPr>
                          <m:nor/>
                        </m:rPr>
                        <a:rPr lang="es-CO"/>
                        <m:t>ó</m:t>
                      </m:r>
                      <m:r>
                        <m:rPr>
                          <m:nor/>
                        </m:rPr>
                        <a:rPr lang="es-CO"/>
                        <m:t>n</m:t>
                      </m:r>
                      <m:r>
                        <m:rPr>
                          <m:nor/>
                        </m:rPr>
                        <a:rPr lang="es-CO"/>
                        <m:t>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5C145940-A6D9-4F08-4184-2F6A62A1023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O" i="0">
                    <a:latin typeface="Cambria Math" panose="02040503050406030204" pitchFamily="18" charset="0"/>
                  </a:rPr>
                  <a:t>"¿Por qué no se puede escribir como </a:t>
                </a:r>
                <a:r>
                  <a:rPr lang="es-C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𝑎𝑇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(𝑛/𝑏)+𝑓(𝑛)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</a:t>
                </a:r>
                <a:r>
                  <a:rPr lang="ar-AE" i="0">
                    <a:latin typeface="Cambria Math" panose="02040503050406030204" pitchFamily="18" charset="0"/>
                  </a:rPr>
                  <a:t>?</a:t>
                </a:r>
                <a:r>
                  <a:rPr lang="es-CO" i="0"/>
                  <a:t>"</a:t>
                </a:r>
                <a:endParaRPr lang="ar-AE" dirty="0"/>
              </a:p>
              <a:p>
                <a:r>
                  <a:rPr lang="ar-AE" i="0">
                    <a:latin typeface="Cambria Math" panose="02040503050406030204" pitchFamily="18" charset="0"/>
                  </a:rPr>
                  <a:t>"¿</a:t>
                </a:r>
                <a:r>
                  <a:rPr lang="es-CO" i="0">
                    <a:latin typeface="Cambria Math" panose="02040503050406030204" pitchFamily="18" charset="0"/>
                  </a:rPr>
                  <a:t>Qué método usarías? (cota, árbol no balanceado, aproximación)</a:t>
                </a:r>
                <a:r>
                  <a:rPr lang="es-CO" i="0"/>
                  <a:t>"</a:t>
                </a:r>
                <a:endParaRPr lang="es-CO" dirty="0"/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1FEB99-913D-FC21-3E0D-3189B44FC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9E149-DCED-4465-AF39-4C04C6C76E7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294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248AF-A247-73A4-4AB1-D9E159CF9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C3C0F-5DD6-F713-AABB-42CC1524B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77C96B-8EB0-80D5-DA2E-0ABE88F6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C141A9-AB87-488C-BC10-CD7072CD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AC5828-4EDA-DF1C-B1AD-264DC05C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5305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54C95-F7D0-4258-78C8-04FAACEA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86BDA4-C445-B07A-C406-0DC138925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10C494-0F71-21B2-7310-6D6290CE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0CC41E-90B1-5CEA-4FDA-002BAB96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DC9C56-1707-056B-BB5C-90AD9E4F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749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9DCCD-7997-85A0-6FBA-3FE9010CB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098075-2A5E-3A3A-7FC3-8FDA52000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37139-573D-543F-3520-4B53C376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48F858-F552-FF45-1DB6-DBC5AB311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E2A7E-FD05-7D06-AB64-417B4051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932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53829-BABA-F606-F241-703DA922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44C63E-E7D0-E81B-E3E6-A156F8BA0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F4921C-B2D4-EF8C-D359-A5FE62F5A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F2E437-EEF8-ABC4-EBBD-6608D9E1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93EC76-1FB7-60BC-2A14-00658821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CBF027-34CB-F544-2676-31DEC6C3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515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A3DA0-13C6-0D21-1F30-69A453EB6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3DE665-A777-FD36-FDFA-0AE8892E5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43ADF3-CF21-99B8-1257-5F7D79598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B9D9AC-93D4-B481-6853-79CE5E6F1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84C8604-B800-76EF-5CD8-007856A3F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478F4DA-82AC-8E1A-7C22-209677346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FDCC02-1D51-5B10-EEBE-31B6C128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A1E8175-B860-152A-5AEF-8B920ED1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9127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63960-8EB0-C83F-B2BE-E9217CB2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DD379F-0B3C-106A-2D76-8680B573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6B3B95-2183-AF3D-66AB-31F1F955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4E85F6-A6A3-5B3F-4415-FD02F6965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60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52F426-A333-00A0-505C-590939A8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6679D2-75F8-B613-7701-BB7EA568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A889EC-93B0-9F94-829F-05F85BE2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647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63841-6BD0-1929-81EA-D65A14EE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F0214E-6CC8-478C-FE21-4C9660090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8A3287-A084-E53D-4CCB-A868881ED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F6646E-E1E5-B454-A36F-8C6C003B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9B7E87-0A7B-D414-2C46-A373774D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CCBD3B-662F-91E4-FA57-2100D1CFD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3505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77CA4-EFB2-C465-BC6E-A1339A6D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CF5EB9D-9050-751C-4C37-7340E5FD9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082A5D-B464-3E1A-4A5C-BFC0DEC62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4738AE-F2D9-0A88-7A1C-BF08FA1C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974FF4-EC77-AFCD-91FC-7C41567E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A23122-E41D-7373-C96A-5383331A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249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FB8FE-38DA-DBC5-B003-7B5C7FC4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C5A6CC-614B-BAA3-9F9D-BA6D3F15F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752F2B-7EB9-DA0E-D77E-1A2850CA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A642B4-E4E7-AA54-BF81-354B59B9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077D44-091A-D302-CBAE-920B43EC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818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066441-3022-B1AF-0E2E-2FE4F1580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59AD7E-4501-C156-6163-75FA17BCC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6204-A9CB-29F6-4443-2775F499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07E09C-A150-62F9-C7BE-D813659D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0916FD-DF34-BDFE-8D27-84722EEE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938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E94D60C-01E8-83E7-BBC5-FD58A5CF9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1C1C41-C7EA-1E82-E912-C9B39F06F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D00927-E61F-C8AA-9A18-CAA14BBE2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7BFA0-7996-49F9-9865-4F4FB6D1053D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B266FC-A674-5577-C07B-DE804FB0F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1F5ACC-8B90-0812-3FCF-AFB7C8863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9082F1-C5C4-4536-B412-11F39728D3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684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merge-sort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o.io/blog/algoritmos-y-estructuras-de-datos/binary-search-algorithm/javascript-example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rtvisualizer.com/mergesor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rtvisualizer.com/mergesor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rtvisualizer.com/mergesor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rtvisualizer.com/mergesor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rtvisualizer.com/mergesor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lex-systems-ai.com/es/algoritmico/programacion-recursiva/?amp=1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lex-systems-ai.com/es/algoritmico/programacion-recursiva/?amp=1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lex-systems-ai.com/es/algoritmico/programacion-recursiva/?amp=1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lex-systems-ai.com/es/algoritmico/programacion-recursiva/?amp=1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lex-systems-ai.com/es/algoritmico/programacion-recursiva/?amp=1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rtvisualizer.com/mergesor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hyperlink" Target="https://www.sortvisualizer.com/mergesort/" TargetMode="External"/><Relationship Id="rId7" Type="http://schemas.openxmlformats.org/officeDocument/2006/relationships/image" Target="../media/image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hyperlink" Target="https://www.sortvisualizer.com/mergesort/" TargetMode="External"/><Relationship Id="rId7" Type="http://schemas.openxmlformats.org/officeDocument/2006/relationships/image" Target="../media/image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hyperlink" Target="https://www.sortvisualizer.com/mergesort/" TargetMode="External"/><Relationship Id="rId7" Type="http://schemas.openxmlformats.org/officeDocument/2006/relationships/image" Target="../media/image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hyperlink" Target="https://www.sortvisualizer.com/mergesort/" TargetMode="External"/><Relationship Id="rId7" Type="http://schemas.openxmlformats.org/officeDocument/2006/relationships/image" Target="../media/image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hyperlink" Target="https://www.sortvisualizer.com/mergesort/" TargetMode="External"/><Relationship Id="rId7" Type="http://schemas.openxmlformats.org/officeDocument/2006/relationships/image" Target="../media/image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6.svg"/><Relationship Id="rId10" Type="http://schemas.openxmlformats.org/officeDocument/2006/relationships/image" Target="../media/image54.png"/><Relationship Id="rId4" Type="http://schemas.openxmlformats.org/officeDocument/2006/relationships/image" Target="../media/image5.png"/><Relationship Id="rId9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73690-8100-187D-9301-45C381B743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Teorema Maestro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78521E-D51D-29C6-5272-1FB3F8DA1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Ing. Alejandro Castro Martínez </a:t>
            </a:r>
            <a:r>
              <a:rPr lang="es-CO" dirty="0" err="1"/>
              <a:t>MsC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32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5B325F-B32F-A5CB-C022-F5D4FB35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91" y="1153571"/>
            <a:ext cx="3200400" cy="4461163"/>
          </a:xfrm>
        </p:spPr>
        <p:txBody>
          <a:bodyPr>
            <a:normAutofit/>
          </a:bodyPr>
          <a:lstStyle/>
          <a:p>
            <a:pPr algn="ctr"/>
            <a:r>
              <a:rPr lang="es-CO" sz="6600" dirty="0">
                <a:solidFill>
                  <a:srgbClr val="FFFFFF"/>
                </a:solidFill>
              </a:rPr>
              <a:t>Teorema maestro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87D332-F99B-1300-2D55-6D00B2440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CO" sz="4800" dirty="0"/>
              <a:t>El Teorema Maestro </a:t>
            </a:r>
            <a:r>
              <a:rPr lang="es-CO" sz="4800" b="1" u="sng" dirty="0"/>
              <a:t>NO</a:t>
            </a:r>
            <a:r>
              <a:rPr lang="es-CO" sz="4800" dirty="0"/>
              <a:t> es una fórmula para memorizar, es un atajo mental para entender cómo crece un algoritmo recursivo.</a:t>
            </a:r>
          </a:p>
        </p:txBody>
      </p:sp>
    </p:spTree>
    <p:extLst>
      <p:ext uri="{BB962C8B-B14F-4D97-AF65-F5344CB8AC3E}">
        <p14:creationId xmlns:p14="http://schemas.microsoft.com/office/powerpoint/2010/main" val="3487530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F230C6-8E3D-1A19-63C4-A668177E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37" y="2001091"/>
            <a:ext cx="3499104" cy="2479606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s-CO" sz="60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Algoritmos recursivos</a:t>
            </a:r>
          </a:p>
        </p:txBody>
      </p:sp>
      <p:pic>
        <p:nvPicPr>
          <p:cNvPr id="1026" name="Picture 2" descr="algoritmo recursivo pilas java - Stack Overflow en español">
            <a:extLst>
              <a:ext uri="{FF2B5EF4-FFF2-40B4-BE49-F238E27FC236}">
                <a16:creationId xmlns:a16="http://schemas.microsoft.com/office/drawing/2014/main" id="{6DBC7EFF-084D-7732-1CE7-641097DD21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6526" y="237744"/>
            <a:ext cx="7980090" cy="479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AB1910-BE02-385A-36D5-779EE7C8799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3410712" y="5166956"/>
            <a:ext cx="86502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resuelve 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llamándose a sí mismo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 llamada trabaja un 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subproblema más pequeño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proceso se detiene en un 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caso base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resultado final se construye 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 regresar de las llamadas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209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E3214F-47C4-E339-8563-C14ED952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7" cy="1559962"/>
          </a:xfrm>
        </p:spPr>
        <p:txBody>
          <a:bodyPr anchor="ctr">
            <a:normAutofit/>
          </a:bodyPr>
          <a:lstStyle/>
          <a:p>
            <a:pPr algn="ctr"/>
            <a:r>
              <a:rPr lang="es-CO" sz="6000" dirty="0">
                <a:solidFill>
                  <a:srgbClr val="FFFFFF"/>
                </a:solidFill>
              </a:rPr>
              <a:t>¿Qué algoritmos recursivos conocen? </a:t>
            </a: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ADC195EA-96A3-3659-E227-6B4EF04087C7}"/>
              </a:ext>
            </a:extLst>
          </p:cNvPr>
          <p:cNvSpPr/>
          <p:nvPr/>
        </p:nvSpPr>
        <p:spPr>
          <a:xfrm>
            <a:off x="1324991" y="1330405"/>
            <a:ext cx="3783120" cy="1891560"/>
          </a:xfrm>
          <a:custGeom>
            <a:avLst/>
            <a:gdLst>
              <a:gd name="csX0" fmla="*/ 0 w 3783120"/>
              <a:gd name="csY0" fmla="*/ 189156 h 1891560"/>
              <a:gd name="csX1" fmla="*/ 189156 w 3783120"/>
              <a:gd name="csY1" fmla="*/ 0 h 1891560"/>
              <a:gd name="csX2" fmla="*/ 3593964 w 3783120"/>
              <a:gd name="csY2" fmla="*/ 0 h 1891560"/>
              <a:gd name="csX3" fmla="*/ 3783120 w 3783120"/>
              <a:gd name="csY3" fmla="*/ 189156 h 1891560"/>
              <a:gd name="csX4" fmla="*/ 3783120 w 3783120"/>
              <a:gd name="csY4" fmla="*/ 1702404 h 1891560"/>
              <a:gd name="csX5" fmla="*/ 3593964 w 3783120"/>
              <a:gd name="csY5" fmla="*/ 1891560 h 1891560"/>
              <a:gd name="csX6" fmla="*/ 189156 w 3783120"/>
              <a:gd name="csY6" fmla="*/ 1891560 h 1891560"/>
              <a:gd name="csX7" fmla="*/ 0 w 3783120"/>
              <a:gd name="csY7" fmla="*/ 1702404 h 1891560"/>
              <a:gd name="csX8" fmla="*/ 0 w 3783120"/>
              <a:gd name="csY8" fmla="*/ 189156 h 1891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783120" h="1891560">
                <a:moveTo>
                  <a:pt x="0" y="189156"/>
                </a:moveTo>
                <a:cubicBezTo>
                  <a:pt x="0" y="84688"/>
                  <a:pt x="84688" y="0"/>
                  <a:pt x="189156" y="0"/>
                </a:cubicBezTo>
                <a:lnTo>
                  <a:pt x="3593964" y="0"/>
                </a:lnTo>
                <a:cubicBezTo>
                  <a:pt x="3698432" y="0"/>
                  <a:pt x="3783120" y="84688"/>
                  <a:pt x="3783120" y="189156"/>
                </a:cubicBezTo>
                <a:lnTo>
                  <a:pt x="3783120" y="1702404"/>
                </a:lnTo>
                <a:cubicBezTo>
                  <a:pt x="3783120" y="1806872"/>
                  <a:pt x="3698432" y="1891560"/>
                  <a:pt x="3593964" y="1891560"/>
                </a:cubicBezTo>
                <a:lnTo>
                  <a:pt x="189156" y="1891560"/>
                </a:lnTo>
                <a:cubicBezTo>
                  <a:pt x="84688" y="1891560"/>
                  <a:pt x="0" y="1806872"/>
                  <a:pt x="0" y="1702404"/>
                </a:cubicBezTo>
                <a:lnTo>
                  <a:pt x="0" y="189156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5892" tIns="129062" rIns="165892" bIns="129062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5800" kern="1200"/>
              <a:t>Mergesort </a:t>
            </a:r>
            <a:endParaRPr lang="en-US" sz="5800" kern="1200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46ACC2B-4F98-0789-2367-4FFF1EA15E4C}"/>
              </a:ext>
            </a:extLst>
          </p:cNvPr>
          <p:cNvSpPr/>
          <p:nvPr/>
        </p:nvSpPr>
        <p:spPr>
          <a:xfrm>
            <a:off x="7459464" y="1330405"/>
            <a:ext cx="3783120" cy="1891560"/>
          </a:xfrm>
          <a:custGeom>
            <a:avLst/>
            <a:gdLst>
              <a:gd name="csX0" fmla="*/ 0 w 3783120"/>
              <a:gd name="csY0" fmla="*/ 189156 h 1891560"/>
              <a:gd name="csX1" fmla="*/ 189156 w 3783120"/>
              <a:gd name="csY1" fmla="*/ 0 h 1891560"/>
              <a:gd name="csX2" fmla="*/ 3593964 w 3783120"/>
              <a:gd name="csY2" fmla="*/ 0 h 1891560"/>
              <a:gd name="csX3" fmla="*/ 3783120 w 3783120"/>
              <a:gd name="csY3" fmla="*/ 189156 h 1891560"/>
              <a:gd name="csX4" fmla="*/ 3783120 w 3783120"/>
              <a:gd name="csY4" fmla="*/ 1702404 h 1891560"/>
              <a:gd name="csX5" fmla="*/ 3593964 w 3783120"/>
              <a:gd name="csY5" fmla="*/ 1891560 h 1891560"/>
              <a:gd name="csX6" fmla="*/ 189156 w 3783120"/>
              <a:gd name="csY6" fmla="*/ 1891560 h 1891560"/>
              <a:gd name="csX7" fmla="*/ 0 w 3783120"/>
              <a:gd name="csY7" fmla="*/ 1702404 h 1891560"/>
              <a:gd name="csX8" fmla="*/ 0 w 3783120"/>
              <a:gd name="csY8" fmla="*/ 189156 h 1891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783120" h="1891560">
                <a:moveTo>
                  <a:pt x="0" y="189156"/>
                </a:moveTo>
                <a:cubicBezTo>
                  <a:pt x="0" y="84688"/>
                  <a:pt x="84688" y="0"/>
                  <a:pt x="189156" y="0"/>
                </a:cubicBezTo>
                <a:lnTo>
                  <a:pt x="3593964" y="0"/>
                </a:lnTo>
                <a:cubicBezTo>
                  <a:pt x="3698432" y="0"/>
                  <a:pt x="3783120" y="84688"/>
                  <a:pt x="3783120" y="189156"/>
                </a:cubicBezTo>
                <a:lnTo>
                  <a:pt x="3783120" y="1702404"/>
                </a:lnTo>
                <a:cubicBezTo>
                  <a:pt x="3783120" y="1806872"/>
                  <a:pt x="3698432" y="1891560"/>
                  <a:pt x="3593964" y="1891560"/>
                </a:cubicBezTo>
                <a:lnTo>
                  <a:pt x="189156" y="1891560"/>
                </a:lnTo>
                <a:cubicBezTo>
                  <a:pt x="84688" y="1891560"/>
                  <a:pt x="0" y="1806872"/>
                  <a:pt x="0" y="1702404"/>
                </a:cubicBezTo>
                <a:lnTo>
                  <a:pt x="0" y="189156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5892" tIns="129062" rIns="165892" bIns="129062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5800" kern="1200" dirty="0"/>
              <a:t>Búsqueda binaria</a:t>
            </a:r>
            <a:endParaRPr lang="en-US" sz="5800" kern="1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E771A22-BA47-D4D4-505D-E4D4B16735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880"/>
          <a:stretch>
            <a:fillRect/>
          </a:stretch>
        </p:blipFill>
        <p:spPr>
          <a:xfrm>
            <a:off x="690670" y="3238448"/>
            <a:ext cx="5051762" cy="327526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8130A52-34F7-340D-35AA-4138D8FB12AB}"/>
              </a:ext>
            </a:extLst>
          </p:cNvPr>
          <p:cNvSpPr txBox="1"/>
          <p:nvPr/>
        </p:nvSpPr>
        <p:spPr>
          <a:xfrm>
            <a:off x="690670" y="6530192"/>
            <a:ext cx="5051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Tomado de: </a:t>
            </a:r>
            <a:r>
              <a:rPr lang="es-CO" sz="1200" dirty="0">
                <a:hlinkClick r:id="rId3"/>
              </a:rPr>
              <a:t>https://www.geeksforgeeks.org/dsa/merge-sort/</a:t>
            </a:r>
            <a:r>
              <a:rPr lang="es-CO" sz="1200" dirty="0"/>
              <a:t> </a:t>
            </a:r>
          </a:p>
        </p:txBody>
      </p:sp>
      <p:pic>
        <p:nvPicPr>
          <p:cNvPr id="19" name="Imagen 18" descr="Diagrama&#10;&#10;El contenido generado por IA puede ser incorrecto.">
            <a:extLst>
              <a:ext uri="{FF2B5EF4-FFF2-40B4-BE49-F238E27FC236}">
                <a16:creationId xmlns:a16="http://schemas.microsoft.com/office/drawing/2014/main" id="{9C88DD3A-99ED-ED9C-04B3-6D73C067B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514" y="3011173"/>
            <a:ext cx="3519019" cy="3519019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D7A0C1D3-30BA-7B26-10CA-B601EFF23220}"/>
              </a:ext>
            </a:extLst>
          </p:cNvPr>
          <p:cNvSpPr txBox="1"/>
          <p:nvPr/>
        </p:nvSpPr>
        <p:spPr>
          <a:xfrm>
            <a:off x="7140235" y="6439438"/>
            <a:ext cx="50517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50" dirty="0"/>
              <a:t>Tomado de: </a:t>
            </a:r>
            <a:r>
              <a:rPr lang="es-CO" sz="1050" dirty="0">
                <a:hlinkClick r:id="rId5"/>
              </a:rPr>
              <a:t>https://developero.io/blog/algoritmos-y-estructuras-de-datos/binary-search-algorithm/javascript-example</a:t>
            </a:r>
            <a:r>
              <a:rPr lang="es-CO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705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469C7D-78A7-2D3E-E4F5-255C06C9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" y="2728906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92E60516-8170-88F7-B68A-8538F87B3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254B788-2B83-58E9-106E-478A7F5B113D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err="1"/>
              <a:t>Tomado</a:t>
            </a:r>
            <a:r>
              <a:rPr lang="en-AU" sz="1400" dirty="0"/>
              <a:t> de: </a:t>
            </a:r>
            <a:r>
              <a:rPr lang="en-AU" sz="1400" dirty="0">
                <a:hlinkClick r:id="rId3"/>
              </a:rPr>
              <a:t>https://www.sortvisualizer.com/mergesort/</a:t>
            </a:r>
            <a:r>
              <a:rPr lang="en-AU" sz="1400" dirty="0"/>
              <a:t> 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1774966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78C7B-D391-D5A9-2822-94D65F17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481898-733A-A6F1-0614-E5B49F136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C66215D-2842-D13A-EE89-2BACA43B5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17ACB6-B60C-10AD-D50C-5E7291FC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D0191C41-C060-7CE0-4346-BEB4E0229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7FE7FE0-2D2E-A8CB-B83E-B318D14409A8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Bocadillo: rectángulo 2">
            <a:extLst>
              <a:ext uri="{FF2B5EF4-FFF2-40B4-BE49-F238E27FC236}">
                <a16:creationId xmlns:a16="http://schemas.microsoft.com/office/drawing/2014/main" id="{DB934A86-0FA6-7716-EE36-25D094D1233B}"/>
              </a:ext>
            </a:extLst>
          </p:cNvPr>
          <p:cNvSpPr/>
          <p:nvPr/>
        </p:nvSpPr>
        <p:spPr>
          <a:xfrm>
            <a:off x="182880" y="1691640"/>
            <a:ext cx="6391656" cy="3822192"/>
          </a:xfrm>
          <a:prstGeom prst="wedgeRectCallout">
            <a:avLst>
              <a:gd name="adj1" fmla="val 64432"/>
              <a:gd name="adj2" fmla="val -759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/>
              <a:t>¿Cómo calculamos la complejidad de este algoritmo?</a:t>
            </a:r>
          </a:p>
        </p:txBody>
      </p:sp>
    </p:spTree>
    <p:extLst>
      <p:ext uri="{BB962C8B-B14F-4D97-AF65-F5344CB8AC3E}">
        <p14:creationId xmlns:p14="http://schemas.microsoft.com/office/powerpoint/2010/main" val="1748746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96DE3-EA11-0EC6-5CFC-529E08335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668444-F93C-365E-2DC6-6C8F68C4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16C97E-5239-1E1C-CB7D-5DE895F0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2CC77F-E202-2EC8-32CA-C2E4C443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7C8D82AA-B37E-6766-59DB-F2CEF9FAA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7196599-90F0-5871-2D9E-52E93F432555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Bocadillo: rectángulo 2">
            <a:extLst>
              <a:ext uri="{FF2B5EF4-FFF2-40B4-BE49-F238E27FC236}">
                <a16:creationId xmlns:a16="http://schemas.microsoft.com/office/drawing/2014/main" id="{E226B381-94F0-1955-4EB9-67172B91EA0A}"/>
              </a:ext>
            </a:extLst>
          </p:cNvPr>
          <p:cNvSpPr/>
          <p:nvPr/>
        </p:nvSpPr>
        <p:spPr>
          <a:xfrm>
            <a:off x="182880" y="1691640"/>
            <a:ext cx="6391656" cy="3822192"/>
          </a:xfrm>
          <a:prstGeom prst="wedgeRectCallout">
            <a:avLst>
              <a:gd name="adj1" fmla="val 64432"/>
              <a:gd name="adj2" fmla="val -759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¿Cómo calculamos la complejidad de este algoritmo?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8853A23-7AB3-DFA5-3581-7E32DC0101C7}"/>
              </a:ext>
            </a:extLst>
          </p:cNvPr>
          <p:cNvSpPr txBox="1"/>
          <p:nvPr/>
        </p:nvSpPr>
        <p:spPr>
          <a:xfrm>
            <a:off x="9006840" y="1137642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600" b="1" dirty="0">
                <a:solidFill>
                  <a:srgbClr val="FF0000"/>
                </a:solidFill>
              </a:rPr>
              <a:t>!!!!!!!!!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3C76FB7B-7FE8-D9E2-6BB4-644F3D3F4080}"/>
              </a:ext>
            </a:extLst>
          </p:cNvPr>
          <p:cNvSpPr/>
          <p:nvPr/>
        </p:nvSpPr>
        <p:spPr>
          <a:xfrm>
            <a:off x="7384217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9339D8EA-09FF-3B86-46D1-0489D301BDB9}"/>
              </a:ext>
            </a:extLst>
          </p:cNvPr>
          <p:cNvSpPr/>
          <p:nvPr/>
        </p:nvSpPr>
        <p:spPr>
          <a:xfrm rot="10800000">
            <a:off x="11188076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" name="Gráfico 12" descr="Cortar con relleno sólido">
            <a:extLst>
              <a:ext uri="{FF2B5EF4-FFF2-40B4-BE49-F238E27FC236}">
                <a16:creationId xmlns:a16="http://schemas.microsoft.com/office/drawing/2014/main" id="{379EA135-1F89-3B6F-5C9A-B4DA54577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3452" y="594491"/>
            <a:ext cx="723508" cy="7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81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2AF1D-1CCA-1755-99DF-7BB26F7C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891F6C-7907-710C-4178-17164437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D7605D-14B7-E0DA-28FE-E30CEEF41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C65402-3C3E-E91D-8388-C5FC615C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FBC33EA2-FBAA-9D27-A831-A32FE1250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6D44836-6642-6FD0-DEF0-B864E6399236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Bocadillo: rectángulo 2">
            <a:extLst>
              <a:ext uri="{FF2B5EF4-FFF2-40B4-BE49-F238E27FC236}">
                <a16:creationId xmlns:a16="http://schemas.microsoft.com/office/drawing/2014/main" id="{05637570-36BA-CF7B-4C8B-BEC99EAAED59}"/>
              </a:ext>
            </a:extLst>
          </p:cNvPr>
          <p:cNvSpPr/>
          <p:nvPr/>
        </p:nvSpPr>
        <p:spPr>
          <a:xfrm>
            <a:off x="182880" y="1691640"/>
            <a:ext cx="6391656" cy="1014984"/>
          </a:xfrm>
          <a:prstGeom prst="wedgeRectCallout">
            <a:avLst>
              <a:gd name="adj1" fmla="val 64432"/>
              <a:gd name="adj2" fmla="val -759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¿Cómo calculamos la complejidad de este algoritmo?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F36AD8-2D6B-5E44-0C4A-6381538180B0}"/>
              </a:ext>
            </a:extLst>
          </p:cNvPr>
          <p:cNvSpPr txBox="1"/>
          <p:nvPr/>
        </p:nvSpPr>
        <p:spPr>
          <a:xfrm>
            <a:off x="9006840" y="1137642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!!!!!!!!!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AF29E138-5A4B-530E-D4E6-3E304A9C2321}"/>
              </a:ext>
            </a:extLst>
          </p:cNvPr>
          <p:cNvSpPr/>
          <p:nvPr/>
        </p:nvSpPr>
        <p:spPr>
          <a:xfrm>
            <a:off x="7384217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7F11B086-4BAC-879B-1B58-8AC2FE0B1805}"/>
              </a:ext>
            </a:extLst>
          </p:cNvPr>
          <p:cNvSpPr/>
          <p:nvPr/>
        </p:nvSpPr>
        <p:spPr>
          <a:xfrm rot="10800000">
            <a:off x="11188076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189AA90-48B3-5D9D-80D4-27E98061668B}"/>
              </a:ext>
            </a:extLst>
          </p:cNvPr>
          <p:cNvSpPr txBox="1"/>
          <p:nvPr/>
        </p:nvSpPr>
        <p:spPr>
          <a:xfrm>
            <a:off x="96291" y="3959221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!!!!!!!!!</a:t>
            </a:r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9F84DAD3-EFA1-8000-C933-6FD5F225F6B3}"/>
              </a:ext>
            </a:extLst>
          </p:cNvPr>
          <p:cNvSpPr/>
          <p:nvPr/>
        </p:nvSpPr>
        <p:spPr>
          <a:xfrm>
            <a:off x="96291" y="5197577"/>
            <a:ext cx="411480" cy="1107997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Abrir llave 14">
            <a:extLst>
              <a:ext uri="{FF2B5EF4-FFF2-40B4-BE49-F238E27FC236}">
                <a16:creationId xmlns:a16="http://schemas.microsoft.com/office/drawing/2014/main" id="{0DF556C9-B2C3-4DD5-2887-18016837766E}"/>
              </a:ext>
            </a:extLst>
          </p:cNvPr>
          <p:cNvSpPr/>
          <p:nvPr/>
        </p:nvSpPr>
        <p:spPr>
          <a:xfrm rot="10800000">
            <a:off x="688256" y="5197577"/>
            <a:ext cx="411480" cy="1107997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D3805F00-7E78-35E3-DB96-0AF28C8E1BED}"/>
              </a:ext>
            </a:extLst>
          </p:cNvPr>
          <p:cNvSpPr/>
          <p:nvPr/>
        </p:nvSpPr>
        <p:spPr>
          <a:xfrm>
            <a:off x="2419446" y="4283309"/>
            <a:ext cx="655307" cy="3684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E419ACAD-68A5-E16F-55A7-48D5D759B2DA}"/>
              </a:ext>
            </a:extLst>
          </p:cNvPr>
          <p:cNvSpPr/>
          <p:nvPr/>
        </p:nvSpPr>
        <p:spPr>
          <a:xfrm>
            <a:off x="1302167" y="5567344"/>
            <a:ext cx="655307" cy="3684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B053A65-67D0-8230-C13D-4A5CEF30E57B}"/>
              </a:ext>
            </a:extLst>
          </p:cNvPr>
          <p:cNvSpPr/>
          <p:nvPr/>
        </p:nvSpPr>
        <p:spPr>
          <a:xfrm>
            <a:off x="3151804" y="4000475"/>
            <a:ext cx="2006521" cy="93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Ordeno cada mitad recursivamente</a:t>
            </a:r>
          </a:p>
        </p:txBody>
      </p:sp>
      <p:pic>
        <p:nvPicPr>
          <p:cNvPr id="19" name="Gráfico 18" descr="Cortar con relleno sólido">
            <a:extLst>
              <a:ext uri="{FF2B5EF4-FFF2-40B4-BE49-F238E27FC236}">
                <a16:creationId xmlns:a16="http://schemas.microsoft.com/office/drawing/2014/main" id="{6DFFB381-2C2B-28FF-622C-47BDA1CEE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3452" y="594491"/>
            <a:ext cx="723508" cy="723508"/>
          </a:xfrm>
          <a:prstGeom prst="rect">
            <a:avLst/>
          </a:prstGeom>
        </p:spPr>
      </p:pic>
      <p:pic>
        <p:nvPicPr>
          <p:cNvPr id="20" name="Gráfico 19" descr="Cortar con relleno sólido">
            <a:extLst>
              <a:ext uri="{FF2B5EF4-FFF2-40B4-BE49-F238E27FC236}">
                <a16:creationId xmlns:a16="http://schemas.microsoft.com/office/drawing/2014/main" id="{4548F963-C041-E877-E872-9056F6DE0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235" y="2846002"/>
            <a:ext cx="1105100" cy="1105100"/>
          </a:xfrm>
          <a:prstGeom prst="rect">
            <a:avLst/>
          </a:prstGeom>
        </p:spPr>
      </p:pic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FFC4033E-4775-BE67-B8D3-517D2A0B95CF}"/>
              </a:ext>
            </a:extLst>
          </p:cNvPr>
          <p:cNvSpPr/>
          <p:nvPr/>
        </p:nvSpPr>
        <p:spPr>
          <a:xfrm>
            <a:off x="1441355" y="3214320"/>
            <a:ext cx="655307" cy="3684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D0F6887-32CA-9419-031C-E2A67C0E5F44}"/>
              </a:ext>
            </a:extLst>
          </p:cNvPr>
          <p:cNvSpPr/>
          <p:nvPr/>
        </p:nvSpPr>
        <p:spPr>
          <a:xfrm>
            <a:off x="2251682" y="2931486"/>
            <a:ext cx="2006521" cy="93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Parto el arreglo en dos mitades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B498785-F207-D70D-D6B2-1998CA82932D}"/>
              </a:ext>
            </a:extLst>
          </p:cNvPr>
          <p:cNvSpPr/>
          <p:nvPr/>
        </p:nvSpPr>
        <p:spPr>
          <a:xfrm>
            <a:off x="2159905" y="5294326"/>
            <a:ext cx="2238359" cy="93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Mezclo comparando y copiando en orden</a:t>
            </a:r>
          </a:p>
        </p:txBody>
      </p:sp>
    </p:spTree>
    <p:extLst>
      <p:ext uri="{BB962C8B-B14F-4D97-AF65-F5344CB8AC3E}">
        <p14:creationId xmlns:p14="http://schemas.microsoft.com/office/powerpoint/2010/main" val="199849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4C26F-47B3-4ED2-A824-49376FE1D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2F58D-9C39-E2C6-831D-E33541E5F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6F55338-EA39-D914-5DB3-29978FDA0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1A0097-6CD7-54B2-2DA1-76A8FD01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0BD47ED5-D2C1-7447-DF4F-23FFEB00F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6F3B9D6-7F30-07E6-0D43-7041A0AF4F01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Bocadillo: rectángulo 2">
            <a:extLst>
              <a:ext uri="{FF2B5EF4-FFF2-40B4-BE49-F238E27FC236}">
                <a16:creationId xmlns:a16="http://schemas.microsoft.com/office/drawing/2014/main" id="{78D6912F-9429-5BC1-C16B-60C83013E67B}"/>
              </a:ext>
            </a:extLst>
          </p:cNvPr>
          <p:cNvSpPr/>
          <p:nvPr/>
        </p:nvSpPr>
        <p:spPr>
          <a:xfrm>
            <a:off x="182880" y="1691640"/>
            <a:ext cx="6391656" cy="1014984"/>
          </a:xfrm>
          <a:prstGeom prst="wedgeRectCallout">
            <a:avLst>
              <a:gd name="adj1" fmla="val 64432"/>
              <a:gd name="adj2" fmla="val -759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¿Cómo calculamos la complejidad de este algoritmo?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6402938-D210-E9E4-F03F-53B99DFE49F3}"/>
              </a:ext>
            </a:extLst>
          </p:cNvPr>
          <p:cNvSpPr txBox="1"/>
          <p:nvPr/>
        </p:nvSpPr>
        <p:spPr>
          <a:xfrm>
            <a:off x="9006840" y="1137642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!!!!!!!!!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C9BD5D9E-88D9-45E3-33AB-71C32EC6F85A}"/>
              </a:ext>
            </a:extLst>
          </p:cNvPr>
          <p:cNvSpPr/>
          <p:nvPr/>
        </p:nvSpPr>
        <p:spPr>
          <a:xfrm>
            <a:off x="7384217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C3FC109F-B1A5-E13A-EB8B-F711A152B617}"/>
              </a:ext>
            </a:extLst>
          </p:cNvPr>
          <p:cNvSpPr/>
          <p:nvPr/>
        </p:nvSpPr>
        <p:spPr>
          <a:xfrm rot="10800000">
            <a:off x="11188076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Gráfico 18" descr="Cortar con relleno sólido">
            <a:extLst>
              <a:ext uri="{FF2B5EF4-FFF2-40B4-BE49-F238E27FC236}">
                <a16:creationId xmlns:a16="http://schemas.microsoft.com/office/drawing/2014/main" id="{E7A88DCA-7FA9-7EA4-8275-975339BC9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3452" y="594491"/>
            <a:ext cx="723508" cy="7235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2D0E507-275B-0AB4-D17D-038ECB62EE63}"/>
                  </a:ext>
                </a:extLst>
              </p:cNvPr>
              <p:cNvSpPr txBox="1"/>
              <p:nvPr/>
            </p:nvSpPr>
            <p:spPr>
              <a:xfrm>
                <a:off x="265876" y="4151377"/>
                <a:ext cx="6318504" cy="105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4400" b="0" i="1" kern="120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b="0" i="1" kern="12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b="0" i="1" kern="12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b="0" i="1" kern="120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CO" sz="4400" b="0" i="1" kern="12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4400" b="0" i="1" kern="120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4400" b="0" i="1" kern="120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b="0" i="1" kern="120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4400" b="0" i="1" kern="12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4400" b="0" i="1" kern="120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a:rPr lang="es-CO" sz="4400" b="0" i="1" kern="12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4400" b="0" i="1" kern="120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4400" b="0" i="1" kern="120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s-CO" sz="4400" b="0" i="1" kern="12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b="0" i="1" kern="12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b="0" i="1" kern="120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kern="120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2D0E507-275B-0AB4-D17D-038ECB62E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76" y="4151377"/>
                <a:ext cx="6318504" cy="1059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684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96D746-E7E3-CCC8-593D-1708A65E1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929"/>
            <a:ext cx="12191996" cy="1543812"/>
          </a:xfrm>
        </p:spPr>
        <p:txBody>
          <a:bodyPr>
            <a:normAutofit/>
          </a:bodyPr>
          <a:lstStyle/>
          <a:p>
            <a:pPr algn="ctr"/>
            <a:r>
              <a:rPr lang="es-CO" sz="9600" b="1" dirty="0" err="1">
                <a:solidFill>
                  <a:srgbClr val="FFFFFF"/>
                </a:solidFill>
              </a:rPr>
              <a:t>Mergesort</a:t>
            </a:r>
            <a:endParaRPr lang="es-CO" sz="9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33904102-0182-04ED-CCA5-69CA0655FA80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233982" y="1644361"/>
                <a:ext cx="9724031" cy="1366835"/>
              </a:xfrm>
              <a:prstGeom prst="rect">
                <a:avLst/>
              </a:prstGeom>
            </p:spPr>
            <p:txBody>
              <a:bodyPr anchor="ctr">
                <a:normAutofit fontScale="85000" lnSpcReduction="10000"/>
              </a:bodyPr>
              <a:lstStyle/>
              <a:p>
                <a:pPr marL="0" lvl="0" indent="0" defTabSz="1422400">
                  <a:spcBef>
                    <a:spcPct val="0"/>
                  </a:spcBef>
                  <a:spcAft>
                    <a:spcPct val="35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6600" b="0" i="1" kern="1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6600" b="0" i="1" kern="120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a:rPr lang="es-CO" sz="6600" b="0" i="1" kern="1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600" kern="1200" dirty="0"/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33904102-0182-04ED-CCA5-69CA0655FA8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3982" y="1644361"/>
                <a:ext cx="9724031" cy="13668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Bocadillo: ovalado 4">
            <a:extLst>
              <a:ext uri="{FF2B5EF4-FFF2-40B4-BE49-F238E27FC236}">
                <a16:creationId xmlns:a16="http://schemas.microsoft.com/office/drawing/2014/main" id="{617F4434-1A86-B326-7DCD-FBDB7A6BD9D6}"/>
              </a:ext>
            </a:extLst>
          </p:cNvPr>
          <p:cNvSpPr/>
          <p:nvPr/>
        </p:nvSpPr>
        <p:spPr>
          <a:xfrm>
            <a:off x="3006090" y="3058125"/>
            <a:ext cx="2370582" cy="1152144"/>
          </a:xfrm>
          <a:prstGeom prst="wedgeEllipseCallout">
            <a:avLst>
              <a:gd name="adj1" fmla="val 17354"/>
              <a:gd name="adj2" fmla="val -104166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2 Llamadas</a:t>
            </a:r>
          </a:p>
        </p:txBody>
      </p:sp>
      <p:sp>
        <p:nvSpPr>
          <p:cNvPr id="6" name="Bocadillo: ovalado 5">
            <a:extLst>
              <a:ext uri="{FF2B5EF4-FFF2-40B4-BE49-F238E27FC236}">
                <a16:creationId xmlns:a16="http://schemas.microsoft.com/office/drawing/2014/main" id="{63CFEAD2-5341-6083-A0ED-6B2BD661477C}"/>
              </a:ext>
            </a:extLst>
          </p:cNvPr>
          <p:cNvSpPr/>
          <p:nvPr/>
        </p:nvSpPr>
        <p:spPr>
          <a:xfrm>
            <a:off x="5562981" y="3075572"/>
            <a:ext cx="2370582" cy="1152144"/>
          </a:xfrm>
          <a:prstGeom prst="wedgeEllipseCallout">
            <a:avLst>
              <a:gd name="adj1" fmla="val 768"/>
              <a:gd name="adj2" fmla="val -82737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Mitades</a:t>
            </a:r>
          </a:p>
        </p:txBody>
      </p:sp>
      <p:sp>
        <p:nvSpPr>
          <p:cNvPr id="7" name="Bocadillo: ovalado 6">
            <a:extLst>
              <a:ext uri="{FF2B5EF4-FFF2-40B4-BE49-F238E27FC236}">
                <a16:creationId xmlns:a16="http://schemas.microsoft.com/office/drawing/2014/main" id="{A0745CED-FD83-F0CF-663F-978845375615}"/>
              </a:ext>
            </a:extLst>
          </p:cNvPr>
          <p:cNvSpPr/>
          <p:nvPr/>
        </p:nvSpPr>
        <p:spPr>
          <a:xfrm>
            <a:off x="8115299" y="3011196"/>
            <a:ext cx="2370582" cy="1152144"/>
          </a:xfrm>
          <a:prstGeom prst="wedgeEllipseCallout">
            <a:avLst>
              <a:gd name="adj1" fmla="val 768"/>
              <a:gd name="adj2" fmla="val -82737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Mezcla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E55094-49A2-70A8-AB02-2E75EF84079E}"/>
              </a:ext>
            </a:extLst>
          </p:cNvPr>
          <p:cNvSpPr txBox="1"/>
          <p:nvPr/>
        </p:nvSpPr>
        <p:spPr>
          <a:xfrm>
            <a:off x="108090" y="4874766"/>
            <a:ext cx="61366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O" sz="3600" b="1" dirty="0"/>
              <a:t>¿Cómo resolvemos esta ecuación?</a:t>
            </a:r>
          </a:p>
        </p:txBody>
      </p:sp>
      <p:sp>
        <p:nvSpPr>
          <p:cNvPr id="12" name="Abrir corchete 11">
            <a:extLst>
              <a:ext uri="{FF2B5EF4-FFF2-40B4-BE49-F238E27FC236}">
                <a16:creationId xmlns:a16="http://schemas.microsoft.com/office/drawing/2014/main" id="{F235814C-B1C7-6719-41FA-9DDBCECE1972}"/>
              </a:ext>
            </a:extLst>
          </p:cNvPr>
          <p:cNvSpPr/>
          <p:nvPr/>
        </p:nvSpPr>
        <p:spPr>
          <a:xfrm>
            <a:off x="6367809" y="4549372"/>
            <a:ext cx="182880" cy="2057400"/>
          </a:xfrm>
          <a:prstGeom prst="leftBracke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DC13CF9-C2D8-324F-FECB-B01D2FDCCB45}"/>
              </a:ext>
            </a:extLst>
          </p:cNvPr>
          <p:cNvSpPr txBox="1"/>
          <p:nvPr/>
        </p:nvSpPr>
        <p:spPr>
          <a:xfrm>
            <a:off x="6493269" y="4634228"/>
            <a:ext cx="2370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O" sz="3600" dirty="0"/>
              <a:t>A mano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01EC6C4-D5CA-E66B-7553-CC0769D97DC2}"/>
              </a:ext>
            </a:extLst>
          </p:cNvPr>
          <p:cNvSpPr txBox="1"/>
          <p:nvPr/>
        </p:nvSpPr>
        <p:spPr>
          <a:xfrm>
            <a:off x="6367809" y="5861488"/>
            <a:ext cx="4833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O" sz="3600" dirty="0"/>
              <a:t>Análisis de patrones</a:t>
            </a:r>
          </a:p>
        </p:txBody>
      </p:sp>
    </p:spTree>
    <p:extLst>
      <p:ext uri="{BB962C8B-B14F-4D97-AF65-F5344CB8AC3E}">
        <p14:creationId xmlns:p14="http://schemas.microsoft.com/office/powerpoint/2010/main" val="257095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3B147-F312-505F-0632-6CFFA94D2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8DD094-33F3-DFBD-0D53-98C95F105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9A7B9-4957-4EFA-E778-06DB50B31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BE48AA-E54C-CDCB-4635-D880ACAAE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A1A8C-E37A-8238-AF55-1F2DC2CED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A4063F-75AA-33DC-2AFB-EB4210898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BC429C-15BE-FE74-5253-45F24F2C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929"/>
            <a:ext cx="12191996" cy="1543812"/>
          </a:xfrm>
        </p:spPr>
        <p:txBody>
          <a:bodyPr>
            <a:normAutofit/>
          </a:bodyPr>
          <a:lstStyle/>
          <a:p>
            <a:pPr algn="ctr"/>
            <a:r>
              <a:rPr lang="es-CO" sz="9600" b="1" dirty="0" err="1">
                <a:solidFill>
                  <a:srgbClr val="FFFFFF"/>
                </a:solidFill>
              </a:rPr>
              <a:t>Mergesort</a:t>
            </a:r>
            <a:endParaRPr lang="es-CO" sz="9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431F2799-1619-9D76-ED83-B0B1C3204AA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233982" y="1644361"/>
                <a:ext cx="9724031" cy="1366835"/>
              </a:xfrm>
              <a:prstGeom prst="rect">
                <a:avLst/>
              </a:prstGeom>
            </p:spPr>
            <p:txBody>
              <a:bodyPr anchor="ctr">
                <a:normAutofit fontScale="85000" lnSpcReduction="10000"/>
              </a:bodyPr>
              <a:lstStyle/>
              <a:p>
                <a:pPr marL="0" lvl="0" indent="0" defTabSz="1422400">
                  <a:spcBef>
                    <a:spcPct val="0"/>
                  </a:spcBef>
                  <a:spcAft>
                    <a:spcPct val="35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6600" b="0" i="1" kern="1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6600" b="0" i="1" kern="120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a:rPr lang="es-CO" sz="6600" b="0" i="1" kern="1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600" kern="1200" dirty="0"/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431F2799-1619-9D76-ED83-B0B1C3204AA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3982" y="1644361"/>
                <a:ext cx="9724031" cy="13668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CCEBD115-85C6-D403-5A78-975171AC0853}"/>
              </a:ext>
            </a:extLst>
          </p:cNvPr>
          <p:cNvSpPr txBox="1"/>
          <p:nvPr/>
        </p:nvSpPr>
        <p:spPr>
          <a:xfrm>
            <a:off x="9510789" y="400556"/>
            <a:ext cx="2370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CO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mano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3">
                <a:extLst>
                  <a:ext uri="{FF2B5EF4-FFF2-40B4-BE49-F238E27FC236}">
                    <a16:creationId xmlns:a16="http://schemas.microsoft.com/office/drawing/2014/main" id="{7ABB8E34-4036-A7DA-116E-59083EFEB9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53310" y="2884345"/>
                <a:ext cx="9724031" cy="13668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defTabSz="1422400">
                  <a:spcBef>
                    <a:spcPct val="0"/>
                  </a:spcBef>
                  <a:spcAft>
                    <a:spcPct val="35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660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660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6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6600" i="1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a:rPr lang="es-CO" sz="6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660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CO" sz="66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660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660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660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6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s-CO" sz="6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O" sz="66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s-CO" sz="6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s-CO" sz="6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66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6600" i="1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s-CO" sz="6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66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6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3" name="Marcador de contenido 3">
                <a:extLst>
                  <a:ext uri="{FF2B5EF4-FFF2-40B4-BE49-F238E27FC236}">
                    <a16:creationId xmlns:a16="http://schemas.microsoft.com/office/drawing/2014/main" id="{7ABB8E34-4036-A7DA-116E-59083EFEB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310" y="2884345"/>
                <a:ext cx="9724031" cy="13668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contenido 3">
                <a:extLst>
                  <a:ext uri="{FF2B5EF4-FFF2-40B4-BE49-F238E27FC236}">
                    <a16:creationId xmlns:a16="http://schemas.microsoft.com/office/drawing/2014/main" id="{3706CC2D-CFA0-3257-E69B-A9ABDDE75C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3086" y="4449099"/>
                <a:ext cx="10604255" cy="167855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defTabSz="1422400">
                  <a:spcBef>
                    <a:spcPct val="0"/>
                  </a:spcBef>
                  <a:spcAft>
                    <a:spcPct val="35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440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440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s-CO" sz="4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O" sz="44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s-CO" sz="4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s-CO" sz="4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4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8" name="Marcador de contenido 3">
                <a:extLst>
                  <a:ext uri="{FF2B5EF4-FFF2-40B4-BE49-F238E27FC236}">
                    <a16:creationId xmlns:a16="http://schemas.microsoft.com/office/drawing/2014/main" id="{3706CC2D-CFA0-3257-E69B-A9ABDDE75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86" y="4449099"/>
                <a:ext cx="10604255" cy="16785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echa: doblada hacia arriba 17">
            <a:extLst>
              <a:ext uri="{FF2B5EF4-FFF2-40B4-BE49-F238E27FC236}">
                <a16:creationId xmlns:a16="http://schemas.microsoft.com/office/drawing/2014/main" id="{BF4B50C2-EA22-14C7-1C93-4D9016DAF73C}"/>
              </a:ext>
            </a:extLst>
          </p:cNvPr>
          <p:cNvSpPr/>
          <p:nvPr/>
        </p:nvSpPr>
        <p:spPr>
          <a:xfrm rot="10800000">
            <a:off x="2237420" y="3429000"/>
            <a:ext cx="1380744" cy="1366835"/>
          </a:xfrm>
          <a:prstGeom prst="bent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Bocadillo: ovalado 18">
            <a:extLst>
              <a:ext uri="{FF2B5EF4-FFF2-40B4-BE49-F238E27FC236}">
                <a16:creationId xmlns:a16="http://schemas.microsoft.com/office/drawing/2014/main" id="{3B3BCA0F-80B6-DF53-2B1E-5C0C9D7B0175}"/>
              </a:ext>
            </a:extLst>
          </p:cNvPr>
          <p:cNvSpPr/>
          <p:nvPr/>
        </p:nvSpPr>
        <p:spPr>
          <a:xfrm>
            <a:off x="5371024" y="1508760"/>
            <a:ext cx="2514600" cy="1375585"/>
          </a:xfrm>
          <a:prstGeom prst="wedgeEllipseCallout">
            <a:avLst>
              <a:gd name="adj1" fmla="val -60469"/>
              <a:gd name="adj2" fmla="val 73800"/>
            </a:avLst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3593470-3731-55F9-AEB9-87B654B7E03E}"/>
              </a:ext>
            </a:extLst>
          </p:cNvPr>
          <p:cNvSpPr txBox="1"/>
          <p:nvPr/>
        </p:nvSpPr>
        <p:spPr>
          <a:xfrm>
            <a:off x="-3" y="5910074"/>
            <a:ext cx="12191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800" dirty="0">
                <a:solidFill>
                  <a:srgbClr val="E97132"/>
                </a:solidFill>
              </a:rPr>
              <a:t>……………………………………………………………...</a:t>
            </a:r>
          </a:p>
        </p:txBody>
      </p:sp>
    </p:spTree>
    <p:extLst>
      <p:ext uri="{BB962C8B-B14F-4D97-AF65-F5344CB8AC3E}">
        <p14:creationId xmlns:p14="http://schemas.microsoft.com/office/powerpoint/2010/main" val="2323111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1E6FF-BC4F-7169-ABC6-90FBFF0D6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3FBD38-71C1-6258-505B-3CB59C3E9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C9A79B-8A16-9A7D-F101-E26A677E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15DFD2-D632-1D8A-6296-206A6AA38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FD1CCA-3509-67E6-C6B5-9198B1E81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C313BF-EE7E-B94D-1C42-7009D528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09D184-6286-AB10-7B35-387CEBB2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929"/>
            <a:ext cx="12191996" cy="1543812"/>
          </a:xfrm>
        </p:spPr>
        <p:txBody>
          <a:bodyPr>
            <a:normAutofit/>
          </a:bodyPr>
          <a:lstStyle/>
          <a:p>
            <a:pPr algn="ctr"/>
            <a:r>
              <a:rPr lang="es-CO" sz="9600" b="1" dirty="0" err="1">
                <a:solidFill>
                  <a:srgbClr val="FFFFFF"/>
                </a:solidFill>
              </a:rPr>
              <a:t>Mergesort</a:t>
            </a:r>
            <a:endParaRPr lang="es-CO" sz="9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2E26C06D-E4F6-800D-A937-820D6BE52A22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2467969" y="1605017"/>
                <a:ext cx="9724031" cy="1366835"/>
              </a:xfrm>
              <a:prstGeom prst="rect">
                <a:avLst/>
              </a:prstGeom>
            </p:spPr>
            <p:txBody>
              <a:bodyPr anchor="ctr">
                <a:normAutofit fontScale="85000" lnSpcReduction="10000"/>
              </a:bodyPr>
              <a:lstStyle/>
              <a:p>
                <a:pPr marL="0" lvl="0" indent="0" defTabSz="1422400">
                  <a:spcBef>
                    <a:spcPct val="0"/>
                  </a:spcBef>
                  <a:spcAft>
                    <a:spcPct val="35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6600" b="0" i="1" kern="1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6600" b="0" i="1" kern="120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a:rPr lang="es-CO" sz="6600" b="0" i="1" kern="1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6600" b="0" i="1" kern="12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6600" b="0" i="1" kern="12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600" kern="1200" dirty="0"/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2E26C06D-E4F6-800D-A937-820D6BE52A2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7969" y="1605017"/>
                <a:ext cx="9724031" cy="13668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2033B291-918D-34C9-8F85-0AB005723238}"/>
              </a:ext>
            </a:extLst>
          </p:cNvPr>
          <p:cNvSpPr txBox="1"/>
          <p:nvPr/>
        </p:nvSpPr>
        <p:spPr>
          <a:xfrm>
            <a:off x="8883558" y="195205"/>
            <a:ext cx="35381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CO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Análisis de patrones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F341452-7164-F05B-CC37-D763C79B77E4}"/>
              </a:ext>
            </a:extLst>
          </p:cNvPr>
          <p:cNvSpPr txBox="1"/>
          <p:nvPr/>
        </p:nvSpPr>
        <p:spPr>
          <a:xfrm>
            <a:off x="44809" y="1800224"/>
            <a:ext cx="32186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dirty="0"/>
              <a:t>Este mismo patrón de fórmula se repite para algunas funciones recursivas.</a:t>
            </a:r>
          </a:p>
        </p:txBody>
      </p:sp>
      <p:sp>
        <p:nvSpPr>
          <p:cNvPr id="6" name="Bocadillo: ovalado 5">
            <a:extLst>
              <a:ext uri="{FF2B5EF4-FFF2-40B4-BE49-F238E27FC236}">
                <a16:creationId xmlns:a16="http://schemas.microsoft.com/office/drawing/2014/main" id="{23A91441-2173-FE11-A152-FA8C9A595D9A}"/>
              </a:ext>
            </a:extLst>
          </p:cNvPr>
          <p:cNvSpPr/>
          <p:nvPr/>
        </p:nvSpPr>
        <p:spPr>
          <a:xfrm>
            <a:off x="5357166" y="3072225"/>
            <a:ext cx="3218688" cy="1033431"/>
          </a:xfrm>
          <a:prstGeom prst="wedgeEllipseCallout">
            <a:avLst>
              <a:gd name="adj1" fmla="val 5422"/>
              <a:gd name="adj2" fmla="val -107705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b="1" dirty="0"/>
              <a:t>Llamados recursivos </a:t>
            </a:r>
          </a:p>
        </p:txBody>
      </p:sp>
      <p:sp>
        <p:nvSpPr>
          <p:cNvPr id="7" name="Bocadillo: ovalado 6">
            <a:extLst>
              <a:ext uri="{FF2B5EF4-FFF2-40B4-BE49-F238E27FC236}">
                <a16:creationId xmlns:a16="http://schemas.microsoft.com/office/drawing/2014/main" id="{D9434163-29A5-1D9A-17F1-10D25A43AFEF}"/>
              </a:ext>
            </a:extLst>
          </p:cNvPr>
          <p:cNvSpPr/>
          <p:nvPr/>
        </p:nvSpPr>
        <p:spPr>
          <a:xfrm>
            <a:off x="8774583" y="3072224"/>
            <a:ext cx="3218688" cy="1033431"/>
          </a:xfrm>
          <a:prstGeom prst="wedgeEllipseCallout">
            <a:avLst>
              <a:gd name="adj1" fmla="val 5422"/>
              <a:gd name="adj2" fmla="val -107705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b="1" dirty="0"/>
              <a:t>Proceso posterior</a:t>
            </a:r>
          </a:p>
        </p:txBody>
      </p:sp>
      <p:sp>
        <p:nvSpPr>
          <p:cNvPr id="10" name="Flecha: doblada hacia arriba 9">
            <a:extLst>
              <a:ext uri="{FF2B5EF4-FFF2-40B4-BE49-F238E27FC236}">
                <a16:creationId xmlns:a16="http://schemas.microsoft.com/office/drawing/2014/main" id="{9441821B-E729-B23D-4E21-EB40B407186E}"/>
              </a:ext>
            </a:extLst>
          </p:cNvPr>
          <p:cNvSpPr/>
          <p:nvPr/>
        </p:nvSpPr>
        <p:spPr>
          <a:xfrm rot="10800000" flipH="1" flipV="1">
            <a:off x="3186686" y="2610410"/>
            <a:ext cx="1380744" cy="1366835"/>
          </a:xfrm>
          <a:prstGeom prst="bent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44E5D0F-E4B1-D913-D747-1B4A2347AB11}"/>
              </a:ext>
            </a:extLst>
          </p:cNvPr>
          <p:cNvSpPr txBox="1">
            <a:spLocks/>
          </p:cNvSpPr>
          <p:nvPr/>
        </p:nvSpPr>
        <p:spPr>
          <a:xfrm>
            <a:off x="6735303" y="4599074"/>
            <a:ext cx="3648624" cy="163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6600" dirty="0"/>
              <a:t>Teorema maestro</a:t>
            </a:r>
          </a:p>
        </p:txBody>
      </p:sp>
      <p:sp>
        <p:nvSpPr>
          <p:cNvPr id="16" name="Marco 15">
            <a:extLst>
              <a:ext uri="{FF2B5EF4-FFF2-40B4-BE49-F238E27FC236}">
                <a16:creationId xmlns:a16="http://schemas.microsoft.com/office/drawing/2014/main" id="{01E5E7AC-3B9A-CB36-C19A-8CC18476567F}"/>
              </a:ext>
            </a:extLst>
          </p:cNvPr>
          <p:cNvSpPr/>
          <p:nvPr/>
        </p:nvSpPr>
        <p:spPr>
          <a:xfrm>
            <a:off x="6254496" y="4288536"/>
            <a:ext cx="4608576" cy="2121408"/>
          </a:xfrm>
          <a:prstGeom prst="fram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54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962958-7EFA-472F-EDA3-846F27A3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980A7F4A-3F9A-60D7-BB2E-F72F15E0C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3A4FFC-7E43-A43F-F749-23145D116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1DAF8828-0849-2C7D-C802-4DE13590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5B96701B-3EA9-235F-3140-7E04ECB05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6964C6-EA2B-EA19-C802-617B07CF2D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888" y="2136614"/>
                <a:ext cx="11945102" cy="472138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CO" sz="4400" dirty="0"/>
                  <a:t>El Teorema Maestro nos permite resolver recurrencias de la forma:</a:t>
                </a:r>
              </a:p>
              <a:p>
                <a:pPr marL="0" indent="0">
                  <a:buNone/>
                </a:pPr>
                <a:endParaRPr lang="es-CO" sz="4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4400" i="1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O" sz="4400" b="0" i="1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r>
                        <a:rPr lang="es-CO" sz="4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  <a:p>
                <a:pPr marL="0" indent="0">
                  <a:buNone/>
                </a:pPr>
                <a:endParaRPr lang="es-CO" sz="4400" dirty="0"/>
              </a:p>
              <a:p>
                <a:r>
                  <a:rPr lang="es-CO" sz="4400" dirty="0"/>
                  <a:t>No resuelve cualquier recursión.</a:t>
                </a:r>
              </a:p>
              <a:p>
                <a:pPr lvl="1"/>
                <a:r>
                  <a:rPr lang="es-CO" sz="4000" dirty="0"/>
                  <a:t>Resuelve este patrón específico.</a:t>
                </a:r>
                <a:endParaRPr lang="en-US" sz="4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B1A2CC-B3E2-BFF7-BCFA-6004CD8D7D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888" y="2136614"/>
                <a:ext cx="11945102" cy="4721386"/>
              </a:xfrm>
              <a:blipFill>
                <a:blip r:embed="rId2"/>
                <a:stretch>
                  <a:fillRect l="-1889" t="-490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9710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641F49-97C1-0063-7EE2-A70C587AF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B1A2CC-B3E2-BFF7-BCFA-6004CD8D7D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40" y="2603040"/>
                <a:ext cx="11945102" cy="8351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4400" i="1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O" sz="4400" b="0" i="1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r>
                        <a:rPr lang="es-CO" sz="4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B1A2CC-B3E2-BFF7-BCFA-6004CD8D7D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" y="2603040"/>
                <a:ext cx="11945102" cy="83519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Bocadillo: ovalado 3">
            <a:extLst>
              <a:ext uri="{FF2B5EF4-FFF2-40B4-BE49-F238E27FC236}">
                <a16:creationId xmlns:a16="http://schemas.microsoft.com/office/drawing/2014/main" id="{BCF12435-62FF-DB7F-6554-D399D87E404F}"/>
              </a:ext>
            </a:extLst>
          </p:cNvPr>
          <p:cNvSpPr/>
          <p:nvPr/>
        </p:nvSpPr>
        <p:spPr>
          <a:xfrm>
            <a:off x="4175755" y="3581446"/>
            <a:ext cx="3218688" cy="1033431"/>
          </a:xfrm>
          <a:prstGeom prst="wedgeEllipseCallout">
            <a:avLst>
              <a:gd name="adj1" fmla="val 11672"/>
              <a:gd name="adj2" fmla="val -78506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b="1" dirty="0"/>
              <a:t>Llamados recursivos </a:t>
            </a:r>
          </a:p>
        </p:txBody>
      </p:sp>
      <p:sp>
        <p:nvSpPr>
          <p:cNvPr id="5" name="Bocadillo: ovalado 4">
            <a:extLst>
              <a:ext uri="{FF2B5EF4-FFF2-40B4-BE49-F238E27FC236}">
                <a16:creationId xmlns:a16="http://schemas.microsoft.com/office/drawing/2014/main" id="{680EE407-FB8F-C59E-81AC-C4C9C704F7A8}"/>
              </a:ext>
            </a:extLst>
          </p:cNvPr>
          <p:cNvSpPr/>
          <p:nvPr/>
        </p:nvSpPr>
        <p:spPr>
          <a:xfrm>
            <a:off x="7988199" y="3581446"/>
            <a:ext cx="3218688" cy="1033431"/>
          </a:xfrm>
          <a:prstGeom prst="wedgeEllipseCallout">
            <a:avLst>
              <a:gd name="adj1" fmla="val -24976"/>
              <a:gd name="adj2" fmla="val -79391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b="1" dirty="0"/>
              <a:t>Proceso posterior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E02241F-1BBD-6C51-FFF1-3FCDF6EFC94A}"/>
              </a:ext>
            </a:extLst>
          </p:cNvPr>
          <p:cNvSpPr/>
          <p:nvPr/>
        </p:nvSpPr>
        <p:spPr>
          <a:xfrm>
            <a:off x="909958" y="1949821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CFEEE8-035D-1E23-84D2-F40058C79A43}"/>
              </a:ext>
            </a:extLst>
          </p:cNvPr>
          <p:cNvSpPr txBox="1"/>
          <p:nvPr/>
        </p:nvSpPr>
        <p:spPr>
          <a:xfrm>
            <a:off x="434475" y="5006541"/>
            <a:ext cx="60944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000" b="1" dirty="0"/>
              <a:t>¿De dónde sale la mayor parte del tiempo de ejecución?</a:t>
            </a:r>
            <a:endParaRPr lang="es-CO" sz="4000" dirty="0"/>
          </a:p>
        </p:txBody>
      </p:sp>
      <p:sp>
        <p:nvSpPr>
          <p:cNvPr id="9" name="Flecha: doblada hacia arriba 8">
            <a:extLst>
              <a:ext uri="{FF2B5EF4-FFF2-40B4-BE49-F238E27FC236}">
                <a16:creationId xmlns:a16="http://schemas.microsoft.com/office/drawing/2014/main" id="{472C19D7-E398-693B-69CA-A481D9F76B78}"/>
              </a:ext>
            </a:extLst>
          </p:cNvPr>
          <p:cNvSpPr/>
          <p:nvPr/>
        </p:nvSpPr>
        <p:spPr>
          <a:xfrm flipH="1" flipV="1">
            <a:off x="2416280" y="3931920"/>
            <a:ext cx="1659506" cy="1188720"/>
          </a:xfrm>
          <a:prstGeom prst="bent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Flecha: doblada hacia arriba 9">
            <a:extLst>
              <a:ext uri="{FF2B5EF4-FFF2-40B4-BE49-F238E27FC236}">
                <a16:creationId xmlns:a16="http://schemas.microsoft.com/office/drawing/2014/main" id="{766C24C7-AF56-683D-FCCD-55EAB466213E}"/>
              </a:ext>
            </a:extLst>
          </p:cNvPr>
          <p:cNvSpPr/>
          <p:nvPr/>
        </p:nvSpPr>
        <p:spPr>
          <a:xfrm rot="5400000" flipV="1">
            <a:off x="7418003" y="3805757"/>
            <a:ext cx="1412510" cy="3246768"/>
          </a:xfrm>
          <a:prstGeom prst="bent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26632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A6FCE-C319-01BF-7761-8DAEBA062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C8DE8E54-415A-B0EB-2C19-AA35A526C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57F397-57F5-5353-43D4-FD43BC65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A37CA428-7FB7-5084-FBCA-7EB70EDB8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831EAFD7-3768-A770-1A67-F8452553B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9424B43-8755-BFDF-9F3B-314FE11280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449" y="2091831"/>
                <a:ext cx="11945102" cy="8351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4400" i="1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O" sz="4400" b="0" i="1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r>
                        <a:rPr lang="es-CO" sz="4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9424B43-8755-BFDF-9F3B-314FE11280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449" y="2091831"/>
                <a:ext cx="11945102" cy="83519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9C596E89-DA4B-F049-591D-E815501F6D7D}"/>
              </a:ext>
            </a:extLst>
          </p:cNvPr>
          <p:cNvSpPr/>
          <p:nvPr/>
        </p:nvSpPr>
        <p:spPr>
          <a:xfrm>
            <a:off x="909958" y="1949821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5FCB09B-55C7-6BA8-67F6-F483D0A4E9F8}"/>
              </a:ext>
            </a:extLst>
          </p:cNvPr>
          <p:cNvSpPr/>
          <p:nvPr/>
        </p:nvSpPr>
        <p:spPr>
          <a:xfrm>
            <a:off x="4879843" y="1949821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CAF2A13-FD7E-5C63-4140-300BC3D3ECBB}"/>
              </a:ext>
            </a:extLst>
          </p:cNvPr>
          <p:cNvSpPr txBox="1">
            <a:spLocks/>
          </p:cNvSpPr>
          <p:nvPr/>
        </p:nvSpPr>
        <p:spPr>
          <a:xfrm>
            <a:off x="246888" y="3429000"/>
            <a:ext cx="11945102" cy="29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4400" i="1" u="sng" noProof="0" dirty="0"/>
              <a:t>Empecemos con la parte recursiva…</a:t>
            </a:r>
          </a:p>
          <a:p>
            <a:pPr marL="0" indent="0" algn="ctr">
              <a:buNone/>
            </a:pPr>
            <a:endParaRPr lang="es-CO" sz="4400" i="1" u="sng" noProof="0" dirty="0"/>
          </a:p>
          <a:p>
            <a:r>
              <a:rPr lang="es-CO" sz="4000" noProof="0" dirty="0"/>
              <a:t>La parte recursiva genera un árbol. Y ese árbol tiene un tamaño que podemos medir.</a:t>
            </a:r>
          </a:p>
        </p:txBody>
      </p:sp>
    </p:spTree>
    <p:extLst>
      <p:ext uri="{BB962C8B-B14F-4D97-AF65-F5344CB8AC3E}">
        <p14:creationId xmlns:p14="http://schemas.microsoft.com/office/powerpoint/2010/main" val="1380344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7BAD6-7CB6-8C6A-E4AF-64CB9A8D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CO" sz="6000" b="1" dirty="0"/>
              <a:t>Árbol de Recurrencia</a:t>
            </a:r>
          </a:p>
        </p:txBody>
      </p:sp>
      <p:pic>
        <p:nvPicPr>
          <p:cNvPr id="1026" name="Picture 2" descr="Programación recursiva: sistemas complejos e inteligencia artificial">
            <a:extLst>
              <a:ext uri="{FF2B5EF4-FFF2-40B4-BE49-F238E27FC236}">
                <a16:creationId xmlns:a16="http://schemas.microsoft.com/office/drawing/2014/main" id="{1D9670D9-359B-4CAE-3157-7775E41F26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52" y="1333682"/>
            <a:ext cx="5977048" cy="481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3B18716-0ED4-63F6-EA65-923D9FA3CAE8}"/>
              </a:ext>
            </a:extLst>
          </p:cNvPr>
          <p:cNvSpPr txBox="1"/>
          <p:nvPr/>
        </p:nvSpPr>
        <p:spPr>
          <a:xfrm>
            <a:off x="0" y="6542104"/>
            <a:ext cx="7991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 de: </a:t>
            </a:r>
            <a:r>
              <a:rPr lang="en-AU" sz="1400" dirty="0">
                <a:solidFill>
                  <a:prstClr val="black"/>
                </a:solidFill>
                <a:hlinkClick r:id="rId3"/>
              </a:rPr>
              <a:t>https://complex-systems-ai.com/es/algoritmico/programacion-recursiva/?amp=1</a:t>
            </a:r>
            <a:r>
              <a:rPr lang="en-AU" sz="1400" dirty="0">
                <a:solidFill>
                  <a:prstClr val="black"/>
                </a:solidFill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B5E431A-797A-FCD2-2843-51EF91F7E807}"/>
              </a:ext>
            </a:extLst>
          </p:cNvPr>
          <p:cNvSpPr txBox="1">
            <a:spLocks/>
          </p:cNvSpPr>
          <p:nvPr/>
        </p:nvSpPr>
        <p:spPr>
          <a:xfrm>
            <a:off x="4297680" y="1108084"/>
            <a:ext cx="7683998" cy="2019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4400" i="1" u="sng" noProof="0" dirty="0"/>
              <a:t>La complejidad total del algoritmo es la suma del costo de TODAS las llamadas.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25EDBD5-D5FD-7ED0-A382-50A44C9C36E0}"/>
                  </a:ext>
                </a:extLst>
              </p:cNvPr>
              <p:cNvSpPr txBox="1"/>
              <p:nvPr/>
            </p:nvSpPr>
            <p:spPr>
              <a:xfrm>
                <a:off x="3287255" y="5202561"/>
                <a:ext cx="8694423" cy="156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CO" sz="2800" dirty="0"/>
                  <a:t>Como cada llamada es un nodo: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z="2800" b="1"/>
                        <m:t>Complejidad</m:t>
                      </m:r>
                      <m:r>
                        <m:rPr>
                          <m:nor/>
                        </m:rPr>
                        <a:rPr lang="es-CO" sz="2800" b="1" i="1"/>
                        <m:t> </m:t>
                      </m:r>
                      <m:r>
                        <m:rPr>
                          <m:nor/>
                        </m:rPr>
                        <a:rPr lang="es-CO" sz="2800" b="1" i="1"/>
                        <m:t>total</m:t>
                      </m:r>
                      <m:r>
                        <a:rPr lang="es-CO" sz="2800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28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2800" b="1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lang="ar-AE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O" sz="2800" b="1" i="1">
                              <a:latin typeface="Cambria Math" panose="02040503050406030204" pitchFamily="18" charset="0"/>
                            </a:rPr>
                            <m:t>costo</m:t>
                          </m:r>
                          <m:r>
                            <m:rPr>
                              <m:nor/>
                            </m:rPr>
                            <a:rPr lang="es-CO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s-CO" sz="2800" b="1" i="1">
                              <a:latin typeface="Cambria Math" panose="02040503050406030204" pitchFamily="18" charset="0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lang="es-CO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s-CO" sz="2800" b="1" i="1">
                              <a:latin typeface="Cambria Math" panose="02040503050406030204" pitchFamily="18" charset="0"/>
                            </a:rPr>
                            <m:t>cada</m:t>
                          </m:r>
                          <m:r>
                            <m:rPr>
                              <m:nor/>
                            </m:rPr>
                            <a:rPr lang="es-CO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s-CO" sz="2800" b="1" i="1">
                              <a:latin typeface="Cambria Math" panose="02040503050406030204" pitchFamily="18" charset="0"/>
                            </a:rPr>
                            <m:t>nodo</m:t>
                          </m:r>
                        </m:e>
                      </m:d>
                    </m:oMath>
                  </m:oMathPara>
                </a14:m>
                <a:endParaRPr lang="ar-AE" sz="2800" b="1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25EDBD5-D5FD-7ED0-A382-50A44C9C3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255" y="5202561"/>
                <a:ext cx="8694423" cy="1566583"/>
              </a:xfrm>
              <a:prstGeom prst="rect">
                <a:avLst/>
              </a:prstGeom>
              <a:blipFill>
                <a:blip r:embed="rId4"/>
                <a:stretch>
                  <a:fillRect l="-1262" t="-389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958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D3DC8-66C6-B69C-CCFA-9A919DE8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338D6-B992-4D9A-3B9F-6D2CEF18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CO" sz="6000" b="1" dirty="0"/>
              <a:t>Árbol de Recurrencia</a:t>
            </a:r>
          </a:p>
        </p:txBody>
      </p:sp>
      <p:pic>
        <p:nvPicPr>
          <p:cNvPr id="1026" name="Picture 2" descr="Programación recursiva: sistemas complejos e inteligencia artificial">
            <a:extLst>
              <a:ext uri="{FF2B5EF4-FFF2-40B4-BE49-F238E27FC236}">
                <a16:creationId xmlns:a16="http://schemas.microsoft.com/office/drawing/2014/main" id="{95CB5F41-ABD1-9E6A-6557-59C9177FC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52" y="1700784"/>
            <a:ext cx="5521148" cy="444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1B0D2E8-BA26-4A4F-C795-E2EA741B9D2B}"/>
              </a:ext>
            </a:extLst>
          </p:cNvPr>
          <p:cNvSpPr txBox="1"/>
          <p:nvPr/>
        </p:nvSpPr>
        <p:spPr>
          <a:xfrm>
            <a:off x="0" y="6542104"/>
            <a:ext cx="7991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https://complex-systems-ai.com/es/algoritmico/programacion-recursiva/?amp=1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C4023B5-9B6D-15E2-03B7-F65B6DACF350}"/>
                  </a:ext>
                </a:extLst>
              </p:cNvPr>
              <p:cNvSpPr txBox="1"/>
              <p:nvPr/>
            </p:nvSpPr>
            <p:spPr>
              <a:xfrm>
                <a:off x="3497577" y="1333682"/>
                <a:ext cx="8694423" cy="156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s-CO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Como cada llamada es un nodo: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s-CO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Complejidad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total</m:t>
                      </m:r>
                      <m:r>
                        <a:rPr kumimoji="0" lang="es-CO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ar-AE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costo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cada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nodo</m:t>
                          </m:r>
                        </m:e>
                      </m:d>
                    </m:oMath>
                  </m:oMathPara>
                </a14:m>
                <a:endParaRPr kumimoji="0" lang="ar-AE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C4023B5-9B6D-15E2-03B7-F65B6DACF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577" y="1333682"/>
                <a:ext cx="8694423" cy="1566583"/>
              </a:xfrm>
              <a:prstGeom prst="rect">
                <a:avLst/>
              </a:prstGeom>
              <a:blipFill>
                <a:blip r:embed="rId4"/>
                <a:stretch>
                  <a:fillRect l="-1262" t="-4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51815089-9C3B-C2A0-BD20-E948E719A178}"/>
              </a:ext>
            </a:extLst>
          </p:cNvPr>
          <p:cNvSpPr txBox="1"/>
          <p:nvPr/>
        </p:nvSpPr>
        <p:spPr>
          <a:xfrm>
            <a:off x="5569996" y="3099566"/>
            <a:ext cx="66220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3200" dirty="0"/>
              <a:t>El árbol sirve para: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Contar cuántas llamadas hay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Saber qué tamaño tiene cada llamada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Organizar esas llamadas por niveles</a:t>
            </a:r>
          </a:p>
        </p:txBody>
      </p:sp>
    </p:spTree>
    <p:extLst>
      <p:ext uri="{BB962C8B-B14F-4D97-AF65-F5344CB8AC3E}">
        <p14:creationId xmlns:p14="http://schemas.microsoft.com/office/powerpoint/2010/main" val="814717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B41E-9EF9-64B9-EE3B-78E5CC07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0023C-643E-4039-7031-4996CE29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CO" sz="6000" b="1" dirty="0"/>
              <a:t>Árbol de Recurrencia</a:t>
            </a:r>
          </a:p>
        </p:txBody>
      </p:sp>
      <p:pic>
        <p:nvPicPr>
          <p:cNvPr id="1026" name="Picture 2" descr="Programación recursiva: sistemas complejos e inteligencia artificial">
            <a:extLst>
              <a:ext uri="{FF2B5EF4-FFF2-40B4-BE49-F238E27FC236}">
                <a16:creationId xmlns:a16="http://schemas.microsoft.com/office/drawing/2014/main" id="{CE006F1D-3646-9F99-10F4-C74052D225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52" y="1700784"/>
            <a:ext cx="5521148" cy="444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F46093E-10CA-9B13-ABA0-53205AAEC001}"/>
              </a:ext>
            </a:extLst>
          </p:cNvPr>
          <p:cNvSpPr txBox="1"/>
          <p:nvPr/>
        </p:nvSpPr>
        <p:spPr>
          <a:xfrm>
            <a:off x="0" y="6542104"/>
            <a:ext cx="7991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https://complex-systems-ai.com/es/algoritmico/programacion-recursiva/?amp=1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72D6ABC-F46A-209C-55FB-972AC6069B75}"/>
                  </a:ext>
                </a:extLst>
              </p:cNvPr>
              <p:cNvSpPr txBox="1"/>
              <p:nvPr/>
            </p:nvSpPr>
            <p:spPr>
              <a:xfrm>
                <a:off x="3497577" y="1333682"/>
                <a:ext cx="8694423" cy="156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s-CO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Como cada llamada es un nodo: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s-CO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Complejidad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total</m:t>
                      </m:r>
                      <m:r>
                        <a:rPr kumimoji="0" lang="es-CO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ar-AE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costo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cada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nodo</m:t>
                          </m:r>
                        </m:e>
                      </m:d>
                    </m:oMath>
                  </m:oMathPara>
                </a14:m>
                <a:endParaRPr kumimoji="0" lang="ar-AE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72D6ABC-F46A-209C-55FB-972AC6069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577" y="1333682"/>
                <a:ext cx="8694423" cy="1566583"/>
              </a:xfrm>
              <a:prstGeom prst="rect">
                <a:avLst/>
              </a:prstGeom>
              <a:blipFill>
                <a:blip r:embed="rId4"/>
                <a:stretch>
                  <a:fillRect l="-1262" t="-4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5DD3C7D-AB79-1EE1-F286-4D8B13001344}"/>
                  </a:ext>
                </a:extLst>
              </p:cNvPr>
              <p:cNvSpPr txBox="1"/>
              <p:nvPr/>
            </p:nvSpPr>
            <p:spPr>
              <a:xfrm>
                <a:off x="5854278" y="2659245"/>
                <a:ext cx="6123544" cy="2685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CO" sz="2800" dirty="0"/>
                  <a:t>Gráficamente: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CO" sz="2800" dirty="0"/>
                  <a:t>Nivel 0: 1 llamada de tamaño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CO" sz="28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CO" sz="2800" dirty="0"/>
                  <a:t>Nivel 1: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CO" sz="2800" dirty="0"/>
                  <a:t> llamadas de tamaño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CO" sz="280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CO" sz="2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s-CO" sz="28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CO" sz="2800" dirty="0"/>
                  <a:t>Nivel 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sz="2800" dirty="0"/>
                  <a:t> llamadas de tamaño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CO" sz="2800" i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28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ar-AE" sz="2800" dirty="0"/>
                  <a:t>…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CO" sz="2800" dirty="0"/>
                  <a:t>Nivel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CO" sz="28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CO" sz="2800" dirty="0"/>
                  <a:t> llamadas de tamaño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CO" sz="2800" i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ar-AE" sz="28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5DD3C7D-AB79-1EE1-F286-4D8B13001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278" y="2659245"/>
                <a:ext cx="6123544" cy="2685351"/>
              </a:xfrm>
              <a:prstGeom prst="rect">
                <a:avLst/>
              </a:prstGeom>
              <a:blipFill>
                <a:blip r:embed="rId5"/>
                <a:stretch>
                  <a:fillRect l="-1990" t="-2268" b="-544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0EF60FA-3B60-B14E-A4B4-21F04B9B48D6}"/>
                  </a:ext>
                </a:extLst>
              </p:cNvPr>
              <p:cNvSpPr txBox="1"/>
              <p:nvPr/>
            </p:nvSpPr>
            <p:spPr>
              <a:xfrm>
                <a:off x="4673266" y="5669451"/>
                <a:ext cx="7399782" cy="844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z="480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s-CO" sz="4800" b="0"/>
                        <m:t>odos</m:t>
                      </m:r>
                      <m:r>
                        <m:rPr>
                          <m:nor/>
                        </m:rPr>
                        <a:rPr lang="es-CO" sz="4800" b="0" i="1"/>
                        <m:t> </m:t>
                      </m:r>
                      <m:r>
                        <m:rPr>
                          <m:nor/>
                        </m:rPr>
                        <a:rPr lang="es-CO" sz="4800" b="0" i="1"/>
                        <m:t>en</m:t>
                      </m:r>
                      <m:r>
                        <m:rPr>
                          <m:nor/>
                        </m:rPr>
                        <a:rPr lang="es-CO" sz="4800" b="0" i="1"/>
                        <m:t> </m:t>
                      </m:r>
                      <m:r>
                        <m:rPr>
                          <m:nor/>
                        </m:rPr>
                        <a:rPr lang="es-CO" sz="4800" b="0" i="1"/>
                        <m:t>nivel</m:t>
                      </m:r>
                      <m:r>
                        <m:rPr>
                          <m:nor/>
                        </m:rPr>
                        <a:rPr lang="es-CO" sz="4800" b="0" i="1"/>
                        <m:t> </m:t>
                      </m:r>
                      <m:r>
                        <a:rPr lang="es-CO" sz="4800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CO" sz="4800" b="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4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800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 sz="48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sz="4800" b="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0EF60FA-3B60-B14E-A4B4-21F04B9B4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266" y="5669451"/>
                <a:ext cx="7399782" cy="8442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78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69866-0893-8B21-9762-972109D2B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75E72-16E5-5DF4-3A5F-776F1A06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CO" sz="6000" b="1" dirty="0"/>
              <a:t>Árbol de Recurrencia</a:t>
            </a:r>
          </a:p>
        </p:txBody>
      </p:sp>
      <p:pic>
        <p:nvPicPr>
          <p:cNvPr id="1026" name="Picture 2" descr="Programación recursiva: sistemas complejos e inteligencia artificial">
            <a:extLst>
              <a:ext uri="{FF2B5EF4-FFF2-40B4-BE49-F238E27FC236}">
                <a16:creationId xmlns:a16="http://schemas.microsoft.com/office/drawing/2014/main" id="{DECF69D8-4097-06F1-E4B0-033E23B601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52" y="1734851"/>
            <a:ext cx="5521148" cy="444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A91A7B9-C75D-FA2F-10DA-BEB982AFBA69}"/>
              </a:ext>
            </a:extLst>
          </p:cNvPr>
          <p:cNvSpPr txBox="1"/>
          <p:nvPr/>
        </p:nvSpPr>
        <p:spPr>
          <a:xfrm>
            <a:off x="0" y="6542104"/>
            <a:ext cx="7991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https://complex-systems-ai.com/es/algoritmico/programacion-recursiva/?amp=1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2E5A43E-6B2C-E64A-A8BD-B8FBB34DD7BE}"/>
                  </a:ext>
                </a:extLst>
              </p:cNvPr>
              <p:cNvSpPr txBox="1"/>
              <p:nvPr/>
            </p:nvSpPr>
            <p:spPr>
              <a:xfrm>
                <a:off x="3497577" y="1333682"/>
                <a:ext cx="8694423" cy="156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s-CO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Como cada llamada es un nodo: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s-CO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Complejidad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total</m:t>
                      </m:r>
                      <m:r>
                        <a:rPr kumimoji="0" lang="es-CO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ar-AE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costo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cada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nodo</m:t>
                          </m:r>
                        </m:e>
                      </m:d>
                    </m:oMath>
                  </m:oMathPara>
                </a14:m>
                <a:endParaRPr kumimoji="0" lang="ar-AE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2E5A43E-6B2C-E64A-A8BD-B8FBB34DD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577" y="1333682"/>
                <a:ext cx="8694423" cy="1566583"/>
              </a:xfrm>
              <a:prstGeom prst="rect">
                <a:avLst/>
              </a:prstGeom>
              <a:blipFill>
                <a:blip r:embed="rId4"/>
                <a:stretch>
                  <a:fillRect l="-1262" t="-4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D16FBD3-6D7C-DC78-28E1-E428CDCF7D8C}"/>
                  </a:ext>
                </a:extLst>
              </p:cNvPr>
              <p:cNvSpPr txBox="1"/>
              <p:nvPr/>
            </p:nvSpPr>
            <p:spPr>
              <a:xfrm>
                <a:off x="5640100" y="2748573"/>
                <a:ext cx="6432948" cy="33979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s-CO" sz="3200" dirty="0"/>
                  <a:t>El árbol crece hasta que el tamaño del subproblema llega al caso base (tamaño 1):</a:t>
                </a: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ar-AE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3200" dirty="0"/>
              </a:p>
              <a:p>
                <a:pPr algn="just">
                  <a:buNone/>
                </a:pPr>
                <a:r>
                  <a:rPr lang="es-CO" sz="3200" dirty="0"/>
                  <a:t>Resolviendo para </a:t>
                </a:r>
                <a14:m>
                  <m:oMath xmlns:m="http://schemas.openxmlformats.org/officeDocument/2006/math">
                    <m:r>
                      <a:rPr lang="es-CO" sz="3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CO" sz="3200" dirty="0"/>
                  <a:t>:</a:t>
                </a: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CO" sz="32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3200" i="1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3200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fName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ar-AE" sz="32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D16FBD3-6D7C-DC78-28E1-E428CDCF7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100" y="2748573"/>
                <a:ext cx="6432948" cy="3397981"/>
              </a:xfrm>
              <a:prstGeom prst="rect">
                <a:avLst/>
              </a:prstGeom>
              <a:blipFill>
                <a:blip r:embed="rId5"/>
                <a:stretch>
                  <a:fillRect l="-2370" t="-2154" r="-246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9E53793-AB70-7F0C-5543-EF2908C0D6A9}"/>
                  </a:ext>
                </a:extLst>
              </p:cNvPr>
              <p:cNvSpPr txBox="1"/>
              <p:nvPr/>
            </p:nvSpPr>
            <p:spPr>
              <a:xfrm>
                <a:off x="0" y="8119"/>
                <a:ext cx="2633472" cy="2785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O" sz="2500" dirty="0"/>
                  <a:t>La altura del árbol es el número de veces que puedo dividir el problema entre </a:t>
                </a:r>
                <a14:m>
                  <m:oMath xmlns:m="http://schemas.openxmlformats.org/officeDocument/2006/math">
                    <m:r>
                      <a:rPr lang="es-CO" sz="25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s-CO" sz="2500" dirty="0"/>
                  <a:t> antes de llegar a tamaño 1.</a:t>
                </a: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9E53793-AB70-7F0C-5543-EF2908C0D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19"/>
                <a:ext cx="2633472" cy="2785378"/>
              </a:xfrm>
              <a:prstGeom prst="rect">
                <a:avLst/>
              </a:prstGeom>
              <a:blipFill>
                <a:blip r:embed="rId6"/>
                <a:stretch>
                  <a:fillRect l="-3009" t="-1532" r="-5787" b="-437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57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7556-DD31-10A4-4DF7-36DC794C6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D700A-1440-FC1B-DFBE-4B15E4DB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CO" sz="6000" b="1" dirty="0"/>
              <a:t>Árbol de Recurrencia</a:t>
            </a:r>
          </a:p>
        </p:txBody>
      </p:sp>
      <p:pic>
        <p:nvPicPr>
          <p:cNvPr id="1026" name="Picture 2" descr="Programación recursiva: sistemas complejos e inteligencia artificial">
            <a:extLst>
              <a:ext uri="{FF2B5EF4-FFF2-40B4-BE49-F238E27FC236}">
                <a16:creationId xmlns:a16="http://schemas.microsoft.com/office/drawing/2014/main" id="{B8EA99BE-985E-064D-7598-4445163636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52" y="1700784"/>
            <a:ext cx="5521148" cy="444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AD1D96D-6FD5-DECF-003C-CA1DC5845D5E}"/>
              </a:ext>
            </a:extLst>
          </p:cNvPr>
          <p:cNvSpPr txBox="1"/>
          <p:nvPr/>
        </p:nvSpPr>
        <p:spPr>
          <a:xfrm>
            <a:off x="0" y="6542104"/>
            <a:ext cx="7991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https://complex-systems-ai.com/es/algoritmico/programacion-recursiva/?amp=1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FC79D48-D09B-9896-4E54-7DFD218E31BE}"/>
                  </a:ext>
                </a:extLst>
              </p:cNvPr>
              <p:cNvSpPr txBox="1"/>
              <p:nvPr/>
            </p:nvSpPr>
            <p:spPr>
              <a:xfrm>
                <a:off x="3497577" y="1333682"/>
                <a:ext cx="8694423" cy="156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s-CO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Como cada llamada es un nodo: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s-CO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Complejidad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total</m:t>
                      </m:r>
                      <m:r>
                        <a:rPr kumimoji="0" lang="es-CO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ar-AE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costo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cada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nodo</m:t>
                          </m:r>
                        </m:e>
                      </m:d>
                    </m:oMath>
                  </m:oMathPara>
                </a14:m>
                <a:endParaRPr kumimoji="0" lang="ar-AE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FC79D48-D09B-9896-4E54-7DFD218E3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577" y="1333682"/>
                <a:ext cx="8694423" cy="1566583"/>
              </a:xfrm>
              <a:prstGeom prst="rect">
                <a:avLst/>
              </a:prstGeom>
              <a:blipFill>
                <a:blip r:embed="rId4"/>
                <a:stretch>
                  <a:fillRect l="-1262" t="-4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3CA6A69-8E00-3C68-7973-88D052E342AD}"/>
                  </a:ext>
                </a:extLst>
              </p:cNvPr>
              <p:cNvSpPr txBox="1"/>
              <p:nvPr/>
            </p:nvSpPr>
            <p:spPr>
              <a:xfrm>
                <a:off x="5420034" y="3196540"/>
                <a:ext cx="6653014" cy="2872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s-CO" sz="3600" dirty="0"/>
                  <a:t>El último nivel 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CO" sz="36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ar-AE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3600" i="1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36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fName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s-CO" sz="36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s-CO" sz="3600" dirty="0"/>
                  <a:t>El número de nodos en ese nivel 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z="360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s-CO" sz="3600"/>
                        <m:t>odos</m:t>
                      </m:r>
                      <m:r>
                        <m:rPr>
                          <m:nor/>
                        </m:rPr>
                        <a:rPr lang="es-CO" sz="3600" i="1"/>
                        <m:t> </m:t>
                      </m:r>
                      <m:r>
                        <m:rPr>
                          <m:nor/>
                        </m:rPr>
                        <a:rPr lang="es-CO" sz="3600" i="1"/>
                        <m:t>en</m:t>
                      </m:r>
                      <m:r>
                        <m:rPr>
                          <m:nor/>
                        </m:rPr>
                        <a:rPr lang="es-CO" sz="3600" i="1"/>
                        <m:t> </m:t>
                      </m:r>
                      <m:r>
                        <m:rPr>
                          <m:nor/>
                        </m:rPr>
                        <a:rPr lang="es-CO" sz="3600" i="1"/>
                        <m:t>nivel</m:t>
                      </m:r>
                      <m:r>
                        <m:rPr>
                          <m:nor/>
                        </m:rPr>
                        <a:rPr lang="es-CO" sz="3600" i="1"/>
                        <m:t> </m:t>
                      </m:r>
                      <m:r>
                        <a:rPr lang="es-CO" sz="3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CO" sz="3600" i="1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sz="36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3CA6A69-8E00-3C68-7973-88D052E34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034" y="3196540"/>
                <a:ext cx="6653014" cy="2872261"/>
              </a:xfrm>
              <a:prstGeom prst="rect">
                <a:avLst/>
              </a:prstGeom>
              <a:blipFill>
                <a:blip r:embed="rId5"/>
                <a:stretch>
                  <a:fillRect l="-2475" t="-31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405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97CF-B150-D847-F504-9EDBC4E1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CB866-FCB5-3600-9C6D-92A5E132D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CO" sz="6000" b="1" dirty="0"/>
              <a:t>Árbol de Recurrencia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B7EAE63-78C0-3304-7B7F-4BD43AD376FE}"/>
                  </a:ext>
                </a:extLst>
              </p:cNvPr>
              <p:cNvSpPr txBox="1"/>
              <p:nvPr/>
            </p:nvSpPr>
            <p:spPr>
              <a:xfrm>
                <a:off x="1072822" y="1156654"/>
                <a:ext cx="8694423" cy="156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s-CO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Como cada llamada es un nodo: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s-CO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Complejidad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total</m:t>
                      </m:r>
                      <m:r>
                        <a:rPr kumimoji="0" lang="es-CO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ar-AE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costo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cada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nodo</m:t>
                          </m:r>
                        </m:e>
                      </m:d>
                    </m:oMath>
                  </m:oMathPara>
                </a14:m>
                <a:endParaRPr kumimoji="0" lang="ar-AE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B7EAE63-78C0-3304-7B7F-4BD43AD37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22" y="1156654"/>
                <a:ext cx="8694423" cy="1566583"/>
              </a:xfrm>
              <a:prstGeom prst="rect">
                <a:avLst/>
              </a:prstGeom>
              <a:blipFill>
                <a:blip r:embed="rId2"/>
                <a:stretch>
                  <a:fillRect l="-1262" t="-4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4EC607B-6093-5EC1-2E66-0E735B069CD0}"/>
                  </a:ext>
                </a:extLst>
              </p:cNvPr>
              <p:cNvSpPr txBox="1"/>
              <p:nvPr/>
            </p:nvSpPr>
            <p:spPr>
              <a:xfrm>
                <a:off x="2769493" y="5221182"/>
                <a:ext cx="6653014" cy="960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kumimoji="0" lang="es-CO" sz="5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5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5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unc>
                            <m:funcPr>
                              <m:ctrlPr>
                                <a:rPr lang="ar-AE" sz="5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ar-AE" sz="5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5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s-CO" sz="5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ar-AE" sz="5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4EC607B-6093-5EC1-2E66-0E735B069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493" y="5221182"/>
                <a:ext cx="6653014" cy="960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E31D0BE-5027-32F3-305C-23FEBEBAB03B}"/>
                  </a:ext>
                </a:extLst>
              </p:cNvPr>
              <p:cNvSpPr txBox="1"/>
              <p:nvPr/>
            </p:nvSpPr>
            <p:spPr>
              <a:xfrm>
                <a:off x="82641" y="2542324"/>
                <a:ext cx="12026718" cy="2318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s-CO" sz="3600" dirty="0"/>
                  <a:t>El último nivel 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CO" sz="36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ar-AE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3600" i="1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36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fName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s-CO" sz="36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s-CO" sz="3600" dirty="0"/>
                  <a:t>El número de nodos en ese nivel 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z="360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s-CO" sz="3600"/>
                        <m:t>odos</m:t>
                      </m:r>
                      <m:r>
                        <m:rPr>
                          <m:nor/>
                        </m:rPr>
                        <a:rPr lang="es-CO" sz="3600" i="1"/>
                        <m:t> </m:t>
                      </m:r>
                      <m:r>
                        <m:rPr>
                          <m:nor/>
                        </m:rPr>
                        <a:rPr lang="es-CO" sz="3600" i="1"/>
                        <m:t>en</m:t>
                      </m:r>
                      <m:r>
                        <m:rPr>
                          <m:nor/>
                        </m:rPr>
                        <a:rPr lang="es-CO" sz="3600" i="1"/>
                        <m:t> </m:t>
                      </m:r>
                      <m:r>
                        <m:rPr>
                          <m:nor/>
                        </m:rPr>
                        <a:rPr lang="es-CO" sz="3600" i="1"/>
                        <m:t>nivel</m:t>
                      </m:r>
                      <m:r>
                        <m:rPr>
                          <m:nor/>
                        </m:rPr>
                        <a:rPr lang="es-CO" sz="3600" i="1"/>
                        <m:t> </m:t>
                      </m:r>
                      <m:r>
                        <a:rPr lang="es-CO" sz="3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CO" sz="3600" i="1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sz="36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E31D0BE-5027-32F3-305C-23FEBEBAB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1" y="2542324"/>
                <a:ext cx="12026718" cy="2318263"/>
              </a:xfrm>
              <a:prstGeom prst="rect">
                <a:avLst/>
              </a:prstGeom>
              <a:blipFill>
                <a:blip r:embed="rId4"/>
                <a:stretch>
                  <a:fillRect l="-1420" t="-394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052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4E7E-C831-5412-3D34-CB228E687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44F62-F575-8858-AB58-1F7F9941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CO" sz="6000" b="1" dirty="0"/>
              <a:t>Árbol de Recurrencia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EB21880-38CA-D493-57BC-895016017778}"/>
                  </a:ext>
                </a:extLst>
              </p:cNvPr>
              <p:cNvSpPr txBox="1"/>
              <p:nvPr/>
            </p:nvSpPr>
            <p:spPr>
              <a:xfrm>
                <a:off x="1072822" y="1156654"/>
                <a:ext cx="8694423" cy="156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s-CO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Como cada llamada es un nodo: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s-CO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Complejidad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total</m:t>
                      </m:r>
                      <m:r>
                        <a:rPr kumimoji="0" lang="es-CO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ar-AE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costo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cada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nodo</m:t>
                          </m:r>
                        </m:e>
                      </m:d>
                    </m:oMath>
                  </m:oMathPara>
                </a14:m>
                <a:endParaRPr kumimoji="0" lang="ar-AE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EB21880-38CA-D493-57BC-895016017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22" y="1156654"/>
                <a:ext cx="8694423" cy="1566583"/>
              </a:xfrm>
              <a:prstGeom prst="rect">
                <a:avLst/>
              </a:prstGeom>
              <a:blipFill>
                <a:blip r:embed="rId2"/>
                <a:stretch>
                  <a:fillRect l="-1262" t="-4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10E7B41-1B8F-1088-23C0-5B879B7A01F8}"/>
                  </a:ext>
                </a:extLst>
              </p:cNvPr>
              <p:cNvSpPr txBox="1"/>
              <p:nvPr/>
            </p:nvSpPr>
            <p:spPr>
              <a:xfrm>
                <a:off x="1580773" y="3150673"/>
                <a:ext cx="6653014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𝒂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ar-AE" sz="5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𝒏</m:t>
                              </m:r>
                            </m:e>
                          </m:func>
                        </m:sup>
                      </m:sSup>
                      <m:r>
                        <a:rPr kumimoji="0" lang="es-CO" sz="5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p>
                        <m:sSupPr>
                          <m:ctrlPr>
                            <a:rPr lang="ar-AE" sz="5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 sz="5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lang="ar-AE" sz="5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ar-AE" sz="5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5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s-CO" sz="5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s-CO" sz="5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10E7B41-1B8F-1088-23C0-5B879B7A0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773" y="3150673"/>
                <a:ext cx="6653014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lecha: doblada hacia arriba 2">
            <a:extLst>
              <a:ext uri="{FF2B5EF4-FFF2-40B4-BE49-F238E27FC236}">
                <a16:creationId xmlns:a16="http://schemas.microsoft.com/office/drawing/2014/main" id="{57F6AFCE-C0DA-75E3-EC4F-FB82F5F9C504}"/>
              </a:ext>
            </a:extLst>
          </p:cNvPr>
          <p:cNvSpPr/>
          <p:nvPr/>
        </p:nvSpPr>
        <p:spPr>
          <a:xfrm rot="5400000">
            <a:off x="6185916" y="3767935"/>
            <a:ext cx="1033272" cy="142646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1AAF61-A339-6ECE-9898-64125368CCC0}"/>
              </a:ext>
            </a:extLst>
          </p:cNvPr>
          <p:cNvSpPr txBox="1"/>
          <p:nvPr/>
        </p:nvSpPr>
        <p:spPr>
          <a:xfrm>
            <a:off x="7415784" y="3964531"/>
            <a:ext cx="3849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O" sz="3200" dirty="0"/>
              <a:t>cambio de base + propiedades de exponentes</a:t>
            </a:r>
            <a:endParaRPr lang="ar-AE" sz="3200" dirty="0"/>
          </a:p>
        </p:txBody>
      </p:sp>
      <p:sp>
        <p:nvSpPr>
          <p:cNvPr id="8" name="Pergamino: vertical 7">
            <a:extLst>
              <a:ext uri="{FF2B5EF4-FFF2-40B4-BE49-F238E27FC236}">
                <a16:creationId xmlns:a16="http://schemas.microsoft.com/office/drawing/2014/main" id="{03D4F3A1-4760-9546-C798-A053A1AB4F4A}"/>
              </a:ext>
            </a:extLst>
          </p:cNvPr>
          <p:cNvSpPr/>
          <p:nvPr/>
        </p:nvSpPr>
        <p:spPr>
          <a:xfrm>
            <a:off x="226247" y="4532794"/>
            <a:ext cx="5375533" cy="2048256"/>
          </a:xfrm>
          <a:prstGeom prst="verticalScroll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b="1" u="sng" dirty="0"/>
              <a:t>Tarea</a:t>
            </a:r>
            <a:r>
              <a:rPr lang="es-CO" sz="3600" dirty="0"/>
              <a:t>: Averiguar como se llega a esta igualdad</a:t>
            </a:r>
          </a:p>
        </p:txBody>
      </p:sp>
    </p:spTree>
    <p:extLst>
      <p:ext uri="{BB962C8B-B14F-4D97-AF65-F5344CB8AC3E}">
        <p14:creationId xmlns:p14="http://schemas.microsoft.com/office/powerpoint/2010/main" val="155149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944E-60A3-F373-4F7E-68795B57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73BDB-A9FC-FD62-BF5D-99A0A99D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CO" sz="6000" b="1" dirty="0"/>
              <a:t>Árbol de Recurrencia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5E6A003-1FB6-A4EF-CA32-20FD54BD18D6}"/>
                  </a:ext>
                </a:extLst>
              </p:cNvPr>
              <p:cNvSpPr txBox="1"/>
              <p:nvPr/>
            </p:nvSpPr>
            <p:spPr>
              <a:xfrm>
                <a:off x="1072822" y="1156654"/>
                <a:ext cx="8694423" cy="156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s-CO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Como cada llamada es un nodo: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s-CO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Complejidad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m:t>total</m:t>
                      </m:r>
                      <m:r>
                        <a:rPr kumimoji="0" lang="es-CO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ar-AE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kumimoji="0" lang="ar-AE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costo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de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cada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nodo</m:t>
                          </m:r>
                        </m:e>
                      </m:d>
                    </m:oMath>
                  </m:oMathPara>
                </a14:m>
                <a:endParaRPr kumimoji="0" lang="ar-AE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5E6A003-1FB6-A4EF-CA32-20FD54BD1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22" y="1156654"/>
                <a:ext cx="8694423" cy="1566583"/>
              </a:xfrm>
              <a:prstGeom prst="rect">
                <a:avLst/>
              </a:prstGeom>
              <a:blipFill>
                <a:blip r:embed="rId2"/>
                <a:stretch>
                  <a:fillRect l="-1262" t="-4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5BD447E-1829-F6B7-D30E-F964A82FF7F6}"/>
                  </a:ext>
                </a:extLst>
              </p:cNvPr>
              <p:cNvSpPr txBox="1"/>
              <p:nvPr/>
            </p:nvSpPr>
            <p:spPr>
              <a:xfrm>
                <a:off x="2595757" y="2556313"/>
                <a:ext cx="6653014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5BD447E-1829-F6B7-D30E-F964A82FF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57" y="2556313"/>
                <a:ext cx="6653014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88C913F7-D1E2-D613-3C7F-B74D88230080}"/>
              </a:ext>
            </a:extLst>
          </p:cNvPr>
          <p:cNvSpPr txBox="1"/>
          <p:nvPr/>
        </p:nvSpPr>
        <p:spPr>
          <a:xfrm>
            <a:off x="386715" y="3642589"/>
            <a:ext cx="114185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O" sz="3600" dirty="0"/>
              <a:t>Este valor nos dice cuántas llamadas básicas se ejecutan en total.</a:t>
            </a:r>
          </a:p>
          <a:p>
            <a:pPr algn="ctr">
              <a:buNone/>
            </a:pPr>
            <a:endParaRPr lang="es-CO" sz="3600" dirty="0"/>
          </a:p>
          <a:p>
            <a:pPr algn="ctr">
              <a:buNone/>
            </a:pPr>
            <a:r>
              <a:rPr lang="es-CO" sz="3600" dirty="0"/>
              <a:t>Es una medida del </a:t>
            </a:r>
            <a:r>
              <a:rPr lang="es-CO" sz="3600" b="1" dirty="0"/>
              <a:t>tamaño de la parte recursiva del algoritmo</a:t>
            </a:r>
            <a:r>
              <a:rPr lang="es-CO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9045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1403D-5760-4EEC-C13F-89E6960F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612E95A7-5C66-D892-1EA9-30783D261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53FBD1-EACB-1C6D-3ABB-90485584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BF3E0CA2-3B59-0DB6-9EE6-C8A008E2A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FD06A431-F3FA-8D66-2713-90156C00D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F281B6B-ED67-D261-D35D-6DBD4FB81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449" y="2091831"/>
                <a:ext cx="11945102" cy="8351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4400" i="1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O" sz="4400" b="0" i="1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r>
                        <a:rPr lang="es-CO" sz="4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F281B6B-ED67-D261-D35D-6DBD4FB81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449" y="2091831"/>
                <a:ext cx="11945102" cy="83519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A34C82AE-1BB1-3C35-89A6-6B3AFADE208F}"/>
              </a:ext>
            </a:extLst>
          </p:cNvPr>
          <p:cNvSpPr/>
          <p:nvPr/>
        </p:nvSpPr>
        <p:spPr>
          <a:xfrm>
            <a:off x="909958" y="1949821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4FE46DD-1D58-FA69-0D92-9C4CFEB8E701}"/>
              </a:ext>
            </a:extLst>
          </p:cNvPr>
          <p:cNvSpPr/>
          <p:nvPr/>
        </p:nvSpPr>
        <p:spPr>
          <a:xfrm>
            <a:off x="4879843" y="1949821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905D8575-936C-A05C-90BF-269820637950}"/>
              </a:ext>
            </a:extLst>
          </p:cNvPr>
          <p:cNvSpPr txBox="1">
            <a:spLocks/>
          </p:cNvSpPr>
          <p:nvPr/>
        </p:nvSpPr>
        <p:spPr>
          <a:xfrm>
            <a:off x="246888" y="3429000"/>
            <a:ext cx="11945102" cy="29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4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Empecemos con la parte recursiva…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1E8BE0D-5D98-D331-24D4-0E7702B3A452}"/>
                  </a:ext>
                </a:extLst>
              </p:cNvPr>
              <p:cNvSpPr txBox="1"/>
              <p:nvPr/>
            </p:nvSpPr>
            <p:spPr>
              <a:xfrm>
                <a:off x="2892932" y="4214674"/>
                <a:ext cx="6653014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1E8BE0D-5D98-D331-24D4-0E7702B3A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932" y="4214674"/>
                <a:ext cx="6653014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875895BA-38FB-DEA3-2AA3-E25B12D57433}"/>
              </a:ext>
            </a:extLst>
          </p:cNvPr>
          <p:cNvSpPr txBox="1"/>
          <p:nvPr/>
        </p:nvSpPr>
        <p:spPr>
          <a:xfrm>
            <a:off x="3451470" y="5018259"/>
            <a:ext cx="609447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400" i="1" dirty="0"/>
              <a:t>Qué tan grande es la recursión</a:t>
            </a:r>
          </a:p>
        </p:txBody>
      </p:sp>
    </p:spTree>
    <p:extLst>
      <p:ext uri="{BB962C8B-B14F-4D97-AF65-F5344CB8AC3E}">
        <p14:creationId xmlns:p14="http://schemas.microsoft.com/office/powerpoint/2010/main" val="3074527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6C5C9-C9B0-5CB5-BF3C-2A9BD39C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E0DFC250-7FFB-A2F9-2287-CF4DF9F0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38030B-3968-1627-C4B5-8D13DE23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5DA9812C-0F8A-2BAA-DA07-C7F21BD44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0C5571B1-AA57-9C86-9ADB-F59D3024C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4801E0A-96D9-84E2-1723-3D1C592C04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" y="1938659"/>
                <a:ext cx="11945102" cy="8351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4400" i="1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O" sz="4400" b="0" i="1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r>
                        <a:rPr lang="es-CO" sz="4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b="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4801E0A-96D9-84E2-1723-3D1C592C04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" y="1938659"/>
                <a:ext cx="11945102" cy="83519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A6717425-2511-D55B-1F41-9A2B1B949243}"/>
              </a:ext>
            </a:extLst>
          </p:cNvPr>
          <p:cNvSpPr/>
          <p:nvPr/>
        </p:nvSpPr>
        <p:spPr>
          <a:xfrm>
            <a:off x="786519" y="1796649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54B9509-F80E-C4F5-4518-687F4A8FFC14}"/>
              </a:ext>
            </a:extLst>
          </p:cNvPr>
          <p:cNvSpPr/>
          <p:nvPr/>
        </p:nvSpPr>
        <p:spPr>
          <a:xfrm>
            <a:off x="4756404" y="1796649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30688E4-E50B-6F9C-3C18-1DB99E6C4A1B}"/>
                  </a:ext>
                </a:extLst>
              </p:cNvPr>
              <p:cNvSpPr txBox="1"/>
              <p:nvPr/>
            </p:nvSpPr>
            <p:spPr>
              <a:xfrm>
                <a:off x="1881598" y="3886611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30688E4-E50B-6F9C-3C18-1DB99E6C4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598" y="3886611"/>
                <a:ext cx="3306700" cy="954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40DBD85A-8784-55EF-289A-8277634CFF3E}"/>
              </a:ext>
            </a:extLst>
          </p:cNvPr>
          <p:cNvSpPr/>
          <p:nvPr/>
        </p:nvSpPr>
        <p:spPr>
          <a:xfrm>
            <a:off x="2195352" y="3864320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7EC80D3-2841-27E0-2A03-FA4EB0F3D2A6}"/>
                  </a:ext>
                </a:extLst>
              </p:cNvPr>
              <p:cNvSpPr txBox="1"/>
              <p:nvPr/>
            </p:nvSpPr>
            <p:spPr>
              <a:xfrm>
                <a:off x="7096055" y="3902288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7EC80D3-2841-27E0-2A03-FA4EB0F3D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055" y="3902288"/>
                <a:ext cx="2448306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DB4FEC87-D28D-F77B-CBAE-63FFD0784D53}"/>
              </a:ext>
            </a:extLst>
          </p:cNvPr>
          <p:cNvSpPr/>
          <p:nvPr/>
        </p:nvSpPr>
        <p:spPr>
          <a:xfrm>
            <a:off x="6980612" y="3864320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7BBC881-51C0-D22B-AA55-AF8AAB185349}"/>
              </a:ext>
            </a:extLst>
          </p:cNvPr>
          <p:cNvSpPr/>
          <p:nvPr/>
        </p:nvSpPr>
        <p:spPr>
          <a:xfrm>
            <a:off x="7775313" y="1796649"/>
            <a:ext cx="120867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Gráfico 16" descr="Ayuda con relleno sólido">
            <a:extLst>
              <a:ext uri="{FF2B5EF4-FFF2-40B4-BE49-F238E27FC236}">
                <a16:creationId xmlns:a16="http://schemas.microsoft.com/office/drawing/2014/main" id="{8B43911E-A32E-30DF-8733-F155B37AA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23623" y="3429000"/>
            <a:ext cx="1894853" cy="1894853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E5C7ACAD-2347-2D9B-51DB-BA7B3309831B}"/>
              </a:ext>
            </a:extLst>
          </p:cNvPr>
          <p:cNvSpPr txBox="1"/>
          <p:nvPr/>
        </p:nvSpPr>
        <p:spPr>
          <a:xfrm>
            <a:off x="123444" y="2937925"/>
            <a:ext cx="120685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3600" dirty="0"/>
              <a:t>Ahora tenemos dos cantidades que crecen con n:</a:t>
            </a:r>
            <a:endParaRPr lang="ar-AE" sz="3600" b="1" dirty="0"/>
          </a:p>
          <a:p>
            <a:pPr>
              <a:buNone/>
            </a:pPr>
            <a:endParaRPr lang="es-CO" sz="3600" dirty="0"/>
          </a:p>
          <a:p>
            <a:pPr>
              <a:buNone/>
            </a:pPr>
            <a:endParaRPr lang="es-CO" sz="3600" dirty="0"/>
          </a:p>
          <a:p>
            <a:pPr>
              <a:buNone/>
            </a:pPr>
            <a:endParaRPr lang="es-CO" sz="3600" dirty="0"/>
          </a:p>
          <a:p>
            <a:pPr>
              <a:buNone/>
            </a:pPr>
            <a:endParaRPr lang="es-CO" sz="3600" dirty="0"/>
          </a:p>
          <a:p>
            <a:pPr algn="ctr">
              <a:buNone/>
            </a:pPr>
            <a:r>
              <a:rPr lang="es-CO" sz="3600" dirty="0"/>
              <a:t>El tiempo total depende de cuál de las dos crece más rápido.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C3A6ABF-097C-5942-3111-BB3E21C8A24D}"/>
              </a:ext>
            </a:extLst>
          </p:cNvPr>
          <p:cNvSpPr txBox="1"/>
          <p:nvPr/>
        </p:nvSpPr>
        <p:spPr>
          <a:xfrm>
            <a:off x="2195352" y="4879264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i="1" u="sng" dirty="0"/>
              <a:t>El tamaño de la recursión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A4F9F7A-2817-943D-BCB6-16E8396B4A87}"/>
              </a:ext>
            </a:extLst>
          </p:cNvPr>
          <p:cNvSpPr txBox="1"/>
          <p:nvPr/>
        </p:nvSpPr>
        <p:spPr>
          <a:xfrm>
            <a:off x="7015518" y="4848311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i="1" u="sng" dirty="0"/>
              <a:t>el trabajo adicional</a:t>
            </a:r>
          </a:p>
        </p:txBody>
      </p:sp>
    </p:spTree>
    <p:extLst>
      <p:ext uri="{BB962C8B-B14F-4D97-AF65-F5344CB8AC3E}">
        <p14:creationId xmlns:p14="http://schemas.microsoft.com/office/powerpoint/2010/main" val="2981586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5E082-59CB-F0FC-A727-8CBA5460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6F0D5CD6-26A4-CE97-6F7C-CAF3F2338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F8ED1A-D697-2025-F885-B6292B5A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F25E7C59-6847-5D39-E983-AD045C27C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E4B61828-A00B-2B09-69DD-93AF80D2A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B7D834B-C6FE-C802-F57D-7C7BA18D9BE4}"/>
              </a:ext>
            </a:extLst>
          </p:cNvPr>
          <p:cNvSpPr/>
          <p:nvPr/>
        </p:nvSpPr>
        <p:spPr>
          <a:xfrm>
            <a:off x="786519" y="1796649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1F184D5-6724-BD6C-159E-C43E774200CC}"/>
                  </a:ext>
                </a:extLst>
              </p:cNvPr>
              <p:cNvSpPr txBox="1"/>
              <p:nvPr/>
            </p:nvSpPr>
            <p:spPr>
              <a:xfrm>
                <a:off x="1899891" y="3172457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1F184D5-6724-BD6C-159E-C43E77420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891" y="3172457"/>
                <a:ext cx="3306700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89A73704-AF8A-1B95-F4DC-2F353C82BB7F}"/>
              </a:ext>
            </a:extLst>
          </p:cNvPr>
          <p:cNvSpPr/>
          <p:nvPr/>
        </p:nvSpPr>
        <p:spPr>
          <a:xfrm>
            <a:off x="2213645" y="3150166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F5764FC-5753-2F16-D431-3763D0427913}"/>
                  </a:ext>
                </a:extLst>
              </p:cNvPr>
              <p:cNvSpPr txBox="1"/>
              <p:nvPr/>
            </p:nvSpPr>
            <p:spPr>
              <a:xfrm>
                <a:off x="7114348" y="3188134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F5764FC-5753-2F16-D431-3763D0427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348" y="3188134"/>
                <a:ext cx="24483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C08D8EAF-2B10-84C3-7026-4CFD9A1492D9}"/>
              </a:ext>
            </a:extLst>
          </p:cNvPr>
          <p:cNvSpPr/>
          <p:nvPr/>
        </p:nvSpPr>
        <p:spPr>
          <a:xfrm>
            <a:off x="6998905" y="3150166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Gráfico 16" descr="Ayuda con relleno sólido">
            <a:extLst>
              <a:ext uri="{FF2B5EF4-FFF2-40B4-BE49-F238E27FC236}">
                <a16:creationId xmlns:a16="http://schemas.microsoft.com/office/drawing/2014/main" id="{A979EF52-E41B-742F-E878-EE5EEDF33F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1916" y="2714846"/>
            <a:ext cx="1894853" cy="1894853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CF7E8B0F-D91B-F546-8200-E8D50409A971}"/>
              </a:ext>
            </a:extLst>
          </p:cNvPr>
          <p:cNvSpPr txBox="1"/>
          <p:nvPr/>
        </p:nvSpPr>
        <p:spPr>
          <a:xfrm>
            <a:off x="61717" y="1685773"/>
            <a:ext cx="120685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tiempo total depende de cuál de las dos crece más rápido.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61360CE-B0A4-7F1D-936A-913A14544E58}"/>
              </a:ext>
            </a:extLst>
          </p:cNvPr>
          <p:cNvSpPr txBox="1"/>
          <p:nvPr/>
        </p:nvSpPr>
        <p:spPr>
          <a:xfrm>
            <a:off x="2213645" y="4165110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57E334E-BA06-17E7-6E04-13A920791A70}"/>
              </a:ext>
            </a:extLst>
          </p:cNvPr>
          <p:cNvSpPr txBox="1"/>
          <p:nvPr/>
        </p:nvSpPr>
        <p:spPr>
          <a:xfrm>
            <a:off x="7033811" y="4134157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9A2DB36-C523-72FA-6544-B00C67B7A3DD}"/>
              </a:ext>
            </a:extLst>
          </p:cNvPr>
          <p:cNvSpPr/>
          <p:nvPr/>
        </p:nvSpPr>
        <p:spPr>
          <a:xfrm>
            <a:off x="219591" y="5191727"/>
            <a:ext cx="3392289" cy="1470652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Caso 1: </a:t>
            </a:r>
          </a:p>
          <a:p>
            <a:pPr algn="ctr"/>
            <a:r>
              <a:rPr lang="es-CO" sz="2400" i="1" dirty="0"/>
              <a:t>Recursión </a:t>
            </a:r>
            <a:r>
              <a:rPr lang="en-AU" sz="2400" i="1" dirty="0"/>
              <a:t>&gt; </a:t>
            </a:r>
            <a:r>
              <a:rPr lang="en-AU" sz="2400" i="1" dirty="0" err="1"/>
              <a:t>Trabajo</a:t>
            </a:r>
            <a:r>
              <a:rPr lang="en-AU" sz="2400" i="1" dirty="0"/>
              <a:t> </a:t>
            </a:r>
            <a:r>
              <a:rPr lang="en-AU" sz="2400" i="1" dirty="0" err="1"/>
              <a:t>Adicional</a:t>
            </a:r>
            <a:endParaRPr lang="es-CO" sz="2400" i="1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0D9F396-5844-57F6-39E9-05F5F6FF6A3E}"/>
              </a:ext>
            </a:extLst>
          </p:cNvPr>
          <p:cNvSpPr/>
          <p:nvPr/>
        </p:nvSpPr>
        <p:spPr>
          <a:xfrm>
            <a:off x="4193197" y="5197628"/>
            <a:ext cx="3392289" cy="1470652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Caso 2: </a:t>
            </a:r>
          </a:p>
          <a:p>
            <a:pPr algn="ctr"/>
            <a:r>
              <a:rPr lang="es-CO" sz="2400" i="1" dirty="0"/>
              <a:t>Recursión </a:t>
            </a:r>
            <a:r>
              <a:rPr lang="en-AU" sz="2400" i="1" dirty="0"/>
              <a:t>= </a:t>
            </a:r>
            <a:r>
              <a:rPr lang="en-AU" sz="2400" i="1" dirty="0" err="1"/>
              <a:t>Trabajo</a:t>
            </a:r>
            <a:r>
              <a:rPr lang="en-AU" sz="2400" i="1" dirty="0"/>
              <a:t> </a:t>
            </a:r>
            <a:r>
              <a:rPr lang="en-AU" sz="2400" i="1" dirty="0" err="1"/>
              <a:t>Adicional</a:t>
            </a:r>
            <a:endParaRPr lang="es-CO" sz="2400" i="1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ACADCA-6B18-F166-5726-7E616FD37CEC}"/>
              </a:ext>
            </a:extLst>
          </p:cNvPr>
          <p:cNvSpPr/>
          <p:nvPr/>
        </p:nvSpPr>
        <p:spPr>
          <a:xfrm>
            <a:off x="8192593" y="5191727"/>
            <a:ext cx="3392289" cy="1470652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Caso 3: </a:t>
            </a:r>
          </a:p>
          <a:p>
            <a:pPr algn="ctr"/>
            <a:r>
              <a:rPr lang="es-CO" sz="2400" i="1" dirty="0"/>
              <a:t>Recursión </a:t>
            </a:r>
            <a:r>
              <a:rPr lang="en-AU" sz="2400" i="1" dirty="0"/>
              <a:t>&lt; </a:t>
            </a:r>
            <a:r>
              <a:rPr lang="en-AU" sz="2400" i="1" dirty="0" err="1"/>
              <a:t>Trabajo</a:t>
            </a:r>
            <a:r>
              <a:rPr lang="en-AU" sz="2400" i="1" dirty="0"/>
              <a:t> </a:t>
            </a:r>
            <a:r>
              <a:rPr lang="en-AU" sz="2400" i="1" dirty="0" err="1"/>
              <a:t>Adicional</a:t>
            </a:r>
            <a:endParaRPr lang="es-CO" sz="2400" i="1" dirty="0"/>
          </a:p>
        </p:txBody>
      </p:sp>
    </p:spTree>
    <p:extLst>
      <p:ext uri="{BB962C8B-B14F-4D97-AF65-F5344CB8AC3E}">
        <p14:creationId xmlns:p14="http://schemas.microsoft.com/office/powerpoint/2010/main" val="4029973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F5CFC-55DD-DFFF-261B-EC0F666C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4C5B5F47-527D-8795-670B-98DFDA8BC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6D4E58-34F0-EA9C-18AD-BF7CE9C6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D0414262-6E53-6EE3-F420-092E8CCE4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D783EC18-06E1-B0AF-62E6-4A9E24E7F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EADA630-D6DC-516B-609C-4B927B271D34}"/>
              </a:ext>
            </a:extLst>
          </p:cNvPr>
          <p:cNvSpPr/>
          <p:nvPr/>
        </p:nvSpPr>
        <p:spPr>
          <a:xfrm>
            <a:off x="786519" y="1796649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3627582-726C-3106-6BD9-F38E87C3C0AF}"/>
                  </a:ext>
                </a:extLst>
              </p:cNvPr>
              <p:cNvSpPr txBox="1"/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3627582-726C-3106-6BD9-F38E87C3C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1FC17E1C-167B-7E3E-2335-84AD940C89F8}"/>
              </a:ext>
            </a:extLst>
          </p:cNvPr>
          <p:cNvSpPr/>
          <p:nvPr/>
        </p:nvSpPr>
        <p:spPr>
          <a:xfrm>
            <a:off x="202076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F2B6537-EE88-DBA5-77C9-525DA535C307}"/>
                  </a:ext>
                </a:extLst>
              </p:cNvPr>
              <p:cNvSpPr txBox="1"/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F2B6537-EE88-DBA5-77C9-525DA535C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D6688DCC-86DA-79C8-BAAE-8152F4E95EC4}"/>
              </a:ext>
            </a:extLst>
          </p:cNvPr>
          <p:cNvSpPr/>
          <p:nvPr/>
        </p:nvSpPr>
        <p:spPr>
          <a:xfrm>
            <a:off x="680602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Gráfico 16" descr="Ayuda con relleno sólido">
            <a:extLst>
              <a:ext uri="{FF2B5EF4-FFF2-40B4-BE49-F238E27FC236}">
                <a16:creationId xmlns:a16="http://schemas.microsoft.com/office/drawing/2014/main" id="{1C79740A-B096-C9B7-BEFD-28F9F3833D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040" y="1534147"/>
            <a:ext cx="1894853" cy="1894853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422D76CF-347F-0F5B-1780-D6E76861B688}"/>
              </a:ext>
            </a:extLst>
          </p:cNvPr>
          <p:cNvSpPr txBox="1"/>
          <p:nvPr/>
        </p:nvSpPr>
        <p:spPr>
          <a:xfrm>
            <a:off x="2020769" y="2984411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CC3813F-95DF-3515-8879-DC707D8F483D}"/>
              </a:ext>
            </a:extLst>
          </p:cNvPr>
          <p:cNvSpPr txBox="1"/>
          <p:nvPr/>
        </p:nvSpPr>
        <p:spPr>
          <a:xfrm>
            <a:off x="6840935" y="295345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F6F5733-01B5-F365-E88E-ADA21AB2963C}"/>
              </a:ext>
            </a:extLst>
          </p:cNvPr>
          <p:cNvSpPr/>
          <p:nvPr/>
        </p:nvSpPr>
        <p:spPr>
          <a:xfrm>
            <a:off x="219591" y="4189185"/>
            <a:ext cx="3392289" cy="1470652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Caso 1: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Recursión </a:t>
            </a:r>
            <a:r>
              <a:rPr kumimoji="0" lang="en-A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&gt; </a:t>
            </a:r>
            <a:r>
              <a:rPr kumimoji="0" lang="en-AU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Trabajo</a:t>
            </a:r>
            <a:r>
              <a:rPr kumimoji="0" lang="en-A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AU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Adicional</a:t>
            </a:r>
            <a:endParaRPr kumimoji="0" lang="es-CO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D0B2D4-5D13-7858-447E-1EB3167695AB}"/>
              </a:ext>
            </a:extLst>
          </p:cNvPr>
          <p:cNvSpPr txBox="1"/>
          <p:nvPr/>
        </p:nvSpPr>
        <p:spPr>
          <a:xfrm>
            <a:off x="219591" y="5837145"/>
            <a:ext cx="119723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/>
              <a:t>Si el trabajo adicional es pequeño comparado con la recursión, entonces el tiempo total lo domina la recursión.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11F9F29-DB23-8CD8-35E9-9AC1758C95C7}"/>
                  </a:ext>
                </a:extLst>
              </p:cNvPr>
              <p:cNvSpPr txBox="1"/>
              <p:nvPr/>
            </p:nvSpPr>
            <p:spPr>
              <a:xfrm>
                <a:off x="3742182" y="4495497"/>
                <a:ext cx="7312914" cy="757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nor/>
                        </m:rPr>
                        <a:rPr lang="ar-AE" sz="3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 b="0" i="1">
                          <a:latin typeface="Cambria Math" panose="02040503050406030204" pitchFamily="18" charset="0"/>
                        </a:rPr>
                        <m:t>crece</m:t>
                      </m:r>
                      <m:r>
                        <m:rPr>
                          <m:nor/>
                        </m:rPr>
                        <a:rPr lang="es-CO" sz="3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 b="0" i="1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s-CO" sz="3600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nor/>
                        </m:rPr>
                        <a:rPr lang="es-CO" sz="3600" b="0" i="1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s-CO" sz="3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 b="0" i="1">
                          <a:latin typeface="Cambria Math" panose="02040503050406030204" pitchFamily="18" charset="0"/>
                        </a:rPr>
                        <m:t>lento</m:t>
                      </m:r>
                      <m:r>
                        <m:rPr>
                          <m:nor/>
                        </m:rPr>
                        <a:rPr lang="es-CO" sz="3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 b="0" i="1">
                          <a:latin typeface="Cambria Math" panose="02040503050406030204" pitchFamily="18" charset="0"/>
                        </a:rPr>
                        <m:t>que</m:t>
                      </m:r>
                      <m:r>
                        <m:rPr>
                          <m:nor/>
                        </m:rPr>
                        <a:rPr lang="es-CO" sz="36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36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6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sSup>
                            <m:sSupPr>
                              <m:ctrlPr>
                                <a:rPr lang="ar-AE" sz="36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36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ar-AE" sz="36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ar-AE" sz="36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36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s-CO" sz="36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s-CO" sz="36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</m:sup>
                      </m:sSup>
                    </m:oMath>
                  </m:oMathPara>
                </a14:m>
                <a:endParaRPr lang="ar-AE" sz="3600" b="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11F9F29-DB23-8CD8-35E9-9AC1758C9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182" y="4495497"/>
                <a:ext cx="7312914" cy="7577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889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C3DF3-750A-F331-841C-C2006FF40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DED96E43-4347-36E8-A334-EF5BBA277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8DD49B-A7F3-85EB-FCE0-ED3785E2B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D4E5A8D6-A2AD-EAC2-D416-CA63683F4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42572DE6-22CE-AB55-E904-C9D38CC67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213733-E632-761E-6F7D-E36A28B31978}"/>
              </a:ext>
            </a:extLst>
          </p:cNvPr>
          <p:cNvSpPr/>
          <p:nvPr/>
        </p:nvSpPr>
        <p:spPr>
          <a:xfrm>
            <a:off x="786519" y="1796649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E0EBE4D-BBCE-3342-2E35-52AF5C143896}"/>
                  </a:ext>
                </a:extLst>
              </p:cNvPr>
              <p:cNvSpPr txBox="1"/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E0EBE4D-BBCE-3342-2E35-52AF5C14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FE8BB91-2BB5-FA42-3469-3DBF0C8C2041}"/>
              </a:ext>
            </a:extLst>
          </p:cNvPr>
          <p:cNvSpPr/>
          <p:nvPr/>
        </p:nvSpPr>
        <p:spPr>
          <a:xfrm>
            <a:off x="202076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8A04C68-C5F8-8AE5-0187-BD7576584B49}"/>
                  </a:ext>
                </a:extLst>
              </p:cNvPr>
              <p:cNvSpPr txBox="1"/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8A04C68-C5F8-8AE5-0187-BD757658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F75E9B23-D8C4-8263-5EA6-237F520242B5}"/>
              </a:ext>
            </a:extLst>
          </p:cNvPr>
          <p:cNvSpPr/>
          <p:nvPr/>
        </p:nvSpPr>
        <p:spPr>
          <a:xfrm>
            <a:off x="680602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Gráfico 16" descr="Ayuda con relleno sólido">
            <a:extLst>
              <a:ext uri="{FF2B5EF4-FFF2-40B4-BE49-F238E27FC236}">
                <a16:creationId xmlns:a16="http://schemas.microsoft.com/office/drawing/2014/main" id="{36D1F05C-F790-254A-6A03-95DDE7C19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040" y="1534147"/>
            <a:ext cx="1894853" cy="1894853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210522D-88D8-6A37-8B40-12487A807A82}"/>
              </a:ext>
            </a:extLst>
          </p:cNvPr>
          <p:cNvSpPr txBox="1"/>
          <p:nvPr/>
        </p:nvSpPr>
        <p:spPr>
          <a:xfrm>
            <a:off x="2020769" y="2984411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4387266-EE9E-C768-B165-DE0FC2AA91E9}"/>
              </a:ext>
            </a:extLst>
          </p:cNvPr>
          <p:cNvSpPr txBox="1"/>
          <p:nvPr/>
        </p:nvSpPr>
        <p:spPr>
          <a:xfrm>
            <a:off x="6840935" y="295345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E9FCABA-AF5F-93A5-4F00-73E6C21CA509}"/>
              </a:ext>
            </a:extLst>
          </p:cNvPr>
          <p:cNvSpPr/>
          <p:nvPr/>
        </p:nvSpPr>
        <p:spPr>
          <a:xfrm>
            <a:off x="219591" y="4189185"/>
            <a:ext cx="3392289" cy="1470652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Caso 1: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Recursión </a:t>
            </a:r>
            <a:r>
              <a:rPr kumimoji="0" lang="en-A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&gt; </a:t>
            </a:r>
            <a:r>
              <a:rPr kumimoji="0" lang="en-AU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Trabajo</a:t>
            </a:r>
            <a:r>
              <a:rPr kumimoji="0" lang="en-A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AU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Adicional</a:t>
            </a:r>
            <a:endParaRPr kumimoji="0" lang="es-CO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5F9D7626-D473-3DDC-9AFB-9FD11B3DC28C}"/>
                  </a:ext>
                </a:extLst>
              </p:cNvPr>
              <p:cNvSpPr txBox="1"/>
              <p:nvPr/>
            </p:nvSpPr>
            <p:spPr>
              <a:xfrm>
                <a:off x="84582" y="5836039"/>
                <a:ext cx="7312914" cy="757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ar-AE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  <m:r>
                        <m:rPr>
                          <m:nor/>
                        </m:rPr>
                        <a:rPr kumimoji="0" lang="ar-AE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crece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á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s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lento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que</m:t>
                      </m:r>
                      <m:r>
                        <m:rPr>
                          <m:nor/>
                        </m:rPr>
                        <a:rPr kumimoji="0" lang="es-CO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0" lang="ar-AE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kumimoji="0" lang="ar-AE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  <m:sup>
                          <m:sSup>
                            <m:sSupPr>
                              <m:ctrlPr>
                                <a:rPr kumimoji="0" lang="ar-AE" sz="3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s-CO" sz="3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n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kumimoji="0" lang="ar-AE" sz="3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kumimoji="0" lang="ar-AE" sz="3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ar-AE" sz="3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kumimoji="0" lang="es-CO" sz="3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kumimoji="0" lang="es-CO" sz="3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</m:sup>
                      </m:sSup>
                    </m:oMath>
                  </m:oMathPara>
                </a14:m>
                <a:endParaRPr kumimoji="0" lang="ar-AE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5F9D7626-D473-3DDC-9AFB-9FD11B3DC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" y="5836039"/>
                <a:ext cx="7312914" cy="7577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FF5F517-A43F-BF17-8639-4318BD2FF756}"/>
                  </a:ext>
                </a:extLst>
              </p:cNvPr>
              <p:cNvSpPr txBox="1"/>
              <p:nvPr/>
            </p:nvSpPr>
            <p:spPr>
              <a:xfrm>
                <a:off x="4521172" y="4088630"/>
                <a:ext cx="7248906" cy="1134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60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ar-AE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6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ar-AE" sz="6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6000" b="1" i="0"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ar-AE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6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6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ar-AE" sz="6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ar-AE" sz="60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60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s-CO" sz="60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s-CO" sz="6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</m:oMath>
                  </m:oMathPara>
                </a14:m>
                <a:endParaRPr lang="ar-AE" sz="6000" b="1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FF5F517-A43F-BF17-8639-4318BD2FF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172" y="4088630"/>
                <a:ext cx="7248906" cy="11345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532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F2544-6EFC-3D75-6C76-8EF7996E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B5CFE5B4-D4AA-C00D-F1BD-E991CFF61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85ECA0-25B6-6050-979B-D0B13DCF1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604B4ED3-E633-FC2B-D3DF-BEE870E0C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DAB6431F-C734-101E-57B1-EF3BB5B12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1AE6FCA-C804-B90D-DA70-AC461909619E}"/>
              </a:ext>
            </a:extLst>
          </p:cNvPr>
          <p:cNvSpPr/>
          <p:nvPr/>
        </p:nvSpPr>
        <p:spPr>
          <a:xfrm>
            <a:off x="786519" y="1796649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410013E-2754-7710-132B-64A115E542C8}"/>
                  </a:ext>
                </a:extLst>
              </p:cNvPr>
              <p:cNvSpPr txBox="1"/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410013E-2754-7710-132B-64A115E54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38FC503C-9279-56E2-0EDE-F11C8CE68E17}"/>
              </a:ext>
            </a:extLst>
          </p:cNvPr>
          <p:cNvSpPr/>
          <p:nvPr/>
        </p:nvSpPr>
        <p:spPr>
          <a:xfrm>
            <a:off x="202076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4EAAF9E-B944-4C8B-3E79-401C8AAAF4EC}"/>
                  </a:ext>
                </a:extLst>
              </p:cNvPr>
              <p:cNvSpPr txBox="1"/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4EAAF9E-B944-4C8B-3E79-401C8AAAF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62EB7E3E-38C6-FD6F-771F-A242D99423A1}"/>
              </a:ext>
            </a:extLst>
          </p:cNvPr>
          <p:cNvSpPr/>
          <p:nvPr/>
        </p:nvSpPr>
        <p:spPr>
          <a:xfrm>
            <a:off x="680602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Gráfico 16" descr="Ayuda con relleno sólido">
            <a:extLst>
              <a:ext uri="{FF2B5EF4-FFF2-40B4-BE49-F238E27FC236}">
                <a16:creationId xmlns:a16="http://schemas.microsoft.com/office/drawing/2014/main" id="{96EB459D-3F58-A030-991A-3A129F6C2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040" y="1534147"/>
            <a:ext cx="1894853" cy="1894853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3D363EFD-2673-CB0F-8600-C5E5F721A4EC}"/>
              </a:ext>
            </a:extLst>
          </p:cNvPr>
          <p:cNvSpPr txBox="1"/>
          <p:nvPr/>
        </p:nvSpPr>
        <p:spPr>
          <a:xfrm>
            <a:off x="2020769" y="2984411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204EA1F-298B-EA85-3F12-599EA3CBDD10}"/>
              </a:ext>
            </a:extLst>
          </p:cNvPr>
          <p:cNvSpPr txBox="1"/>
          <p:nvPr/>
        </p:nvSpPr>
        <p:spPr>
          <a:xfrm>
            <a:off x="6840935" y="295345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EF9ABB1-A9DA-8FB9-4D38-5FC92413CE7F}"/>
              </a:ext>
            </a:extLst>
          </p:cNvPr>
          <p:cNvSpPr/>
          <p:nvPr/>
        </p:nvSpPr>
        <p:spPr>
          <a:xfrm>
            <a:off x="219591" y="4189185"/>
            <a:ext cx="3392289" cy="1470652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Caso 2: </a:t>
            </a:r>
          </a:p>
          <a:p>
            <a:pPr algn="ctr"/>
            <a:r>
              <a:rPr lang="es-CO" sz="2400" i="1" dirty="0"/>
              <a:t>Recursión </a:t>
            </a:r>
            <a:r>
              <a:rPr lang="en-AU" sz="2400" i="1" dirty="0"/>
              <a:t>= </a:t>
            </a:r>
            <a:r>
              <a:rPr lang="en-AU" sz="2400" i="1" dirty="0" err="1"/>
              <a:t>Trabajo</a:t>
            </a:r>
            <a:r>
              <a:rPr lang="en-AU" sz="2400" i="1" dirty="0"/>
              <a:t> </a:t>
            </a:r>
            <a:r>
              <a:rPr lang="en-AU" sz="2400" i="1" dirty="0" err="1"/>
              <a:t>Adicional</a:t>
            </a:r>
            <a:endParaRPr lang="es-CO" sz="2400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04FC10-6EE3-2724-CF00-F119DFEA1759}"/>
              </a:ext>
            </a:extLst>
          </p:cNvPr>
          <p:cNvSpPr txBox="1"/>
          <p:nvPr/>
        </p:nvSpPr>
        <p:spPr>
          <a:xfrm>
            <a:off x="219591" y="5837145"/>
            <a:ext cx="119723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 el trabajo adicional y la recursión crecen al mismo ritmo, entonces cada nivel del árbol cuesta lo mismo.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6110D6E-FCC9-2DB4-22CF-E8DF0B8264CA}"/>
                  </a:ext>
                </a:extLst>
              </p:cNvPr>
              <p:cNvSpPr txBox="1"/>
              <p:nvPr/>
            </p:nvSpPr>
            <p:spPr>
              <a:xfrm>
                <a:off x="4034790" y="4280566"/>
                <a:ext cx="7312914" cy="1187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z="3600"/>
                        <m:t>Como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hay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func>
                        <m:funcPr>
                          <m:ctrlPr>
                            <a:rPr lang="ar-AE" sz="36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3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m:rPr>
                          <m:nor/>
                        </m:rPr>
                        <a:rPr lang="es-CO" sz="3600"/>
                        <m:t>niveles</m:t>
                      </m:r>
                      <m:r>
                        <m:rPr>
                          <m:nor/>
                        </m:rPr>
                        <a:rPr lang="es-CO" sz="3600"/>
                        <m:t>, </m:t>
                      </m:r>
                      <m:r>
                        <m:rPr>
                          <m:nor/>
                        </m:rPr>
                        <a:rPr lang="es-CO" sz="3600"/>
                        <m:t>se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acumula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un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factor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logar</m:t>
                      </m:r>
                      <m:r>
                        <m:rPr>
                          <m:nor/>
                        </m:rPr>
                        <a:rPr lang="es-CO" sz="3600"/>
                        <m:t>í</m:t>
                      </m:r>
                      <m:r>
                        <m:rPr>
                          <m:nor/>
                        </m:rPr>
                        <a:rPr lang="es-CO" sz="3600"/>
                        <m:t>tmico</m:t>
                      </m:r>
                      <m:r>
                        <m:rPr>
                          <m:nor/>
                        </m:rPr>
                        <a:rPr lang="es-CO" sz="3600"/>
                        <m:t>.</m:t>
                      </m:r>
                    </m:oMath>
                  </m:oMathPara>
                </a14:m>
                <a:endParaRPr kumimoji="0" lang="ar-AE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6110D6E-FCC9-2DB4-22CF-E8DF0B826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790" y="4280566"/>
                <a:ext cx="7312914" cy="11875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115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AA650-B88C-F480-D854-19A9B6860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977050B1-06E5-5B9D-13A6-BF133714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7DA217-FD8E-BCF5-803F-37C6F9191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7D1783E8-0546-8461-0196-7EBE6100F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8D89ACEE-41B2-F3F6-F0F9-99609ECB6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F3F7218-761F-77C5-1614-A29E37782FE0}"/>
              </a:ext>
            </a:extLst>
          </p:cNvPr>
          <p:cNvSpPr/>
          <p:nvPr/>
        </p:nvSpPr>
        <p:spPr>
          <a:xfrm>
            <a:off x="786519" y="1796649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82B9749-67FB-930A-122D-1D2550B9AA33}"/>
                  </a:ext>
                </a:extLst>
              </p:cNvPr>
              <p:cNvSpPr txBox="1"/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82B9749-67FB-930A-122D-1D2550B9A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83D4A091-2BD4-0C08-8215-6488C768B45E}"/>
              </a:ext>
            </a:extLst>
          </p:cNvPr>
          <p:cNvSpPr/>
          <p:nvPr/>
        </p:nvSpPr>
        <p:spPr>
          <a:xfrm>
            <a:off x="202076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26A19BB-914C-F0FD-3AE3-4809E11918CD}"/>
                  </a:ext>
                </a:extLst>
              </p:cNvPr>
              <p:cNvSpPr txBox="1"/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26A19BB-914C-F0FD-3AE3-4809E1191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1C47575E-80BB-DDC2-D7E2-6BF229981D44}"/>
              </a:ext>
            </a:extLst>
          </p:cNvPr>
          <p:cNvSpPr/>
          <p:nvPr/>
        </p:nvSpPr>
        <p:spPr>
          <a:xfrm>
            <a:off x="680602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Gráfico 16" descr="Ayuda con relleno sólido">
            <a:extLst>
              <a:ext uri="{FF2B5EF4-FFF2-40B4-BE49-F238E27FC236}">
                <a16:creationId xmlns:a16="http://schemas.microsoft.com/office/drawing/2014/main" id="{451CF1E3-1410-5274-142E-0B6466752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040" y="1534147"/>
            <a:ext cx="1894853" cy="1894853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D08830AC-50D4-72C1-5021-F79E3F3C22DD}"/>
              </a:ext>
            </a:extLst>
          </p:cNvPr>
          <p:cNvSpPr txBox="1"/>
          <p:nvPr/>
        </p:nvSpPr>
        <p:spPr>
          <a:xfrm>
            <a:off x="2020769" y="2984411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4CCCEC1-776F-E8A0-29CD-A80C9F311909}"/>
              </a:ext>
            </a:extLst>
          </p:cNvPr>
          <p:cNvSpPr txBox="1"/>
          <p:nvPr/>
        </p:nvSpPr>
        <p:spPr>
          <a:xfrm>
            <a:off x="6840935" y="295345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E7C1255-C419-F4B6-6AA4-A2ECFE3E4740}"/>
              </a:ext>
            </a:extLst>
          </p:cNvPr>
          <p:cNvSpPr/>
          <p:nvPr/>
        </p:nvSpPr>
        <p:spPr>
          <a:xfrm>
            <a:off x="219591" y="4189185"/>
            <a:ext cx="3392289" cy="1470652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Caso 2: </a:t>
            </a:r>
          </a:p>
          <a:p>
            <a:pPr algn="ctr"/>
            <a:r>
              <a:rPr lang="es-CO" sz="2400" i="1" dirty="0"/>
              <a:t>Recursión </a:t>
            </a:r>
            <a:r>
              <a:rPr lang="en-AU" sz="2400" i="1" dirty="0"/>
              <a:t>= </a:t>
            </a:r>
            <a:r>
              <a:rPr lang="en-AU" sz="2400" i="1" dirty="0" err="1"/>
              <a:t>Trabajo</a:t>
            </a:r>
            <a:r>
              <a:rPr lang="en-AU" sz="2400" i="1" dirty="0"/>
              <a:t> </a:t>
            </a:r>
            <a:r>
              <a:rPr lang="en-AU" sz="2400" i="1" dirty="0" err="1"/>
              <a:t>Adicional</a:t>
            </a:r>
            <a:endParaRPr lang="es-CO" sz="24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BF96399-4779-FD7E-777A-86796CA66666}"/>
                  </a:ext>
                </a:extLst>
              </p:cNvPr>
              <p:cNvSpPr txBox="1"/>
              <p:nvPr/>
            </p:nvSpPr>
            <p:spPr>
              <a:xfrm>
                <a:off x="3558152" y="4366722"/>
                <a:ext cx="8687567" cy="1030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54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ar-AE" sz="5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5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ar-AE" sz="5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5400" b="1" i="0"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ar-AE" sz="5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5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5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ar-AE" sz="5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ar-AE" sz="54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54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s-CO" sz="54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s-CO" sz="5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ar-AE" sz="5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s-CO" sz="5400" b="1" i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ar-AE" sz="5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sz="5400" b="1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BF96399-4779-FD7E-777A-86796CA6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152" y="4366722"/>
                <a:ext cx="8687567" cy="10302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D27EB3D-93AA-378F-A822-FDB95BF5225A}"/>
                  </a:ext>
                </a:extLst>
              </p:cNvPr>
              <p:cNvSpPr txBox="1"/>
              <p:nvPr/>
            </p:nvSpPr>
            <p:spPr>
              <a:xfrm>
                <a:off x="-10" y="6033614"/>
                <a:ext cx="1219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z="3600"/>
                        <m:t>Como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hay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func>
                        <m:funcPr>
                          <m:ctrlPr>
                            <a:rPr lang="ar-AE" sz="36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3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m:rPr>
                          <m:nor/>
                        </m:rPr>
                        <a:rPr lang="es-CO" sz="3600"/>
                        <m:t>niveles</m:t>
                      </m:r>
                      <m:r>
                        <m:rPr>
                          <m:nor/>
                        </m:rPr>
                        <a:rPr lang="es-CO" sz="3600"/>
                        <m:t>, </m:t>
                      </m:r>
                      <m:r>
                        <m:rPr>
                          <m:nor/>
                        </m:rPr>
                        <a:rPr lang="es-CO" sz="3600"/>
                        <m:t>se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acumula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un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factor</m:t>
                      </m:r>
                      <m:r>
                        <m:rPr>
                          <m:nor/>
                        </m:rPr>
                        <a:rPr lang="es-CO" sz="3600"/>
                        <m:t> </m:t>
                      </m:r>
                      <m:r>
                        <m:rPr>
                          <m:nor/>
                        </m:rPr>
                        <a:rPr lang="es-CO" sz="3600"/>
                        <m:t>logar</m:t>
                      </m:r>
                      <m:r>
                        <m:rPr>
                          <m:nor/>
                        </m:rPr>
                        <a:rPr lang="es-CO" sz="3600"/>
                        <m:t>í</m:t>
                      </m:r>
                      <m:r>
                        <m:rPr>
                          <m:nor/>
                        </m:rPr>
                        <a:rPr lang="es-CO" sz="3600"/>
                        <m:t>tmico</m:t>
                      </m:r>
                      <m:r>
                        <m:rPr>
                          <m:nor/>
                        </m:rPr>
                        <a:rPr lang="es-CO" sz="3600"/>
                        <m:t>.</m:t>
                      </m:r>
                    </m:oMath>
                  </m:oMathPara>
                </a14:m>
                <a:endParaRPr kumimoji="0" lang="ar-AE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D27EB3D-93AA-378F-A822-FDB95BF52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" y="6033614"/>
                <a:ext cx="1219200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9523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3A967-AC5C-49F1-C765-879C617C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EF94E48A-60D8-BA5C-92F4-6FE76978E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F763F4-09EB-66C7-42FE-11A50E90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9351596F-342D-940E-56FF-7C884979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B30C3D31-67FF-F23B-8048-856981C65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0840EB-2A36-7FBF-46B4-C8ACDEBEA87E}"/>
              </a:ext>
            </a:extLst>
          </p:cNvPr>
          <p:cNvSpPr/>
          <p:nvPr/>
        </p:nvSpPr>
        <p:spPr>
          <a:xfrm>
            <a:off x="786519" y="1796649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6433AC7-603A-BF97-FD69-860F653C4DDC}"/>
                  </a:ext>
                </a:extLst>
              </p:cNvPr>
              <p:cNvSpPr txBox="1"/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6433AC7-603A-BF97-FD69-860F653C4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D6CF605F-4214-B496-5CCE-19E683572979}"/>
              </a:ext>
            </a:extLst>
          </p:cNvPr>
          <p:cNvSpPr/>
          <p:nvPr/>
        </p:nvSpPr>
        <p:spPr>
          <a:xfrm>
            <a:off x="202076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269AD40-03E3-7E7C-DFB3-84A5FBB4E339}"/>
                  </a:ext>
                </a:extLst>
              </p:cNvPr>
              <p:cNvSpPr txBox="1"/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269AD40-03E3-7E7C-DFB3-84A5FBB4E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E352AF4E-E7AD-5958-59CE-C0989C0C079E}"/>
              </a:ext>
            </a:extLst>
          </p:cNvPr>
          <p:cNvSpPr/>
          <p:nvPr/>
        </p:nvSpPr>
        <p:spPr>
          <a:xfrm>
            <a:off x="680602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Gráfico 16" descr="Ayuda con relleno sólido">
            <a:extLst>
              <a:ext uri="{FF2B5EF4-FFF2-40B4-BE49-F238E27FC236}">
                <a16:creationId xmlns:a16="http://schemas.microsoft.com/office/drawing/2014/main" id="{9D047B28-B6CA-8C78-265A-F5B685DE0D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040" y="1534147"/>
            <a:ext cx="1894853" cy="1894853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FEC986D-02F1-6048-4A2C-F8C02D584D39}"/>
              </a:ext>
            </a:extLst>
          </p:cNvPr>
          <p:cNvSpPr txBox="1"/>
          <p:nvPr/>
        </p:nvSpPr>
        <p:spPr>
          <a:xfrm>
            <a:off x="2020769" y="2984411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29E643D-0D46-9843-B94A-8B7B4B9F6BD2}"/>
              </a:ext>
            </a:extLst>
          </p:cNvPr>
          <p:cNvSpPr txBox="1"/>
          <p:nvPr/>
        </p:nvSpPr>
        <p:spPr>
          <a:xfrm>
            <a:off x="6840935" y="295345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F341AF3-BA1A-F80A-2AAF-08C301E8DE01}"/>
              </a:ext>
            </a:extLst>
          </p:cNvPr>
          <p:cNvSpPr/>
          <p:nvPr/>
        </p:nvSpPr>
        <p:spPr>
          <a:xfrm>
            <a:off x="219591" y="4189185"/>
            <a:ext cx="3392289" cy="1470652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Caso 3: </a:t>
            </a:r>
          </a:p>
          <a:p>
            <a:pPr algn="ctr"/>
            <a:r>
              <a:rPr lang="es-CO" sz="2400" i="1" dirty="0"/>
              <a:t>Recursión </a:t>
            </a:r>
            <a:r>
              <a:rPr lang="en-AU" sz="2400" i="1" dirty="0"/>
              <a:t>&lt; </a:t>
            </a:r>
            <a:r>
              <a:rPr lang="en-AU" sz="2400" i="1" dirty="0" err="1"/>
              <a:t>Trabajo</a:t>
            </a:r>
            <a:r>
              <a:rPr lang="en-AU" sz="2400" i="1" dirty="0"/>
              <a:t> </a:t>
            </a:r>
            <a:r>
              <a:rPr lang="en-AU" sz="2400" i="1" dirty="0" err="1"/>
              <a:t>Adicional</a:t>
            </a:r>
            <a:endParaRPr lang="es-CO" sz="2400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485642-5DA4-6CA1-6157-F631BF2E421A}"/>
              </a:ext>
            </a:extLst>
          </p:cNvPr>
          <p:cNvSpPr txBox="1"/>
          <p:nvPr/>
        </p:nvSpPr>
        <p:spPr>
          <a:xfrm>
            <a:off x="219591" y="5837145"/>
            <a:ext cx="119723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 el trabajo adicional es tan grande que crece más rápido que la recursión, entonces ese trabajo domina todo el algoritmo.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18319CE-1A99-3140-397F-9275DB9E803E}"/>
                  </a:ext>
                </a:extLst>
              </p:cNvPr>
              <p:cNvSpPr txBox="1"/>
              <p:nvPr/>
            </p:nvSpPr>
            <p:spPr>
              <a:xfrm>
                <a:off x="4034790" y="4280566"/>
                <a:ext cx="7312914" cy="1187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z="36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o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caro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no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es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dividir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es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lo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que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haces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despu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é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s</m:t>
                      </m:r>
                    </m:oMath>
                  </m:oMathPara>
                </a14:m>
                <a:endParaRPr kumimoji="0" lang="ar-AE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18319CE-1A99-3140-397F-9275DB9E8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790" y="4280566"/>
                <a:ext cx="7312914" cy="11875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534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95C82-1C7F-8BEA-D4F8-C5C84A9B9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>
            <a:extLst>
              <a:ext uri="{FF2B5EF4-FFF2-40B4-BE49-F238E27FC236}">
                <a16:creationId xmlns:a16="http://schemas.microsoft.com/office/drawing/2014/main" id="{22A909D3-1A18-B550-8469-B033D241D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18047A-A7DA-9C2D-403F-8BD4F8BB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303"/>
            <a:ext cx="12192000" cy="1478329"/>
          </a:xfrm>
        </p:spPr>
        <p:txBody>
          <a:bodyPr anchor="t">
            <a:normAutofit/>
          </a:bodyPr>
          <a:lstStyle/>
          <a:p>
            <a:pPr algn="ctr"/>
            <a:r>
              <a:rPr lang="es-CO" sz="8800" b="1" dirty="0">
                <a:solidFill>
                  <a:schemeClr val="bg1"/>
                </a:solidFill>
              </a:rPr>
              <a:t>Teorema maestro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C6787A60-E24D-1E86-C6EF-5F9BC975B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618CA7FE-C861-5F38-5B89-5C3C25EDF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0A3F39-4E4E-B9B7-1A66-A08CFA1457A9}"/>
              </a:ext>
            </a:extLst>
          </p:cNvPr>
          <p:cNvSpPr/>
          <p:nvPr/>
        </p:nvSpPr>
        <p:spPr>
          <a:xfrm>
            <a:off x="786519" y="1796649"/>
            <a:ext cx="950976" cy="3291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D295529-7651-D304-5E29-C6AFE5D11D8E}"/>
                  </a:ext>
                </a:extLst>
              </p:cNvPr>
              <p:cNvSpPr txBox="1"/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D295529-7651-D304-5E29-C6AFE5D11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015" y="1991758"/>
                <a:ext cx="3306700" cy="954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35C6484-5ACB-EE2B-A018-42802A102D9D}"/>
              </a:ext>
            </a:extLst>
          </p:cNvPr>
          <p:cNvSpPr/>
          <p:nvPr/>
        </p:nvSpPr>
        <p:spPr>
          <a:xfrm>
            <a:off x="202076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2BDD6E1-DA19-A8D0-E851-1622CD492CF0}"/>
                  </a:ext>
                </a:extLst>
              </p:cNvPr>
              <p:cNvSpPr txBox="1"/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2BDD6E1-DA19-A8D0-E851-1622CD492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472" y="2007435"/>
                <a:ext cx="24483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A7ABB13D-8F5E-C07F-66BA-46648E411201}"/>
              </a:ext>
            </a:extLst>
          </p:cNvPr>
          <p:cNvSpPr/>
          <p:nvPr/>
        </p:nvSpPr>
        <p:spPr>
          <a:xfrm>
            <a:off x="6806029" y="196946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Gráfico 16" descr="Ayuda con relleno sólido">
            <a:extLst>
              <a:ext uri="{FF2B5EF4-FFF2-40B4-BE49-F238E27FC236}">
                <a16:creationId xmlns:a16="http://schemas.microsoft.com/office/drawing/2014/main" id="{D987F1DD-1A3B-39DD-0EDC-CF57EDB5E3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040" y="1534147"/>
            <a:ext cx="1894853" cy="1894853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0260860F-B82F-7418-C066-7AAC59F4FB66}"/>
              </a:ext>
            </a:extLst>
          </p:cNvPr>
          <p:cNvSpPr txBox="1"/>
          <p:nvPr/>
        </p:nvSpPr>
        <p:spPr>
          <a:xfrm>
            <a:off x="2020769" y="2984411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1B5BAAD-7A31-F037-2813-E7C9897A8F45}"/>
              </a:ext>
            </a:extLst>
          </p:cNvPr>
          <p:cNvSpPr txBox="1"/>
          <p:nvPr/>
        </p:nvSpPr>
        <p:spPr>
          <a:xfrm>
            <a:off x="6840935" y="295345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37D41D6-0020-3A6B-F5DB-C9EBB33918C6}"/>
              </a:ext>
            </a:extLst>
          </p:cNvPr>
          <p:cNvSpPr/>
          <p:nvPr/>
        </p:nvSpPr>
        <p:spPr>
          <a:xfrm>
            <a:off x="219591" y="4189185"/>
            <a:ext cx="3392289" cy="1470652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Caso 3: </a:t>
            </a:r>
          </a:p>
          <a:p>
            <a:pPr algn="ctr"/>
            <a:r>
              <a:rPr lang="es-CO" sz="2400" i="1" dirty="0"/>
              <a:t>Recursión </a:t>
            </a:r>
            <a:r>
              <a:rPr lang="en-AU" sz="2400" i="1" dirty="0"/>
              <a:t>&lt; </a:t>
            </a:r>
            <a:r>
              <a:rPr lang="en-AU" sz="2400" i="1" dirty="0" err="1"/>
              <a:t>Trabajo</a:t>
            </a:r>
            <a:r>
              <a:rPr lang="en-AU" sz="2400" i="1" dirty="0"/>
              <a:t> </a:t>
            </a:r>
            <a:r>
              <a:rPr lang="en-AU" sz="2400" i="1" dirty="0" err="1"/>
              <a:t>Adicional</a:t>
            </a:r>
            <a:endParaRPr lang="es-CO" sz="24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3DE0117-E5AA-B2B1-9E76-A5F27CBB84DB}"/>
                  </a:ext>
                </a:extLst>
              </p:cNvPr>
              <p:cNvSpPr txBox="1"/>
              <p:nvPr/>
            </p:nvSpPr>
            <p:spPr>
              <a:xfrm>
                <a:off x="-10" y="6033614"/>
                <a:ext cx="1219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o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caro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no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es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dividir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es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lo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que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haces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despu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é</m:t>
                      </m:r>
                      <m:r>
                        <m:rPr>
                          <m:nor/>
                        </m:rPr>
                        <a:rPr lang="es-CO" sz="3600">
                          <a:solidFill>
                            <a:prstClr val="black"/>
                          </a:solidFill>
                        </a:rPr>
                        <m:t>s</m:t>
                      </m:r>
                    </m:oMath>
                  </m:oMathPara>
                </a14:m>
                <a:endParaRPr lang="ar-AE" sz="36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3DE0117-E5AA-B2B1-9E76-A5F27CBB8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" y="6033614"/>
                <a:ext cx="1219200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BF993A6-78D5-3FCC-B7F8-959F1F4219BA}"/>
                  </a:ext>
                </a:extLst>
              </p:cNvPr>
              <p:cNvSpPr txBox="1"/>
              <p:nvPr/>
            </p:nvSpPr>
            <p:spPr>
              <a:xfrm>
                <a:off x="4252094" y="4357240"/>
                <a:ext cx="7068177" cy="1134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60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ar-AE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6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ar-AE" sz="6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6000" b="1" i="0"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ar-AE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6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ar-AE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6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6000" b="1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BF993A6-78D5-3FCC-B7F8-959F1F421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094" y="4357240"/>
                <a:ext cx="7068177" cy="11345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2266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1B82D-8F4F-CBC8-3EBC-F29621BC1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D8A6C0-DB4E-194E-8FB5-1C97E81A5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57EF2C-7685-1C05-058D-852B58E6F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08DE85-7F5B-5F56-7A21-505BA2ECF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EE547DFD-D250-2E63-A4CC-D355F16E0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F181223-D4F9-E707-1716-22D205F9A5DF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Bocadillo: rectángulo 2">
            <a:extLst>
              <a:ext uri="{FF2B5EF4-FFF2-40B4-BE49-F238E27FC236}">
                <a16:creationId xmlns:a16="http://schemas.microsoft.com/office/drawing/2014/main" id="{8DE8E9BD-88CA-095F-CF45-22287238470D}"/>
              </a:ext>
            </a:extLst>
          </p:cNvPr>
          <p:cNvSpPr/>
          <p:nvPr/>
        </p:nvSpPr>
        <p:spPr>
          <a:xfrm>
            <a:off x="182880" y="1691640"/>
            <a:ext cx="6391656" cy="1014984"/>
          </a:xfrm>
          <a:prstGeom prst="wedgeRectCallout">
            <a:avLst>
              <a:gd name="adj1" fmla="val 64432"/>
              <a:gd name="adj2" fmla="val -759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¿Cómo calculamos la complejidad de este algoritmo?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2DD098-91EA-6F10-F543-F48956B4065B}"/>
              </a:ext>
            </a:extLst>
          </p:cNvPr>
          <p:cNvSpPr txBox="1"/>
          <p:nvPr/>
        </p:nvSpPr>
        <p:spPr>
          <a:xfrm>
            <a:off x="9006840" y="1137642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!!!!!!!!!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509FF002-B660-DA5C-AA4C-C9A44EDE5C9D}"/>
              </a:ext>
            </a:extLst>
          </p:cNvPr>
          <p:cNvSpPr/>
          <p:nvPr/>
        </p:nvSpPr>
        <p:spPr>
          <a:xfrm>
            <a:off x="7384217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3F0E8AC0-4A5E-7CB4-62D0-F046A1527D15}"/>
              </a:ext>
            </a:extLst>
          </p:cNvPr>
          <p:cNvSpPr/>
          <p:nvPr/>
        </p:nvSpPr>
        <p:spPr>
          <a:xfrm rot="10800000">
            <a:off x="11188076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Gráfico 18" descr="Cortar con relleno sólido">
            <a:extLst>
              <a:ext uri="{FF2B5EF4-FFF2-40B4-BE49-F238E27FC236}">
                <a16:creationId xmlns:a16="http://schemas.microsoft.com/office/drawing/2014/main" id="{45431D5B-4C12-D331-AF91-94D16C3B0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3452" y="594491"/>
            <a:ext cx="723508" cy="7235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D253CECC-F7E5-7FCB-1481-2F76D1CE120C}"/>
                  </a:ext>
                </a:extLst>
              </p:cNvPr>
              <p:cNvSpPr txBox="1"/>
              <p:nvPr/>
            </p:nvSpPr>
            <p:spPr>
              <a:xfrm>
                <a:off x="265876" y="4151377"/>
                <a:ext cx="6318504" cy="105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2D0E507-275B-0AB4-D17D-038ECB62E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76" y="4151377"/>
                <a:ext cx="6318504" cy="1059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45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E6F11-517C-1C88-956B-F1DC388D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5AA9E9-5553-9B32-EFA6-7F98B24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A774281-AE0F-51D2-D0E5-50729B12E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EA97D8-0D1F-493E-9646-0B0E1424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6724E22E-363D-FC66-2308-38D933F88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3858426-8886-58FC-D50B-F4FEDC597C76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071051-BD38-A89E-2F1E-DC2717F00892}"/>
              </a:ext>
            </a:extLst>
          </p:cNvPr>
          <p:cNvSpPr txBox="1"/>
          <p:nvPr/>
        </p:nvSpPr>
        <p:spPr>
          <a:xfrm>
            <a:off x="9006840" y="1137642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!!!!!!!!!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C8C58CD4-7345-A6A6-8053-CC05AC407DFC}"/>
              </a:ext>
            </a:extLst>
          </p:cNvPr>
          <p:cNvSpPr/>
          <p:nvPr/>
        </p:nvSpPr>
        <p:spPr>
          <a:xfrm>
            <a:off x="7384217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FF3CF8C1-FD80-B739-4B7C-5682DC93EEFD}"/>
              </a:ext>
            </a:extLst>
          </p:cNvPr>
          <p:cNvSpPr/>
          <p:nvPr/>
        </p:nvSpPr>
        <p:spPr>
          <a:xfrm rot="10800000">
            <a:off x="11188076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Gráfico 18" descr="Cortar con relleno sólido">
            <a:extLst>
              <a:ext uri="{FF2B5EF4-FFF2-40B4-BE49-F238E27FC236}">
                <a16:creationId xmlns:a16="http://schemas.microsoft.com/office/drawing/2014/main" id="{70A730DF-51B3-1B95-1C8A-66C5A78FC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3452" y="594491"/>
            <a:ext cx="723508" cy="7235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91E5DCD-4C33-2C36-6531-F959A0B12DEA}"/>
                  </a:ext>
                </a:extLst>
              </p:cNvPr>
              <p:cNvSpPr txBox="1"/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91E5DCD-4C33-2C36-6531-F959A0B12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C961C541-600A-17C7-AC5C-80317CCFB4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440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s-CO" sz="44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s-CO" sz="440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s-CO" sz="440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s-CO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4400" i="1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O" sz="4400" i="1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r>
                        <a:rPr lang="es-CO" sz="4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4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CO" sz="4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C961C541-600A-17C7-AC5C-80317CCFB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3822BB3-4850-C5AB-88A7-567590A9EBC9}"/>
                  </a:ext>
                </a:extLst>
              </p:cNvPr>
              <p:cNvSpPr txBox="1"/>
              <p:nvPr/>
            </p:nvSpPr>
            <p:spPr>
              <a:xfrm>
                <a:off x="-21449" y="4103813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3822BB3-4850-C5AB-88A7-567590A9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449" y="4103813"/>
                <a:ext cx="3306700" cy="9546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E33D9137-665C-7589-503E-C9AB83509F2B}"/>
              </a:ext>
            </a:extLst>
          </p:cNvPr>
          <p:cNvSpPr/>
          <p:nvPr/>
        </p:nvSpPr>
        <p:spPr>
          <a:xfrm>
            <a:off x="292305" y="4081522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E7F84F3-4014-DE0D-48DC-017A141A8C31}"/>
                  </a:ext>
                </a:extLst>
              </p:cNvPr>
              <p:cNvSpPr txBox="1"/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E7F84F3-4014-DE0D-48DC-017A141A8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6B6DB04D-3BF0-9BC6-0BA7-FBCC3727F3B3}"/>
              </a:ext>
            </a:extLst>
          </p:cNvPr>
          <p:cNvSpPr/>
          <p:nvPr/>
        </p:nvSpPr>
        <p:spPr>
          <a:xfrm>
            <a:off x="3390222" y="407450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A591FC5-C0A9-DDB5-DE7F-1F471D662551}"/>
              </a:ext>
            </a:extLst>
          </p:cNvPr>
          <p:cNvSpPr txBox="1"/>
          <p:nvPr/>
        </p:nvSpPr>
        <p:spPr>
          <a:xfrm>
            <a:off x="292305" y="5096466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5D7FFFB-7244-1C4D-BC5F-D8603926CFCF}"/>
              </a:ext>
            </a:extLst>
          </p:cNvPr>
          <p:cNvSpPr txBox="1"/>
          <p:nvPr/>
        </p:nvSpPr>
        <p:spPr>
          <a:xfrm>
            <a:off x="3425128" y="505849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</p:spTree>
    <p:extLst>
      <p:ext uri="{BB962C8B-B14F-4D97-AF65-F5344CB8AC3E}">
        <p14:creationId xmlns:p14="http://schemas.microsoft.com/office/powerpoint/2010/main" val="1856908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DE8ED-A1A6-86E9-123E-23B501696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A966F83-8228-F694-5489-10934B82F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E92D80-E1A6-D459-5742-B0091D518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0F9AD2-7DF1-78B7-776E-D330A48C3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6E99711E-B1C8-3AAA-3818-C4ACEF239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C7CEFB3-F3C6-6306-FCB6-E44E97ADC239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F35D2B-BC0D-5A9F-C3F3-220211320A77}"/>
              </a:ext>
            </a:extLst>
          </p:cNvPr>
          <p:cNvSpPr txBox="1"/>
          <p:nvPr/>
        </p:nvSpPr>
        <p:spPr>
          <a:xfrm>
            <a:off x="9006840" y="1137642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!!!!!!!!!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0B604C8E-81E8-6CAB-C944-5D9C593C4DD8}"/>
              </a:ext>
            </a:extLst>
          </p:cNvPr>
          <p:cNvSpPr/>
          <p:nvPr/>
        </p:nvSpPr>
        <p:spPr>
          <a:xfrm>
            <a:off x="7384217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27DB57EA-B0DD-1D24-33B6-6A218345264F}"/>
              </a:ext>
            </a:extLst>
          </p:cNvPr>
          <p:cNvSpPr/>
          <p:nvPr/>
        </p:nvSpPr>
        <p:spPr>
          <a:xfrm rot="10800000">
            <a:off x="11188076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Gráfico 18" descr="Cortar con relleno sólido">
            <a:extLst>
              <a:ext uri="{FF2B5EF4-FFF2-40B4-BE49-F238E27FC236}">
                <a16:creationId xmlns:a16="http://schemas.microsoft.com/office/drawing/2014/main" id="{E68F33A2-DFC2-C5A1-D567-D15EAC356E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3452" y="594491"/>
            <a:ext cx="723508" cy="7235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0B40560-C06D-16F7-5BCA-3C392DF1E301}"/>
                  </a:ext>
                </a:extLst>
              </p:cNvPr>
              <p:cNvSpPr txBox="1"/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0B40560-C06D-16F7-5BCA-3C392DF1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804F0AB0-FB9B-5ECF-5DCC-4398378F37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a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b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804F0AB0-FB9B-5ECF-5DCC-4398378F3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7A389DD-050E-8330-3EA3-F0D32BFADFA1}"/>
                  </a:ext>
                </a:extLst>
              </p:cNvPr>
              <p:cNvSpPr txBox="1"/>
              <p:nvPr/>
            </p:nvSpPr>
            <p:spPr>
              <a:xfrm>
                <a:off x="-21449" y="4103813"/>
                <a:ext cx="3306700" cy="954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5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s-CO" sz="5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e>
                        <m:sup>
                          <m:func>
                            <m:funcPr>
                              <m:ctrlPr>
                                <a:rPr kumimoji="0" lang="ar-AE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5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kumimoji="0" lang="es-CO" sz="5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0" lang="es-CO" sz="5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7A389DD-050E-8330-3EA3-F0D32BFAD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449" y="4103813"/>
                <a:ext cx="3306700" cy="9546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09B6917D-6EEB-D216-8459-D4DA4E305AF8}"/>
              </a:ext>
            </a:extLst>
          </p:cNvPr>
          <p:cNvSpPr/>
          <p:nvPr/>
        </p:nvSpPr>
        <p:spPr>
          <a:xfrm>
            <a:off x="292305" y="4081522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50377BF-0FF8-079D-7378-BB0045914971}"/>
                  </a:ext>
                </a:extLst>
              </p:cNvPr>
              <p:cNvSpPr txBox="1"/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50377BF-0FF8-079D-7378-BB0045914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B6497B72-1D6E-F26F-3F5B-BAC765E12EBD}"/>
              </a:ext>
            </a:extLst>
          </p:cNvPr>
          <p:cNvSpPr/>
          <p:nvPr/>
        </p:nvSpPr>
        <p:spPr>
          <a:xfrm>
            <a:off x="3390222" y="407450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BA6B087-7012-4EB9-38DF-6F06AC32726D}"/>
              </a:ext>
            </a:extLst>
          </p:cNvPr>
          <p:cNvSpPr txBox="1"/>
          <p:nvPr/>
        </p:nvSpPr>
        <p:spPr>
          <a:xfrm>
            <a:off x="292305" y="5096466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7E3AAAE-BE9B-3335-582D-36D19701019A}"/>
              </a:ext>
            </a:extLst>
          </p:cNvPr>
          <p:cNvSpPr txBox="1"/>
          <p:nvPr/>
        </p:nvSpPr>
        <p:spPr>
          <a:xfrm>
            <a:off x="3425128" y="505849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</p:spTree>
    <p:extLst>
      <p:ext uri="{BB962C8B-B14F-4D97-AF65-F5344CB8AC3E}">
        <p14:creationId xmlns:p14="http://schemas.microsoft.com/office/powerpoint/2010/main" val="1444119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DE0BB-AC28-8706-83E7-3A39023E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681D32-410F-4C79-B2E1-0929164F8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9B98D3C-5212-7B0D-0586-318F0CBA2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0BD8C3-D10A-9863-83ED-D230C026E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C3BCAE7A-8A30-815F-DC7F-DA17ADA99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91E144F-AF83-EA6C-6B4E-F07E8E4B74C8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8EF068D-9B1F-EE10-29E2-04F944910DAB}"/>
              </a:ext>
            </a:extLst>
          </p:cNvPr>
          <p:cNvSpPr txBox="1"/>
          <p:nvPr/>
        </p:nvSpPr>
        <p:spPr>
          <a:xfrm>
            <a:off x="9006840" y="1137642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!!!!!!!!!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E64E5764-ABEA-760E-A110-43100C157814}"/>
              </a:ext>
            </a:extLst>
          </p:cNvPr>
          <p:cNvSpPr/>
          <p:nvPr/>
        </p:nvSpPr>
        <p:spPr>
          <a:xfrm>
            <a:off x="7384217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B92D6C9A-CFEF-BDC3-C9F5-D0229440F045}"/>
              </a:ext>
            </a:extLst>
          </p:cNvPr>
          <p:cNvSpPr/>
          <p:nvPr/>
        </p:nvSpPr>
        <p:spPr>
          <a:xfrm rot="10800000">
            <a:off x="11188076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Gráfico 18" descr="Cortar con relleno sólido">
            <a:extLst>
              <a:ext uri="{FF2B5EF4-FFF2-40B4-BE49-F238E27FC236}">
                <a16:creationId xmlns:a16="http://schemas.microsoft.com/office/drawing/2014/main" id="{4FD6CA1C-165E-F228-8F08-E37AB0013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3452" y="594491"/>
            <a:ext cx="723508" cy="7235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FF1CD46-0C6A-5E23-544E-B1C5AAEA9DB1}"/>
                  </a:ext>
                </a:extLst>
              </p:cNvPr>
              <p:cNvSpPr txBox="1"/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FF1CD46-0C6A-5E23-544E-B1C5AAEA9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F2A3CE5E-4390-84F9-7F11-281611F8F7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a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b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F2A3CE5E-4390-84F9-7F11-281611F8F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7C8D51B2-E506-14DE-3D9E-64426665A5F8}"/>
                  </a:ext>
                </a:extLst>
              </p:cNvPr>
              <p:cNvSpPr txBox="1"/>
              <p:nvPr/>
            </p:nvSpPr>
            <p:spPr>
              <a:xfrm>
                <a:off x="-21449" y="4103813"/>
                <a:ext cx="33067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n</m:t>
                      </m:r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7C8D51B2-E506-14DE-3D9E-64426665A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449" y="4103813"/>
                <a:ext cx="3306700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84078774-A655-8C15-AFFC-7242C47971E4}"/>
              </a:ext>
            </a:extLst>
          </p:cNvPr>
          <p:cNvSpPr/>
          <p:nvPr/>
        </p:nvSpPr>
        <p:spPr>
          <a:xfrm>
            <a:off x="292305" y="4081522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D5ABE69A-3519-9C83-BF20-E7724D743AFE}"/>
                  </a:ext>
                </a:extLst>
              </p:cNvPr>
              <p:cNvSpPr txBox="1"/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D5ABE69A-3519-9C83-BF20-E7724D743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64D372FF-9316-DC8A-1D47-0C2ADBC8EA0D}"/>
              </a:ext>
            </a:extLst>
          </p:cNvPr>
          <p:cNvSpPr/>
          <p:nvPr/>
        </p:nvSpPr>
        <p:spPr>
          <a:xfrm>
            <a:off x="3390222" y="407450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2844F4-1F58-7387-EA42-FE2BBBC72FE8}"/>
              </a:ext>
            </a:extLst>
          </p:cNvPr>
          <p:cNvSpPr txBox="1"/>
          <p:nvPr/>
        </p:nvSpPr>
        <p:spPr>
          <a:xfrm>
            <a:off x="292305" y="5096466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4342A0D-831E-7711-2018-82ABEB2A23FB}"/>
              </a:ext>
            </a:extLst>
          </p:cNvPr>
          <p:cNvSpPr txBox="1"/>
          <p:nvPr/>
        </p:nvSpPr>
        <p:spPr>
          <a:xfrm>
            <a:off x="3425128" y="505849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</p:spTree>
    <p:extLst>
      <p:ext uri="{BB962C8B-B14F-4D97-AF65-F5344CB8AC3E}">
        <p14:creationId xmlns:p14="http://schemas.microsoft.com/office/powerpoint/2010/main" val="4198599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38A96-8443-6A2E-159E-3DA8AD92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0AA2EC-DDDB-CD4C-0C21-4A717358F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00D93C-F759-A20F-8C78-8CE4132E7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3A7665-DCBC-04B8-0B31-6E714BA9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62EBE7F9-4B93-1A1C-4BFC-4DBDACC22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F418C77-BE41-A9CE-B958-CBDA23EF0E83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D09C3F-E30C-226F-967F-3F027AA96BCD}"/>
              </a:ext>
            </a:extLst>
          </p:cNvPr>
          <p:cNvSpPr txBox="1"/>
          <p:nvPr/>
        </p:nvSpPr>
        <p:spPr>
          <a:xfrm>
            <a:off x="9006840" y="1137642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!!!!!!!!!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EC38132F-7BCB-7004-BFD3-A598C89B7A87}"/>
              </a:ext>
            </a:extLst>
          </p:cNvPr>
          <p:cNvSpPr/>
          <p:nvPr/>
        </p:nvSpPr>
        <p:spPr>
          <a:xfrm>
            <a:off x="7384217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C9A21894-8A7D-EEFD-5D3D-19C8C2829008}"/>
              </a:ext>
            </a:extLst>
          </p:cNvPr>
          <p:cNvSpPr/>
          <p:nvPr/>
        </p:nvSpPr>
        <p:spPr>
          <a:xfrm rot="10800000">
            <a:off x="11188076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Gráfico 18" descr="Cortar con relleno sólido">
            <a:extLst>
              <a:ext uri="{FF2B5EF4-FFF2-40B4-BE49-F238E27FC236}">
                <a16:creationId xmlns:a16="http://schemas.microsoft.com/office/drawing/2014/main" id="{17799410-A453-0284-2B18-A9A6B6434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3452" y="594491"/>
            <a:ext cx="723508" cy="7235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AA00E2-4146-D57C-3A85-3E898CAD584F}"/>
                  </a:ext>
                </a:extLst>
              </p:cNvPr>
              <p:cNvSpPr txBox="1"/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AA00E2-4146-D57C-3A85-3E898CAD5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1627EB1B-5480-417D-B5A7-9B0AD1B1D4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a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b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1627EB1B-5480-417D-B5A7-9B0AD1B1D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E1B5763-A1D9-F9C0-A766-F40E417DBCD5}"/>
                  </a:ext>
                </a:extLst>
              </p:cNvPr>
              <p:cNvSpPr txBox="1"/>
              <p:nvPr/>
            </p:nvSpPr>
            <p:spPr>
              <a:xfrm>
                <a:off x="-21449" y="4103813"/>
                <a:ext cx="33067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E1B5763-A1D9-F9C0-A766-F40E417DB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449" y="4103813"/>
                <a:ext cx="3306700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396C6E0A-14A6-4E49-E532-470321FFB8BA}"/>
              </a:ext>
            </a:extLst>
          </p:cNvPr>
          <p:cNvSpPr/>
          <p:nvPr/>
        </p:nvSpPr>
        <p:spPr>
          <a:xfrm>
            <a:off x="292305" y="4081522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8095F56-F9C6-6BA5-EF09-C1A43DCAFF5A}"/>
                  </a:ext>
                </a:extLst>
              </p:cNvPr>
              <p:cNvSpPr txBox="1"/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8095F56-F9C6-6BA5-EF09-C1A43DCAF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C1F15D5D-D064-F2A1-C083-1F780D5B66CF}"/>
              </a:ext>
            </a:extLst>
          </p:cNvPr>
          <p:cNvSpPr/>
          <p:nvPr/>
        </p:nvSpPr>
        <p:spPr>
          <a:xfrm>
            <a:off x="3390222" y="407450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26B377-A29F-C535-E35D-4ACEC030FBB2}"/>
              </a:ext>
            </a:extLst>
          </p:cNvPr>
          <p:cNvSpPr txBox="1"/>
          <p:nvPr/>
        </p:nvSpPr>
        <p:spPr>
          <a:xfrm>
            <a:off x="292305" y="5096466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001C3F-A610-9CF2-48CD-91EFB29BDD4D}"/>
              </a:ext>
            </a:extLst>
          </p:cNvPr>
          <p:cNvSpPr txBox="1"/>
          <p:nvPr/>
        </p:nvSpPr>
        <p:spPr>
          <a:xfrm>
            <a:off x="3425128" y="505849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7030233-9D7B-3066-B5DB-6A109286F414}"/>
              </a:ext>
            </a:extLst>
          </p:cNvPr>
          <p:cNvSpPr/>
          <p:nvPr/>
        </p:nvSpPr>
        <p:spPr>
          <a:xfrm>
            <a:off x="2832774" y="5616553"/>
            <a:ext cx="3392289" cy="835196"/>
          </a:xfrm>
          <a:prstGeom prst="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600" b="1" dirty="0"/>
              <a:t>Caso 2: </a:t>
            </a:r>
          </a:p>
          <a:p>
            <a:pPr algn="ctr"/>
            <a:r>
              <a:rPr lang="es-CO" sz="1600" i="1" dirty="0"/>
              <a:t>Recursión </a:t>
            </a:r>
            <a:r>
              <a:rPr lang="en-AU" sz="1600" i="1" dirty="0"/>
              <a:t>= </a:t>
            </a:r>
            <a:r>
              <a:rPr lang="en-AU" sz="1600" i="1" dirty="0" err="1"/>
              <a:t>Trabajo</a:t>
            </a:r>
            <a:r>
              <a:rPr lang="en-AU" sz="1600" i="1" dirty="0"/>
              <a:t> </a:t>
            </a:r>
            <a:r>
              <a:rPr lang="en-AU" sz="1600" i="1" dirty="0" err="1"/>
              <a:t>Adicional</a:t>
            </a:r>
            <a:endParaRPr lang="es-CO" sz="1600" i="1" dirty="0"/>
          </a:p>
        </p:txBody>
      </p:sp>
    </p:spTree>
    <p:extLst>
      <p:ext uri="{BB962C8B-B14F-4D97-AF65-F5344CB8AC3E}">
        <p14:creationId xmlns:p14="http://schemas.microsoft.com/office/powerpoint/2010/main" val="4062363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738AD-254D-E0B5-44E9-8E97EFB8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77B71F-79CA-A4BF-EF45-30023938E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76AA915-0719-C86C-F0C2-F3AE1F96D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7547D6-B1DC-ACDC-5D0E-D7CED830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19"/>
            <a:ext cx="4996609" cy="1400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Mergesort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D5205D7A-BB66-C45C-D3D2-36EEA216B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507" y="8119"/>
            <a:ext cx="4601085" cy="684176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6536A02-6B01-C02C-7F3E-79F473679776}"/>
              </a:ext>
            </a:extLst>
          </p:cNvPr>
          <p:cNvSpPr txBox="1"/>
          <p:nvPr/>
        </p:nvSpPr>
        <p:spPr>
          <a:xfrm>
            <a:off x="0" y="6542104"/>
            <a:ext cx="462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Tomado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de: 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https://www.sortvisualizer.com/mergesort/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50181F-362F-031C-7369-F426CC23B589}"/>
              </a:ext>
            </a:extLst>
          </p:cNvPr>
          <p:cNvSpPr txBox="1"/>
          <p:nvPr/>
        </p:nvSpPr>
        <p:spPr>
          <a:xfrm>
            <a:off x="9006840" y="1137642"/>
            <a:ext cx="2411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!!!!!!!!!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25CF03DE-FC08-5817-CD03-8CE1482009B7}"/>
              </a:ext>
            </a:extLst>
          </p:cNvPr>
          <p:cNvSpPr/>
          <p:nvPr/>
        </p:nvSpPr>
        <p:spPr>
          <a:xfrm>
            <a:off x="7384217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37C56CD6-9F0F-FB81-E986-5FF86AE4E1FB}"/>
              </a:ext>
            </a:extLst>
          </p:cNvPr>
          <p:cNvSpPr/>
          <p:nvPr/>
        </p:nvSpPr>
        <p:spPr>
          <a:xfrm rot="10800000">
            <a:off x="11188076" y="2562904"/>
            <a:ext cx="411480" cy="4133088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Gráfico 18" descr="Cortar con relleno sólido">
            <a:extLst>
              <a:ext uri="{FF2B5EF4-FFF2-40B4-BE49-F238E27FC236}">
                <a16:creationId xmlns:a16="http://schemas.microsoft.com/office/drawing/2014/main" id="{784BB6A6-A1B3-5E61-5794-C6D8432D0D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3452" y="594491"/>
            <a:ext cx="723508" cy="7235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EC79C84-16F9-AA80-5376-45BC646C7954}"/>
                  </a:ext>
                </a:extLst>
              </p:cNvPr>
              <p:cNvSpPr txBox="1"/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a:rPr kumimoji="0" lang="es-CO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EC79C84-16F9-AA80-5376-45BC646C7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5" y="1691640"/>
                <a:ext cx="6318504" cy="1059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3FA99558-83A1-0E17-726B-351831F2E8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a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T</m:t>
                      </m:r>
                      <m:r>
                        <a:rPr kumimoji="0" lang="es-CO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s-CO" sz="4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b</m:t>
                          </m:r>
                        </m:den>
                      </m:f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)+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f</m:t>
                      </m:r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4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3FA99558-83A1-0E17-726B-351831F2E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9" y="2682349"/>
                <a:ext cx="6694058" cy="8351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C3E66BA-0505-1395-4393-65FB22C8791B}"/>
                  </a:ext>
                </a:extLst>
              </p:cNvPr>
              <p:cNvSpPr txBox="1"/>
              <p:nvPr/>
            </p:nvSpPr>
            <p:spPr>
              <a:xfrm>
                <a:off x="-21449" y="4103813"/>
                <a:ext cx="33067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</m:oMath>
                  </m:oMathPara>
                </a14:m>
                <a:endParaRPr kumimoji="0" lang="ar-AE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C3E66BA-0505-1395-4393-65FB22C87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449" y="4103813"/>
                <a:ext cx="3306700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FBF59BF7-1880-D191-64D8-7F0CA7B0B8A7}"/>
              </a:ext>
            </a:extLst>
          </p:cNvPr>
          <p:cNvSpPr/>
          <p:nvPr/>
        </p:nvSpPr>
        <p:spPr>
          <a:xfrm>
            <a:off x="292305" y="4081522"/>
            <a:ext cx="2679192" cy="99926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8503AEF-3727-343E-B352-62ECC778D997}"/>
                  </a:ext>
                </a:extLst>
              </p:cNvPr>
              <p:cNvSpPr txBox="1"/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es-CO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8503AEF-3727-343E-B352-62ECC778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65" y="4112475"/>
                <a:ext cx="2448306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CF7A34C5-FAD0-D6A6-7D53-6013F75478DA}"/>
              </a:ext>
            </a:extLst>
          </p:cNvPr>
          <p:cNvSpPr/>
          <p:nvPr/>
        </p:nvSpPr>
        <p:spPr>
          <a:xfrm>
            <a:off x="3390222" y="4074507"/>
            <a:ext cx="2679192" cy="999266"/>
          </a:xfrm>
          <a:prstGeom prst="rect">
            <a:avLst/>
          </a:prstGeom>
          <a:noFill/>
          <a:ln w="762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65F4D0A-BC9C-EC58-DB67-908477ED66A4}"/>
              </a:ext>
            </a:extLst>
          </p:cNvPr>
          <p:cNvSpPr txBox="1"/>
          <p:nvPr/>
        </p:nvSpPr>
        <p:spPr>
          <a:xfrm>
            <a:off x="292305" y="5096466"/>
            <a:ext cx="2728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tamaño de la recursión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2387242-B0CD-5974-A916-3ED0B57AC219}"/>
              </a:ext>
            </a:extLst>
          </p:cNvPr>
          <p:cNvSpPr txBox="1"/>
          <p:nvPr/>
        </p:nvSpPr>
        <p:spPr>
          <a:xfrm>
            <a:off x="3425128" y="5058498"/>
            <a:ext cx="272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trabajo adicional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1866F67C-BE25-BC59-E2A3-48CD65206A24}"/>
                  </a:ext>
                </a:extLst>
              </p:cNvPr>
              <p:cNvSpPr/>
              <p:nvPr/>
            </p:nvSpPr>
            <p:spPr>
              <a:xfrm>
                <a:off x="2832774" y="5616553"/>
                <a:ext cx="3392289" cy="835196"/>
              </a:xfrm>
              <a:prstGeom prst="rect">
                <a:avLst/>
              </a:prstGeom>
              <a:ln w="76200"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sz="1600" b="1" dirty="0"/>
                  <a:t>Caso 2: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ar-AE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ar-AE" sz="24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1" i="1">
                          <a:latin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ar-AE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func>
                            <m:funcPr>
                              <m:ctrlPr>
                                <a:rPr lang="ar-AE" sz="2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s-CO" sz="2400" b="1" i="1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fName>
                            <m:e>
                              <m:r>
                                <a:rPr lang="ar-AE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s-CO" sz="2400" b="1" i="1" dirty="0"/>
              </a:p>
            </p:txBody>
          </p:sp>
        </mc:Choice>
        <mc:Fallback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1866F67C-BE25-BC59-E2A3-48CD65206A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774" y="5616553"/>
                <a:ext cx="3392289" cy="8351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762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858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Una fórmula de cálculo">
            <a:extLst>
              <a:ext uri="{FF2B5EF4-FFF2-40B4-BE49-F238E27FC236}">
                <a16:creationId xmlns:a16="http://schemas.microsoft.com/office/drawing/2014/main" id="{B511CFCC-BAE9-A42E-FDF6-0640376A2E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084" b="1364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12E6780-36F6-C9C4-17F7-C28C235F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12500" dirty="0" err="1">
                <a:solidFill>
                  <a:srgbClr val="FFFFFF"/>
                </a:solidFill>
              </a:rPr>
              <a:t>Ejercicios</a:t>
            </a:r>
            <a:r>
              <a:rPr lang="en-US" sz="12500" dirty="0">
                <a:solidFill>
                  <a:srgbClr val="FFFFFF"/>
                </a:solidFill>
              </a:rPr>
              <a:t> </a:t>
            </a:r>
            <a:r>
              <a:rPr lang="en-US" sz="12500" dirty="0" err="1">
                <a:solidFill>
                  <a:srgbClr val="FFFFFF"/>
                </a:solidFill>
              </a:rPr>
              <a:t>variados</a:t>
            </a:r>
            <a:endParaRPr lang="en-US" sz="12500" dirty="0">
              <a:solidFill>
                <a:srgbClr val="FFFFFF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CE1EFC-F2B2-10C1-9EF7-84BE720B2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4000" i="1" dirty="0" err="1">
                <a:solidFill>
                  <a:srgbClr val="FFFFFF"/>
                </a:solidFill>
              </a:rPr>
              <a:t>Teorema</a:t>
            </a:r>
            <a:r>
              <a:rPr lang="en-US" sz="4000" i="1" dirty="0">
                <a:solidFill>
                  <a:srgbClr val="FFFFFF"/>
                </a:solidFill>
              </a:rPr>
              <a:t> Maestro</a:t>
            </a:r>
          </a:p>
        </p:txBody>
      </p:sp>
    </p:spTree>
    <p:extLst>
      <p:ext uri="{BB962C8B-B14F-4D97-AF65-F5344CB8AC3E}">
        <p14:creationId xmlns:p14="http://schemas.microsoft.com/office/powerpoint/2010/main" val="40725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BCBF0CC-3352-9656-BC97-B214CFA9B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78" y="871146"/>
            <a:ext cx="7040822" cy="1402470"/>
          </a:xfrm>
        </p:spPr>
        <p:txBody>
          <a:bodyPr anchor="t">
            <a:normAutofit/>
          </a:bodyPr>
          <a:lstStyle/>
          <a:p>
            <a:pPr algn="ctr"/>
            <a:r>
              <a:rPr lang="es-CO" sz="4000" dirty="0"/>
              <a:t>Determine la complejidad de las siguientes funciones T(n)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DD6E5-1B18-ACC6-62B1-D413BFE9A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72" r="36278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CFAA07F9-9F7B-2FA4-FB99-F2D7D77095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82897" y="2112264"/>
                <a:ext cx="4977383" cy="4645151"/>
              </a:xfrm>
            </p:spPr>
            <p:txBody>
              <a:bodyPr numCol="1">
                <a:no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CO" sz="2400" b="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b="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CO" sz="2400" b="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b="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CO" sz="24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sz="2400" b="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CO" sz="2400" b="0" dirty="0"/>
              </a:p>
              <a:p>
                <a:pPr/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s-CO" sz="2400" b="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s-CO" sz="2400" dirty="0"/>
              </a:p>
              <a:p>
                <a:pPr/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2400" b="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s-CO" sz="2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CO" sz="2400" dirty="0"/>
              </a:p>
              <a:p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s-CO" sz="2400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s-CO" sz="2400" dirty="0"/>
              </a:p>
              <a:p>
                <a14:m>
                  <m:oMath xmlns:m="http://schemas.openxmlformats.org/officeDocument/2006/math">
                    <m:r>
                      <a:rPr lang="es-CO" sz="24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CO" sz="2400" b="0" dirty="0"/>
              </a:p>
              <a:p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24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s-CO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s-CO" sz="2400" dirty="0"/>
              </a:p>
              <a:p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s-CO" sz="2400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O" sz="2400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O" sz="2400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s-CO" sz="2400" dirty="0"/>
              </a:p>
              <a:p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CO" sz="2400" dirty="0"/>
              </a:p>
              <a:p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24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s-CO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s-CO" sz="2400" dirty="0"/>
              </a:p>
              <a:p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s-C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CO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s-CO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s-CO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CO" sz="24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CO" sz="2400" b="0" i="1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s-CO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CO" sz="24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endParaRPr lang="es-CO" sz="2400" dirty="0"/>
              </a:p>
              <a:p>
                <a:pPr marL="0" indent="0">
                  <a:buNone/>
                </a:pPr>
                <a:endParaRPr lang="es-CO" sz="2400" dirty="0"/>
              </a:p>
              <a:p>
                <a:endParaRPr lang="es-CO" sz="2400" b="0" dirty="0"/>
              </a:p>
              <a:p>
                <a:endParaRPr lang="es-CO" sz="2400" dirty="0"/>
              </a:p>
              <a:p>
                <a:pPr/>
                <a:endParaRPr lang="es-CO" sz="2400" dirty="0"/>
              </a:p>
              <a:p>
                <a:endParaRPr lang="es-CO" sz="2400" b="0" dirty="0"/>
              </a:p>
              <a:p>
                <a:endParaRPr lang="es-CO" sz="2400" dirty="0"/>
              </a:p>
            </p:txBody>
          </p:sp>
        </mc:Choice>
        <mc:Fallback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CFAA07F9-9F7B-2FA4-FB99-F2D7D77095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82897" y="2112264"/>
                <a:ext cx="4977383" cy="4645151"/>
              </a:xfrm>
              <a:blipFill>
                <a:blip r:embed="rId3"/>
                <a:stretch>
                  <a:fillRect l="-1591" t="-12878" b="-1774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736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A92CC538-C3D2-3ECB-E773-3CBFF58C8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60252" y="1286934"/>
            <a:ext cx="9271497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30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447DD-2D2A-7F64-DDC0-5438BDE8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1A2E1A45-A8B1-ECD6-45D0-5173F9A29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201A4F7D-8E99-AFE6-7348-73A2DE8B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641DA2-E639-58B9-8C06-B97C6C605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Marcador de contenido 5" descr="Pantalla de computadora con letras&#10;&#10;El contenido generado por IA puede ser incorrecto.">
            <a:extLst>
              <a:ext uri="{FF2B5EF4-FFF2-40B4-BE49-F238E27FC236}">
                <a16:creationId xmlns:a16="http://schemas.microsoft.com/office/drawing/2014/main" id="{65FC2D87-C22F-8E19-AAC8-E68E0D6FA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4873" y="0"/>
            <a:ext cx="5562253" cy="665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70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7BDE9-4358-6B86-8B5A-95EFD74E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C128A1E2-5411-8568-78CF-827D5A881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3AFE8036-CF37-BD4F-119A-D6204A75B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B7A17D-6E00-D0CB-4667-33096EDD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Marcador de contenido 7" descr="Texto&#10;&#10;El contenido generado por IA puede ser incorrecto.">
            <a:extLst>
              <a:ext uri="{FF2B5EF4-FFF2-40B4-BE49-F238E27FC236}">
                <a16:creationId xmlns:a16="http://schemas.microsoft.com/office/drawing/2014/main" id="{D039AE58-8D29-C8C7-588E-59542A955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6092" y="74634"/>
            <a:ext cx="7219816" cy="670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48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ECC7A-6E2C-0B6C-FD4A-ED1465EB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106B53F3-71D2-18D3-B36B-8B4B9061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E04EF4C-652E-1442-415D-5C5C7023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156872-2DCB-33E4-BC28-5C1A22940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Marcador de contenido 5" descr="Texto&#10;&#10;El contenido generado por IA puede ser incorrecto.">
            <a:extLst>
              <a:ext uri="{FF2B5EF4-FFF2-40B4-BE49-F238E27FC236}">
                <a16:creationId xmlns:a16="http://schemas.microsoft.com/office/drawing/2014/main" id="{022E0D50-012C-E176-49EA-816300FF5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45137" y="725100"/>
            <a:ext cx="6301726" cy="522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61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48664-0BBF-C92A-E0A5-C7A6BAE0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CFD81F7-4FBA-EF8C-F692-AC4BA5644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2465B16F-0CAC-E12A-294C-0BDDB1ECB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EC372D-9ABC-4EA0-82CB-92C4A7526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Marcador de contenido 7" descr="Texto&#10;&#10;El contenido generado por IA puede ser incorrecto.">
            <a:extLst>
              <a:ext uri="{FF2B5EF4-FFF2-40B4-BE49-F238E27FC236}">
                <a16:creationId xmlns:a16="http://schemas.microsoft.com/office/drawing/2014/main" id="{EF9C43B5-4D15-0349-5E8F-F2C3F35EDF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6691" y="1769608"/>
            <a:ext cx="10578617" cy="331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60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1850</Words>
  <Application>Microsoft Office PowerPoint</Application>
  <PresentationFormat>Panorámica</PresentationFormat>
  <Paragraphs>312</Paragraphs>
  <Slides>45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Arial</vt:lpstr>
      <vt:lpstr>Cambria Math</vt:lpstr>
      <vt:lpstr>Wingdings</vt:lpstr>
      <vt:lpstr>Tema de Office</vt:lpstr>
      <vt:lpstr>Teorema Maestro</vt:lpstr>
      <vt:lpstr>Teorema maestro</vt:lpstr>
      <vt:lpstr>Algoritmos recursivos</vt:lpstr>
      <vt:lpstr>¿Qué algoritmos recursivos conocen? </vt:lpstr>
      <vt:lpstr>Mergesort</vt:lpstr>
      <vt:lpstr>Mergesort</vt:lpstr>
      <vt:lpstr>Mergesort</vt:lpstr>
      <vt:lpstr>Mergesort</vt:lpstr>
      <vt:lpstr>Mergesort</vt:lpstr>
      <vt:lpstr>Mergesort</vt:lpstr>
      <vt:lpstr>Mergesort</vt:lpstr>
      <vt:lpstr>Mergesort</vt:lpstr>
      <vt:lpstr>Teorema maestro</vt:lpstr>
      <vt:lpstr>Teorema maestro</vt:lpstr>
      <vt:lpstr>Teorema maestro</vt:lpstr>
      <vt:lpstr>Árbol de Recurrencia</vt:lpstr>
      <vt:lpstr>Árbol de Recurrencia</vt:lpstr>
      <vt:lpstr>Árbol de Recurrencia</vt:lpstr>
      <vt:lpstr>Árbol de Recurrencia</vt:lpstr>
      <vt:lpstr>Árbol de Recurrencia</vt:lpstr>
      <vt:lpstr>Árbol de Recurrencia</vt:lpstr>
      <vt:lpstr>Árbol de Recurrencia</vt:lpstr>
      <vt:lpstr>Árbol de Recurrencia</vt:lpstr>
      <vt:lpstr>Teorema maestro</vt:lpstr>
      <vt:lpstr>Teorema maestro</vt:lpstr>
      <vt:lpstr>Teorema maestro</vt:lpstr>
      <vt:lpstr>Teorema maestro</vt:lpstr>
      <vt:lpstr>Teorema maestro</vt:lpstr>
      <vt:lpstr>Teorema maestro</vt:lpstr>
      <vt:lpstr>Teorema maestro</vt:lpstr>
      <vt:lpstr>Teorema maestro</vt:lpstr>
      <vt:lpstr>Teorema maestro</vt:lpstr>
      <vt:lpstr>Mergesort</vt:lpstr>
      <vt:lpstr>Mergesort</vt:lpstr>
      <vt:lpstr>Mergesort</vt:lpstr>
      <vt:lpstr>Mergesort</vt:lpstr>
      <vt:lpstr>Mergesort</vt:lpstr>
      <vt:lpstr>Mergesort</vt:lpstr>
      <vt:lpstr>Ejercicios variados</vt:lpstr>
      <vt:lpstr>Determine la complejidad de las siguientes funciones T(n)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Castro Martinez</dc:creator>
  <cp:lastModifiedBy>Alejandro Castro Martinez</cp:lastModifiedBy>
  <cp:revision>64</cp:revision>
  <dcterms:created xsi:type="dcterms:W3CDTF">2026-01-27T01:43:07Z</dcterms:created>
  <dcterms:modified xsi:type="dcterms:W3CDTF">2026-02-03T01:54:09Z</dcterms:modified>
</cp:coreProperties>
</file>